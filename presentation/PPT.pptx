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63" r:id="rId3"/>
    <p:sldId id="264" r:id="rId4"/>
    <p:sldId id="265" r:id="rId5"/>
    <p:sldId id="266" r:id="rId6"/>
    <p:sldId id="267" r:id="rId7"/>
    <p:sldId id="268" r:id="rId8"/>
    <p:sldId id="269" r:id="rId9"/>
    <p:sldId id="271" r:id="rId10"/>
    <p:sldId id="280" r:id="rId11"/>
    <p:sldId id="283" r:id="rId12"/>
    <p:sldId id="284" r:id="rId13"/>
    <p:sldId id="285" r:id="rId14"/>
    <p:sldId id="276" r:id="rId15"/>
    <p:sldId id="286" r:id="rId16"/>
    <p:sldId id="287" r:id="rId17"/>
    <p:sldId id="288" r:id="rId18"/>
    <p:sldId id="292" r:id="rId19"/>
    <p:sldId id="289" r:id="rId20"/>
    <p:sldId id="290" r:id="rId21"/>
    <p:sldId id="291" r:id="rId22"/>
    <p:sldId id="262" r:id="rId23"/>
    <p:sldId id="26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2"/>
    <p:restoredTop sz="94631"/>
  </p:normalViewPr>
  <p:slideViewPr>
    <p:cSldViewPr>
      <p:cViewPr varScale="1">
        <p:scale>
          <a:sx n="123" d="100"/>
          <a:sy n="123" d="100"/>
        </p:scale>
        <p:origin x="124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Users/raghavendra/MBA/PSRI/RAG/RAG_PSRI_DATA.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2!PivotTable28</c:name>
    <c:fmtId val="22"/>
  </c:pivotSource>
  <c:chart>
    <c:title>
      <c:tx>
        <c:rich>
          <a:bodyPr rot="0" spcFirstLastPara="1" vertOverflow="ellipsis" vert="horz" wrap="square" anchor="ctr" anchorCtr="1"/>
          <a:lstStyle/>
          <a:p>
            <a:pPr>
              <a:defRPr sz="1050" b="1" i="0" u="none" strike="noStrike" kern="1200" baseline="0">
                <a:solidFill>
                  <a:schemeClr val="dk1">
                    <a:lumMod val="75000"/>
                    <a:lumOff val="25000"/>
                  </a:schemeClr>
                </a:solidFill>
                <a:latin typeface="+mn-lt"/>
                <a:ea typeface="+mn-ea"/>
                <a:cs typeface="+mn-cs"/>
              </a:defRPr>
            </a:pPr>
            <a:r>
              <a:rPr lang="en-US" sz="1050" b="1" i="0" u="none" strike="noStrike" baseline="0" dirty="0">
                <a:effectLst/>
              </a:rPr>
              <a:t>Age</a:t>
            </a:r>
            <a:endParaRPr lang="en-US" sz="1050" b="1" dirty="0"/>
          </a:p>
        </c:rich>
      </c:tx>
      <c:overlay val="0"/>
      <c:spPr>
        <a:noFill/>
        <a:ln>
          <a:noFill/>
        </a:ln>
        <a:effectLst/>
      </c:spPr>
      <c:txPr>
        <a:bodyPr rot="0" spcFirstLastPara="1" vertOverflow="ellipsis" vert="horz" wrap="square" anchor="ctr" anchorCtr="1"/>
        <a:lstStyle/>
        <a:p>
          <a:pPr>
            <a:defRPr sz="105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2'!$B$3</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2'!$A$4:$A$8</c:f>
              <c:strCache>
                <c:ptCount val="4"/>
                <c:pt idx="0">
                  <c:v>20–25</c:v>
                </c:pt>
                <c:pt idx="1">
                  <c:v>30–45</c:v>
                </c:pt>
                <c:pt idx="2">
                  <c:v>46–60</c:v>
                </c:pt>
                <c:pt idx="3">
                  <c:v>Above 60</c:v>
                </c:pt>
              </c:strCache>
            </c:strRef>
          </c:cat>
          <c:val>
            <c:numRef>
              <c:f>'PIVOT 2'!$B$4:$B$8</c:f>
              <c:numCache>
                <c:formatCode>General</c:formatCode>
                <c:ptCount val="4"/>
                <c:pt idx="0">
                  <c:v>32</c:v>
                </c:pt>
                <c:pt idx="1">
                  <c:v>40</c:v>
                </c:pt>
                <c:pt idx="2">
                  <c:v>33</c:v>
                </c:pt>
                <c:pt idx="3">
                  <c:v>10</c:v>
                </c:pt>
              </c:numCache>
            </c:numRef>
          </c:val>
          <c:extLst>
            <c:ext xmlns:c16="http://schemas.microsoft.com/office/drawing/2014/chart" uri="{C3380CC4-5D6E-409C-BE32-E72D297353CC}">
              <c16:uniqueId val="{00000000-D4B5-F247-928C-3B02EDD62AEC}"/>
            </c:ext>
          </c:extLst>
        </c:ser>
        <c:dLbls>
          <c:showLegendKey val="0"/>
          <c:showVal val="0"/>
          <c:showCatName val="0"/>
          <c:showSerName val="0"/>
          <c:showPercent val="0"/>
          <c:showBubbleSize val="0"/>
        </c:dLbls>
        <c:gapWidth val="65"/>
        <c:shape val="box"/>
        <c:axId val="1964576256"/>
        <c:axId val="1973815488"/>
        <c:axId val="0"/>
      </c:bar3DChart>
      <c:catAx>
        <c:axId val="1964576256"/>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973815488"/>
        <c:crosses val="autoZero"/>
        <c:auto val="1"/>
        <c:lblAlgn val="ctr"/>
        <c:lblOffset val="100"/>
        <c:noMultiLvlLbl val="0"/>
      </c:catAx>
      <c:valAx>
        <c:axId val="1973815488"/>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964576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2!PivotTable29</c:name>
    <c:fmtId val="28"/>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r>
              <a:rPr lang="en-US" sz="1000" b="1" i="0" dirty="0">
                <a:effectLst/>
              </a:rPr>
              <a:t>Gender</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outerShdw blurRad="254000" sx="102000" sy="102000" algn="ctr" rotWithShape="0">
              <a:prstClr val="black">
                <a:alpha val="20000"/>
              </a:prstClr>
            </a:outerShdw>
          </a:effectLst>
          <a:sp3d/>
        </c:spPr>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outerShdw blurRad="254000" sx="102000" sy="102000" algn="ctr" rotWithShape="0">
              <a:prstClr val="black">
                <a:alpha val="20000"/>
              </a:prstClr>
            </a:outerShdw>
          </a:effectLst>
          <a:sp3d/>
        </c:spPr>
      </c:pivotFmt>
      <c:pivotFmt>
        <c:idx val="8"/>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2'!$B$20</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E937-9945-A647-1A3B7429927F}"/>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E937-9945-A647-1A3B7429927F}"/>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2'!$A$21:$A$23</c:f>
              <c:strCache>
                <c:ptCount val="2"/>
                <c:pt idx="0">
                  <c:v>Female</c:v>
                </c:pt>
                <c:pt idx="1">
                  <c:v>Male</c:v>
                </c:pt>
              </c:strCache>
            </c:strRef>
          </c:cat>
          <c:val>
            <c:numRef>
              <c:f>'PIVOT 2'!$B$21:$B$23</c:f>
              <c:numCache>
                <c:formatCode>General</c:formatCode>
                <c:ptCount val="2"/>
                <c:pt idx="0">
                  <c:v>42</c:v>
                </c:pt>
                <c:pt idx="1">
                  <c:v>73</c:v>
                </c:pt>
              </c:numCache>
            </c:numRef>
          </c:val>
          <c:extLst>
            <c:ext xmlns:c16="http://schemas.microsoft.com/office/drawing/2014/chart" uri="{C3380CC4-5D6E-409C-BE32-E72D297353CC}">
              <c16:uniqueId val="{00000004-E937-9945-A647-1A3B7429927F}"/>
            </c:ext>
          </c:extLst>
        </c:ser>
        <c:dLbls>
          <c:dLblPos val="ctr"/>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2!PivotTable30</c:name>
    <c:fmtId val="38"/>
  </c:pivotSource>
  <c:chart>
    <c:title>
      <c:tx>
        <c:rich>
          <a:bodyPr rot="0" spcFirstLastPara="1" vertOverflow="ellipsis" vert="horz" wrap="square" anchor="ctr" anchorCtr="1"/>
          <a:lstStyle/>
          <a:p>
            <a:pPr>
              <a:defRPr sz="1000" b="1" i="0" u="none" strike="noStrike" kern="1200" baseline="0">
                <a:solidFill>
                  <a:schemeClr val="dk1">
                    <a:lumMod val="75000"/>
                    <a:lumOff val="25000"/>
                  </a:schemeClr>
                </a:solidFill>
                <a:latin typeface="+mn-lt"/>
                <a:ea typeface="+mn-ea"/>
                <a:cs typeface="+mn-cs"/>
              </a:defRPr>
            </a:pPr>
            <a:r>
              <a:rPr lang="en-US" sz="1000" b="1" i="0" u="none" strike="noStrike" baseline="0" dirty="0">
                <a:effectLst/>
              </a:rPr>
              <a:t>Landholding Size</a:t>
            </a:r>
            <a:endParaRPr lang="en-US" sz="1000" b="1" dirty="0"/>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2'!$B$37</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2'!$A$38:$A$41</c:f>
              <c:strCache>
                <c:ptCount val="3"/>
                <c:pt idx="0">
                  <c:v>2–5 acres</c:v>
                </c:pt>
                <c:pt idx="1">
                  <c:v>Less than 2 acres</c:v>
                </c:pt>
                <c:pt idx="2">
                  <c:v>More than 5 acres</c:v>
                </c:pt>
              </c:strCache>
            </c:strRef>
          </c:cat>
          <c:val>
            <c:numRef>
              <c:f>'PIVOT 2'!$B$38:$B$41</c:f>
              <c:numCache>
                <c:formatCode>General</c:formatCode>
                <c:ptCount val="3"/>
                <c:pt idx="0">
                  <c:v>51</c:v>
                </c:pt>
                <c:pt idx="1">
                  <c:v>36</c:v>
                </c:pt>
                <c:pt idx="2">
                  <c:v>28</c:v>
                </c:pt>
              </c:numCache>
            </c:numRef>
          </c:val>
          <c:extLst>
            <c:ext xmlns:c16="http://schemas.microsoft.com/office/drawing/2014/chart" uri="{C3380CC4-5D6E-409C-BE32-E72D297353CC}">
              <c16:uniqueId val="{00000000-5EAA-724D-ACA3-0C2CB0A350F6}"/>
            </c:ext>
          </c:extLst>
        </c:ser>
        <c:dLbls>
          <c:showLegendKey val="0"/>
          <c:showVal val="0"/>
          <c:showCatName val="0"/>
          <c:showSerName val="0"/>
          <c:showPercent val="0"/>
          <c:showBubbleSize val="0"/>
        </c:dLbls>
        <c:gapWidth val="65"/>
        <c:shape val="box"/>
        <c:axId val="1951281856"/>
        <c:axId val="1951283648"/>
        <c:axId val="0"/>
      </c:bar3DChart>
      <c:catAx>
        <c:axId val="1951281856"/>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951283648"/>
        <c:crosses val="autoZero"/>
        <c:auto val="1"/>
        <c:lblAlgn val="ctr"/>
        <c:lblOffset val="100"/>
        <c:noMultiLvlLbl val="0"/>
      </c:catAx>
      <c:valAx>
        <c:axId val="1951283648"/>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951281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2!PivotTable31</c:name>
    <c:fmtId val="41"/>
  </c:pivotSource>
  <c:chart>
    <c:title>
      <c:tx>
        <c:rich>
          <a:bodyPr rot="0" spcFirstLastPara="1" vertOverflow="ellipsis" vert="horz" wrap="square" anchor="ctr" anchorCtr="1"/>
          <a:lstStyle/>
          <a:p>
            <a:pPr>
              <a:defRPr sz="1000" b="1" i="0" u="none" strike="noStrike" kern="1200" baseline="0">
                <a:solidFill>
                  <a:schemeClr val="dk1">
                    <a:lumMod val="75000"/>
                    <a:lumOff val="25000"/>
                  </a:schemeClr>
                </a:solidFill>
                <a:latin typeface="+mn-lt"/>
                <a:ea typeface="+mn-ea"/>
                <a:cs typeface="+mn-cs"/>
              </a:defRPr>
            </a:pPr>
            <a:r>
              <a:rPr lang="en-US" sz="1000" b="1" i="0" u="none" strike="noStrike" baseline="0" dirty="0">
                <a:effectLst/>
              </a:rPr>
              <a:t>Farming Experience</a:t>
            </a:r>
            <a:endParaRPr lang="en-US" sz="1000" b="1" dirty="0"/>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2'!$B$54</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2'!$A$55:$A$58</c:f>
              <c:strCache>
                <c:ptCount val="3"/>
                <c:pt idx="0">
                  <c:v>2–5 years</c:v>
                </c:pt>
                <c:pt idx="1">
                  <c:v>Less than 2 years</c:v>
                </c:pt>
                <c:pt idx="2">
                  <c:v>More than 5 years</c:v>
                </c:pt>
              </c:strCache>
            </c:strRef>
          </c:cat>
          <c:val>
            <c:numRef>
              <c:f>'PIVOT 2'!$B$55:$B$58</c:f>
              <c:numCache>
                <c:formatCode>General</c:formatCode>
                <c:ptCount val="3"/>
                <c:pt idx="0">
                  <c:v>27</c:v>
                </c:pt>
                <c:pt idx="1">
                  <c:v>17</c:v>
                </c:pt>
                <c:pt idx="2">
                  <c:v>71</c:v>
                </c:pt>
              </c:numCache>
            </c:numRef>
          </c:val>
          <c:extLst>
            <c:ext xmlns:c16="http://schemas.microsoft.com/office/drawing/2014/chart" uri="{C3380CC4-5D6E-409C-BE32-E72D297353CC}">
              <c16:uniqueId val="{00000000-4248-B54B-B7B1-4222F488A22F}"/>
            </c:ext>
          </c:extLst>
        </c:ser>
        <c:dLbls>
          <c:showLegendKey val="0"/>
          <c:showVal val="0"/>
          <c:showCatName val="0"/>
          <c:showSerName val="0"/>
          <c:showPercent val="0"/>
          <c:showBubbleSize val="0"/>
        </c:dLbls>
        <c:gapWidth val="65"/>
        <c:shape val="box"/>
        <c:axId val="1960059648"/>
        <c:axId val="1960061440"/>
        <c:axId val="0"/>
      </c:bar3DChart>
      <c:catAx>
        <c:axId val="196005964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960061440"/>
        <c:crosses val="autoZero"/>
        <c:auto val="1"/>
        <c:lblAlgn val="ctr"/>
        <c:lblOffset val="100"/>
        <c:noMultiLvlLbl val="0"/>
      </c:catAx>
      <c:valAx>
        <c:axId val="1960061440"/>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9600596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2!PivotTable33</c:name>
    <c:fmtId val="89"/>
  </c:pivotSource>
  <c:chart>
    <c:title>
      <c:tx>
        <c:rich>
          <a:bodyPr rot="0" spcFirstLastPara="1" vertOverflow="ellipsis" vert="horz" wrap="square" anchor="ctr" anchorCtr="1"/>
          <a:lstStyle/>
          <a:p>
            <a:pPr algn="ctr" rtl="0">
              <a:defRPr sz="1000" b="1"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r>
              <a:rPr lang="en-US" sz="1000"/>
              <a:t>Methods Used by Respondents to Sell Agricultural Products</a:t>
            </a:r>
          </a:p>
        </c:rich>
      </c:tx>
      <c:overlay val="0"/>
      <c:spPr>
        <a:noFill/>
        <a:ln>
          <a:noFill/>
        </a:ln>
        <a:effectLst/>
      </c:spPr>
      <c:txPr>
        <a:bodyPr rot="0" spcFirstLastPara="1" vertOverflow="ellipsis" vert="horz" wrap="square" anchor="ctr" anchorCtr="1"/>
        <a:lstStyle/>
        <a:p>
          <a:pPr algn="ctr" rtl="0">
            <a:defRPr sz="1000" b="1"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2'!$B$87</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2'!$A$88:$A$93</c:f>
              <c:strCache>
                <c:ptCount val="5"/>
                <c:pt idx="0">
                  <c:v>APMC market</c:v>
                </c:pt>
                <c:pt idx="1">
                  <c:v>Digital platforms (WhatsApp Facebook etc.)</c:v>
                </c:pt>
                <c:pt idx="2">
                  <c:v>Direct to consumers</c:v>
                </c:pt>
                <c:pt idx="3">
                  <c:v>Retail shops</c:v>
                </c:pt>
                <c:pt idx="4">
                  <c:v>Through middlemen</c:v>
                </c:pt>
              </c:strCache>
            </c:strRef>
          </c:cat>
          <c:val>
            <c:numRef>
              <c:f>'PIVOT 2'!$B$88:$B$93</c:f>
              <c:numCache>
                <c:formatCode>General</c:formatCode>
                <c:ptCount val="5"/>
                <c:pt idx="0">
                  <c:v>24</c:v>
                </c:pt>
                <c:pt idx="1">
                  <c:v>22</c:v>
                </c:pt>
                <c:pt idx="2">
                  <c:v>22</c:v>
                </c:pt>
                <c:pt idx="3">
                  <c:v>15</c:v>
                </c:pt>
                <c:pt idx="4">
                  <c:v>32</c:v>
                </c:pt>
              </c:numCache>
            </c:numRef>
          </c:val>
          <c:extLst>
            <c:ext xmlns:c16="http://schemas.microsoft.com/office/drawing/2014/chart" uri="{C3380CC4-5D6E-409C-BE32-E72D297353CC}">
              <c16:uniqueId val="{00000000-9525-7248-A96D-D361777E036A}"/>
            </c:ext>
          </c:extLst>
        </c:ser>
        <c:dLbls>
          <c:showLegendKey val="0"/>
          <c:showVal val="0"/>
          <c:showCatName val="0"/>
          <c:showSerName val="0"/>
          <c:showPercent val="0"/>
          <c:showBubbleSize val="0"/>
        </c:dLbls>
        <c:gapWidth val="65"/>
        <c:shape val="box"/>
        <c:axId val="1917762880"/>
        <c:axId val="1896171712"/>
        <c:axId val="0"/>
      </c:bar3DChart>
      <c:catAx>
        <c:axId val="1917762880"/>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896171712"/>
        <c:crosses val="autoZero"/>
        <c:auto val="1"/>
        <c:lblAlgn val="ctr"/>
        <c:lblOffset val="100"/>
        <c:noMultiLvlLbl val="0"/>
      </c:catAx>
      <c:valAx>
        <c:axId val="189617171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9177628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2!PivotTable34</c:name>
    <c:fmtId val="75"/>
  </c:pivotSource>
  <c:chart>
    <c:title>
      <c:tx>
        <c:rich>
          <a:bodyPr rot="0" spcFirstLastPara="1" vertOverflow="ellipsis" vert="horz" wrap="square" anchor="ctr" anchorCtr="1"/>
          <a:lstStyle/>
          <a:p>
            <a:pPr algn="ctr" rtl="0">
              <a:defRPr sz="1000" b="1"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r>
              <a:rPr lang="en-US" sz="1000"/>
              <a:t>Marketing Methods Most Frequently Used by Respondents</a:t>
            </a:r>
          </a:p>
        </c:rich>
      </c:tx>
      <c:overlay val="0"/>
      <c:spPr>
        <a:noFill/>
        <a:ln>
          <a:noFill/>
        </a:ln>
        <a:effectLst/>
      </c:spPr>
      <c:txPr>
        <a:bodyPr rot="0" spcFirstLastPara="1" vertOverflow="ellipsis" vert="horz" wrap="square" anchor="ctr" anchorCtr="1"/>
        <a:lstStyle/>
        <a:p>
          <a:pPr algn="ctr" rtl="0">
            <a:defRPr sz="1000" b="1"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pivotFmt>
      <c:pivotFmt>
        <c:idx val="5"/>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6"/>
        <c:spPr>
          <a:solidFill>
            <a:schemeClr val="accent1"/>
          </a:solidFill>
          <a:ln>
            <a:noFill/>
          </a:ln>
          <a:effectLst>
            <a:outerShdw blurRad="254000" sx="102000" sy="102000" algn="ctr" rotWithShape="0">
              <a:prstClr val="black">
                <a:alpha val="20000"/>
              </a:prstClr>
            </a:outerShdw>
          </a:effectLst>
          <a:sp3d/>
        </c:spPr>
      </c:pivotFmt>
      <c:pivotFmt>
        <c:idx val="7"/>
        <c:spPr>
          <a:solidFill>
            <a:schemeClr val="accent1"/>
          </a:solidFill>
          <a:ln>
            <a:noFill/>
          </a:ln>
          <a:effectLst>
            <a:outerShdw blurRad="254000" sx="102000" sy="102000" algn="ctr" rotWithShape="0">
              <a:prstClr val="black">
                <a:alpha val="20000"/>
              </a:prstClr>
            </a:outerShdw>
          </a:effectLst>
          <a:sp3d/>
        </c:spPr>
      </c:pivotFmt>
      <c:pivotFmt>
        <c:idx val="8"/>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2'!$B$104</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5EA7-4A45-B0A8-FEE3C78E51D9}"/>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5EA7-4A45-B0A8-FEE3C78E51D9}"/>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5EA7-4A45-B0A8-FEE3C78E51D9}"/>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000"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2'!$A$105:$A$108</c:f>
              <c:strCache>
                <c:ptCount val="3"/>
                <c:pt idx="0">
                  <c:v>Both</c:v>
                </c:pt>
                <c:pt idx="1">
                  <c:v>Direct selling</c:v>
                </c:pt>
                <c:pt idx="2">
                  <c:v>Middlemen</c:v>
                </c:pt>
              </c:strCache>
            </c:strRef>
          </c:cat>
          <c:val>
            <c:numRef>
              <c:f>'PIVOT 2'!$B$105:$B$108</c:f>
              <c:numCache>
                <c:formatCode>General</c:formatCode>
                <c:ptCount val="3"/>
                <c:pt idx="0">
                  <c:v>41</c:v>
                </c:pt>
                <c:pt idx="1">
                  <c:v>42</c:v>
                </c:pt>
                <c:pt idx="2">
                  <c:v>32</c:v>
                </c:pt>
              </c:numCache>
            </c:numRef>
          </c:val>
          <c:extLst>
            <c:ext xmlns:c16="http://schemas.microsoft.com/office/drawing/2014/chart" uri="{C3380CC4-5D6E-409C-BE32-E72D297353CC}">
              <c16:uniqueId val="{00000006-5EA7-4A45-B0A8-FEE3C78E51D9}"/>
            </c:ext>
          </c:extLst>
        </c:ser>
        <c:dLbls>
          <c:dLblPos val="ctr"/>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2!PivotTable42</c:name>
    <c:fmtId val="122"/>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Times New Roman" panose="02020603050405020304" pitchFamily="18" charset="0"/>
                <a:ea typeface="+mn-ea"/>
                <a:cs typeface="Times New Roman" panose="02020603050405020304" pitchFamily="18" charset="0"/>
              </a:defRPr>
            </a:pPr>
            <a:r>
              <a:rPr lang="en-US" sz="1000" b="1" dirty="0">
                <a:effectLst/>
              </a:rPr>
              <a:t>Opportunities Identified by Respondents in Marketing Agricultural Products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2'!$L$67</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2'!$K$68:$K$81</c:f>
              <c:strCache>
                <c:ptCount val="13"/>
                <c:pt idx="0">
                  <c:v>Better demand;Higher profit</c:v>
                </c:pt>
                <c:pt idx="1">
                  <c:v>Better demand;Immediate payment</c:v>
                </c:pt>
                <c:pt idx="2">
                  <c:v>Better price control;Better demand</c:v>
                </c:pt>
                <c:pt idx="3">
                  <c:v>Better price control;Direct customer relationship</c:v>
                </c:pt>
                <c:pt idx="4">
                  <c:v>Better price control;Higher profit</c:v>
                </c:pt>
                <c:pt idx="5">
                  <c:v>Direct customer relationship;Better demand</c:v>
                </c:pt>
                <c:pt idx="6">
                  <c:v>Direct customer relationship;Higher profit</c:v>
                </c:pt>
                <c:pt idx="7">
                  <c:v>Higher profit;Better demand</c:v>
                </c:pt>
                <c:pt idx="8">
                  <c:v>Higher profit;Better price control</c:v>
                </c:pt>
                <c:pt idx="9">
                  <c:v>Higher profit;Direct customer relationship</c:v>
                </c:pt>
                <c:pt idx="10">
                  <c:v>Higher profit;Immediate payment</c:v>
                </c:pt>
                <c:pt idx="11">
                  <c:v>Immediate payment</c:v>
                </c:pt>
                <c:pt idx="12">
                  <c:v>Immediate payment;Better demand</c:v>
                </c:pt>
              </c:strCache>
            </c:strRef>
          </c:cat>
          <c:val>
            <c:numRef>
              <c:f>'PIVOT 2'!$L$68:$L$81</c:f>
              <c:numCache>
                <c:formatCode>General</c:formatCode>
                <c:ptCount val="13"/>
                <c:pt idx="0">
                  <c:v>1</c:v>
                </c:pt>
                <c:pt idx="1">
                  <c:v>15</c:v>
                </c:pt>
                <c:pt idx="2">
                  <c:v>2</c:v>
                </c:pt>
                <c:pt idx="3">
                  <c:v>2</c:v>
                </c:pt>
                <c:pt idx="4">
                  <c:v>3</c:v>
                </c:pt>
                <c:pt idx="5">
                  <c:v>7</c:v>
                </c:pt>
                <c:pt idx="6">
                  <c:v>16</c:v>
                </c:pt>
                <c:pt idx="7">
                  <c:v>13</c:v>
                </c:pt>
                <c:pt idx="8">
                  <c:v>8</c:v>
                </c:pt>
                <c:pt idx="9">
                  <c:v>8</c:v>
                </c:pt>
                <c:pt idx="10">
                  <c:v>7</c:v>
                </c:pt>
                <c:pt idx="11">
                  <c:v>27</c:v>
                </c:pt>
                <c:pt idx="12">
                  <c:v>6</c:v>
                </c:pt>
              </c:numCache>
            </c:numRef>
          </c:val>
          <c:extLst>
            <c:ext xmlns:c16="http://schemas.microsoft.com/office/drawing/2014/chart" uri="{C3380CC4-5D6E-409C-BE32-E72D297353CC}">
              <c16:uniqueId val="{00000000-F2C8-C44E-933B-996C40B57A43}"/>
            </c:ext>
          </c:extLst>
        </c:ser>
        <c:dLbls>
          <c:showLegendKey val="0"/>
          <c:showVal val="0"/>
          <c:showCatName val="0"/>
          <c:showSerName val="0"/>
          <c:showPercent val="0"/>
          <c:showBubbleSize val="0"/>
        </c:dLbls>
        <c:gapWidth val="65"/>
        <c:shape val="box"/>
        <c:axId val="1887651136"/>
        <c:axId val="1919843648"/>
        <c:axId val="0"/>
      </c:bar3DChart>
      <c:catAx>
        <c:axId val="1887651136"/>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919843648"/>
        <c:crosses val="autoZero"/>
        <c:auto val="1"/>
        <c:lblAlgn val="ctr"/>
        <c:lblOffset val="100"/>
        <c:noMultiLvlLbl val="0"/>
      </c:catAx>
      <c:valAx>
        <c:axId val="191984364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8876511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2!PivotTable50</c:name>
    <c:fmtId val="138"/>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r>
              <a:rPr lang="en-US" sz="1000" b="1">
                <a:effectLst/>
              </a:rPr>
              <a:t>Respondents’ Opinions on Customer Interest in Direct Purchase from Farmers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2'!$L$192</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223E-FD40-AB5B-6BB52787246F}"/>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223E-FD40-AB5B-6BB52787246F}"/>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2'!$K$193:$K$195</c:f>
              <c:strCache>
                <c:ptCount val="2"/>
                <c:pt idx="0">
                  <c:v>No</c:v>
                </c:pt>
                <c:pt idx="1">
                  <c:v>Yes</c:v>
                </c:pt>
              </c:strCache>
            </c:strRef>
          </c:cat>
          <c:val>
            <c:numRef>
              <c:f>'PIVOT 2'!$L$193:$L$195</c:f>
              <c:numCache>
                <c:formatCode>General</c:formatCode>
                <c:ptCount val="2"/>
                <c:pt idx="0">
                  <c:v>34</c:v>
                </c:pt>
                <c:pt idx="1">
                  <c:v>81</c:v>
                </c:pt>
              </c:numCache>
            </c:numRef>
          </c:val>
          <c:extLst>
            <c:ext xmlns:c16="http://schemas.microsoft.com/office/drawing/2014/chart" uri="{C3380CC4-5D6E-409C-BE32-E72D297353CC}">
              <c16:uniqueId val="{00000004-223E-FD40-AB5B-6BB52787246F}"/>
            </c:ext>
          </c:extLst>
        </c:ser>
        <c:dLbls>
          <c:dLblPos val="ctr"/>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2!PivotTable46</c:name>
    <c:fmtId val="151"/>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r>
              <a:rPr lang="en-US" sz="1000" b="1">
                <a:effectLst/>
              </a:rPr>
              <a:t>Respondents’ Opinions on the Role of Digital Platforms in Promoting Agricultural Products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2'!$L$133</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8FC6-F14B-928B-64128F229AA1}"/>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8FC6-F14B-928B-64128F229AA1}"/>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2'!$K$134:$K$136</c:f>
              <c:strCache>
                <c:ptCount val="2"/>
                <c:pt idx="0">
                  <c:v>No</c:v>
                </c:pt>
                <c:pt idx="1">
                  <c:v>Yes</c:v>
                </c:pt>
              </c:strCache>
            </c:strRef>
          </c:cat>
          <c:val>
            <c:numRef>
              <c:f>'PIVOT 2'!$L$134:$L$136</c:f>
              <c:numCache>
                <c:formatCode>General</c:formatCode>
                <c:ptCount val="2"/>
                <c:pt idx="0">
                  <c:v>34</c:v>
                </c:pt>
                <c:pt idx="1">
                  <c:v>81</c:v>
                </c:pt>
              </c:numCache>
            </c:numRef>
          </c:val>
          <c:extLst>
            <c:ext xmlns:c16="http://schemas.microsoft.com/office/drawing/2014/chart" uri="{C3380CC4-5D6E-409C-BE32-E72D297353CC}">
              <c16:uniqueId val="{00000004-8FC6-F14B-928B-64128F229AA1}"/>
            </c:ext>
          </c:extLst>
        </c:ser>
        <c:dLbls>
          <c:dLblPos val="ctr"/>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2!PivotTable45</c:name>
    <c:fmtId val="-1"/>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r>
              <a:rPr lang="en-US" sz="1000" b="1">
                <a:effectLst/>
              </a:rPr>
              <a:t>Digital Platforms Most Frequently Used by Respondents for Agricultural Marketing</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lumMod val="75000"/>
                  <a:lumOff val="25000"/>
                </a:sys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2'!$L$117</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2'!$K$118:$K$123</c:f>
              <c:strCache>
                <c:ptCount val="5"/>
                <c:pt idx="0">
                  <c:v>Facebook</c:v>
                </c:pt>
                <c:pt idx="1">
                  <c:v>Instagram</c:v>
                </c:pt>
                <c:pt idx="2">
                  <c:v>Others</c:v>
                </c:pt>
                <c:pt idx="3">
                  <c:v>UPI/PhonePe/GPay</c:v>
                </c:pt>
                <c:pt idx="4">
                  <c:v>WhatsApp</c:v>
                </c:pt>
              </c:strCache>
            </c:strRef>
          </c:cat>
          <c:val>
            <c:numRef>
              <c:f>'PIVOT 2'!$L$118:$L$123</c:f>
              <c:numCache>
                <c:formatCode>General</c:formatCode>
                <c:ptCount val="5"/>
                <c:pt idx="0">
                  <c:v>13</c:v>
                </c:pt>
                <c:pt idx="1">
                  <c:v>27</c:v>
                </c:pt>
                <c:pt idx="2">
                  <c:v>34</c:v>
                </c:pt>
                <c:pt idx="3">
                  <c:v>13</c:v>
                </c:pt>
                <c:pt idx="4">
                  <c:v>28</c:v>
                </c:pt>
              </c:numCache>
            </c:numRef>
          </c:val>
          <c:extLst>
            <c:ext xmlns:c16="http://schemas.microsoft.com/office/drawing/2014/chart" uri="{C3380CC4-5D6E-409C-BE32-E72D297353CC}">
              <c16:uniqueId val="{00000000-E118-4848-9529-A6DF157B6A09}"/>
            </c:ext>
          </c:extLst>
        </c:ser>
        <c:dLbls>
          <c:showLegendKey val="0"/>
          <c:showVal val="0"/>
          <c:showCatName val="0"/>
          <c:showSerName val="0"/>
          <c:showPercent val="0"/>
          <c:showBubbleSize val="0"/>
        </c:dLbls>
        <c:gapWidth val="65"/>
        <c:shape val="box"/>
        <c:axId val="1893319104"/>
        <c:axId val="1893334336"/>
        <c:axId val="0"/>
      </c:bar3DChart>
      <c:catAx>
        <c:axId val="189331910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893334336"/>
        <c:crosses val="autoZero"/>
        <c:auto val="1"/>
        <c:lblAlgn val="ctr"/>
        <c:lblOffset val="100"/>
        <c:noMultiLvlLbl val="0"/>
      </c:catAx>
      <c:valAx>
        <c:axId val="189333433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893319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2!PivotTable36</c:name>
    <c:fmtId val="89"/>
  </c:pivotSource>
  <c:chart>
    <c:title>
      <c:tx>
        <c:rich>
          <a:bodyPr rot="0" spcFirstLastPara="1" vertOverflow="ellipsis" vert="horz" wrap="square" anchor="ctr" anchorCtr="1"/>
          <a:lstStyle/>
          <a:p>
            <a:pPr>
              <a:defRPr sz="10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r>
              <a:rPr lang="en-US" sz="1000" b="0"/>
              <a:t>Problems Faced by Respondents in Marketing Agricultural Products </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2'!$B$134</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2'!$A$135:$A$152</c:f>
              <c:strCache>
                <c:ptCount val="17"/>
                <c:pt idx="0">
                  <c:v>Delayed payments;Storage problems</c:v>
                </c:pt>
                <c:pt idx="1">
                  <c:v>Delayed payments;Transport issues</c:v>
                </c:pt>
                <c:pt idx="2">
                  <c:v>Lack of awareness;Transport issues</c:v>
                </c:pt>
                <c:pt idx="3">
                  <c:v>Lack of market information;Transport issues</c:v>
                </c:pt>
                <c:pt idx="4">
                  <c:v>Low price;Delayed payments</c:v>
                </c:pt>
                <c:pt idx="5">
                  <c:v>Low price;Delayed payments;Storage problems</c:v>
                </c:pt>
                <c:pt idx="6">
                  <c:v>Low price;Storage problems</c:v>
                </c:pt>
                <c:pt idx="7">
                  <c:v>Low price;Transport issues</c:v>
                </c:pt>
                <c:pt idx="8">
                  <c:v>Middlemen control;Delayed payments</c:v>
                </c:pt>
                <c:pt idx="9">
                  <c:v>Middlemen control;Low price</c:v>
                </c:pt>
                <c:pt idx="10">
                  <c:v>Middlemen control;Low price;Delayed payments</c:v>
                </c:pt>
                <c:pt idx="11">
                  <c:v>Middlemen control;Low price;Storage problems</c:v>
                </c:pt>
                <c:pt idx="12">
                  <c:v>Middlemen control;Low price;Transport issues</c:v>
                </c:pt>
                <c:pt idx="13">
                  <c:v>Storage problems;Delayed payments</c:v>
                </c:pt>
                <c:pt idx="14">
                  <c:v>Storage problems;Low price</c:v>
                </c:pt>
                <c:pt idx="15">
                  <c:v>Transport issues;Lack of awareness</c:v>
                </c:pt>
                <c:pt idx="16">
                  <c:v>Transport issues;Lack of market information</c:v>
                </c:pt>
              </c:strCache>
            </c:strRef>
          </c:cat>
          <c:val>
            <c:numRef>
              <c:f>'PIVOT 2'!$B$135:$B$152</c:f>
              <c:numCache>
                <c:formatCode>General</c:formatCode>
                <c:ptCount val="17"/>
                <c:pt idx="0">
                  <c:v>5</c:v>
                </c:pt>
                <c:pt idx="1">
                  <c:v>2</c:v>
                </c:pt>
                <c:pt idx="2">
                  <c:v>10</c:v>
                </c:pt>
                <c:pt idx="3">
                  <c:v>6</c:v>
                </c:pt>
                <c:pt idx="4">
                  <c:v>4</c:v>
                </c:pt>
                <c:pt idx="5">
                  <c:v>1</c:v>
                </c:pt>
                <c:pt idx="6">
                  <c:v>13</c:v>
                </c:pt>
                <c:pt idx="7">
                  <c:v>2</c:v>
                </c:pt>
                <c:pt idx="8">
                  <c:v>4</c:v>
                </c:pt>
                <c:pt idx="9">
                  <c:v>13</c:v>
                </c:pt>
                <c:pt idx="10">
                  <c:v>2</c:v>
                </c:pt>
                <c:pt idx="11">
                  <c:v>6</c:v>
                </c:pt>
                <c:pt idx="12">
                  <c:v>7</c:v>
                </c:pt>
                <c:pt idx="13">
                  <c:v>7</c:v>
                </c:pt>
                <c:pt idx="14">
                  <c:v>5</c:v>
                </c:pt>
                <c:pt idx="15">
                  <c:v>21</c:v>
                </c:pt>
                <c:pt idx="16">
                  <c:v>7</c:v>
                </c:pt>
              </c:numCache>
            </c:numRef>
          </c:val>
          <c:extLst>
            <c:ext xmlns:c16="http://schemas.microsoft.com/office/drawing/2014/chart" uri="{C3380CC4-5D6E-409C-BE32-E72D297353CC}">
              <c16:uniqueId val="{00000000-8A60-1042-A049-B9411FB4E53D}"/>
            </c:ext>
          </c:extLst>
        </c:ser>
        <c:dLbls>
          <c:showLegendKey val="0"/>
          <c:showVal val="0"/>
          <c:showCatName val="0"/>
          <c:showSerName val="0"/>
          <c:showPercent val="0"/>
          <c:showBubbleSize val="0"/>
        </c:dLbls>
        <c:gapWidth val="65"/>
        <c:shape val="box"/>
        <c:axId val="1918262720"/>
        <c:axId val="1897150016"/>
        <c:axId val="0"/>
      </c:bar3DChart>
      <c:catAx>
        <c:axId val="1918262720"/>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897150016"/>
        <c:crosses val="autoZero"/>
        <c:auto val="1"/>
        <c:lblAlgn val="ctr"/>
        <c:lblOffset val="100"/>
        <c:noMultiLvlLbl val="0"/>
      </c:catAx>
      <c:valAx>
        <c:axId val="189715001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918262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[RAG_PSRI_DATA.xlsx]PIVOT 2!PivotTable41</c:name>
    <c:fmtId val="113"/>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75000"/>
                    <a:lumOff val="25000"/>
                  </a:sysClr>
                </a:solidFill>
                <a:latin typeface="Times New Roman" panose="02020603050405020304" pitchFamily="18" charset="0"/>
                <a:ea typeface="+mn-ea"/>
                <a:cs typeface="Times New Roman" panose="02020603050405020304" pitchFamily="18" charset="0"/>
              </a:defRPr>
            </a:pPr>
            <a:r>
              <a:rPr lang="en-US" sz="1000" b="0">
                <a:effectLst/>
              </a:rPr>
              <a:t>Respondents’ Opinions on the Influence of Middlemen in Product Pricing</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75000"/>
                  <a:lumOff val="25000"/>
                </a:sys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2'!$L$51</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1FF2-B748-B35C-3B04FBE89D4E}"/>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1FF2-B748-B35C-3B04FBE89D4E}"/>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000"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2'!$K$52:$K$54</c:f>
              <c:strCache>
                <c:ptCount val="2"/>
                <c:pt idx="0">
                  <c:v>No</c:v>
                </c:pt>
                <c:pt idx="1">
                  <c:v>Yes</c:v>
                </c:pt>
              </c:strCache>
            </c:strRef>
          </c:cat>
          <c:val>
            <c:numRef>
              <c:f>'PIVOT 2'!$L$52:$L$54</c:f>
              <c:numCache>
                <c:formatCode>General</c:formatCode>
                <c:ptCount val="2"/>
                <c:pt idx="0">
                  <c:v>44</c:v>
                </c:pt>
                <c:pt idx="1">
                  <c:v>71</c:v>
                </c:pt>
              </c:numCache>
            </c:numRef>
          </c:val>
          <c:extLst>
            <c:ext xmlns:c16="http://schemas.microsoft.com/office/drawing/2014/chart" uri="{C3380CC4-5D6E-409C-BE32-E72D297353CC}">
              <c16:uniqueId val="{00000004-1FF2-B748-B35C-3B04FBE89D4E}"/>
            </c:ext>
          </c:extLst>
        </c:ser>
        <c:dLbls>
          <c:dLblPos val="ctr"/>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41F86A-D4E8-47CA-BAFB-BFBBDFD742A1}" type="datetimeFigureOut">
              <a:rPr lang="en-IN" smtClean="0"/>
              <a:t>08/07/26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44817-3D98-4580-B4E4-1CC638FC20E6}" type="slidenum">
              <a:rPr lang="en-IN" smtClean="0"/>
              <a:t>‹#›</a:t>
            </a:fld>
            <a:endParaRPr lang="en-IN"/>
          </a:p>
        </p:txBody>
      </p:sp>
    </p:spTree>
    <p:extLst>
      <p:ext uri="{BB962C8B-B14F-4D97-AF65-F5344CB8AC3E}">
        <p14:creationId xmlns:p14="http://schemas.microsoft.com/office/powerpoint/2010/main" val="111754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0967EA5-134A-472E-A947-2D920382310A}" type="datetime1">
              <a:rPr lang="en-US" smtClean="0"/>
              <a:t>7/8/26</a:t>
            </a:fld>
            <a:endParaRPr lang="en-US"/>
          </a:p>
        </p:txBody>
      </p:sp>
      <p:sp>
        <p:nvSpPr>
          <p:cNvPr id="5" name="Footer Placeholder 4"/>
          <p:cNvSpPr>
            <a:spLocks noGrp="1"/>
          </p:cNvSpPr>
          <p:nvPr>
            <p:ph type="ftr" sz="quarter" idx="11"/>
          </p:nvPr>
        </p:nvSpPr>
        <p:spPr/>
        <p:txBody>
          <a:bodyPr/>
          <a:lstStyle/>
          <a:p>
            <a:r>
              <a:rPr lang="en-US"/>
              <a:t>Name and USN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F75F01-AEA8-499E-A0F9-A5E8A02CE302}" type="datetime1">
              <a:rPr lang="en-US" smtClean="0"/>
              <a:t>7/8/26</a:t>
            </a:fld>
            <a:endParaRPr lang="en-US"/>
          </a:p>
        </p:txBody>
      </p:sp>
      <p:sp>
        <p:nvSpPr>
          <p:cNvPr id="5" name="Footer Placeholder 4"/>
          <p:cNvSpPr>
            <a:spLocks noGrp="1"/>
          </p:cNvSpPr>
          <p:nvPr>
            <p:ph type="ftr" sz="quarter" idx="11"/>
          </p:nvPr>
        </p:nvSpPr>
        <p:spPr/>
        <p:txBody>
          <a:bodyPr/>
          <a:lstStyle/>
          <a:p>
            <a:r>
              <a:rPr lang="en-US"/>
              <a:t>Name and USN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355CA-9221-48DC-B950-CAA1D707C4E3}" type="datetime1">
              <a:rPr lang="en-US" smtClean="0"/>
              <a:t>7/8/26</a:t>
            </a:fld>
            <a:endParaRPr lang="en-US"/>
          </a:p>
        </p:txBody>
      </p:sp>
      <p:sp>
        <p:nvSpPr>
          <p:cNvPr id="5" name="Footer Placeholder 4"/>
          <p:cNvSpPr>
            <a:spLocks noGrp="1"/>
          </p:cNvSpPr>
          <p:nvPr>
            <p:ph type="ftr" sz="quarter" idx="11"/>
          </p:nvPr>
        </p:nvSpPr>
        <p:spPr/>
        <p:txBody>
          <a:bodyPr/>
          <a:lstStyle/>
          <a:p>
            <a:r>
              <a:rPr lang="en-US"/>
              <a:t>Name and USN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946A30-9D09-404B-B816-A768107AC06F}" type="datetime1">
              <a:rPr lang="en-US" smtClean="0"/>
              <a:t>7/8/26</a:t>
            </a:fld>
            <a:endParaRPr lang="en-US"/>
          </a:p>
        </p:txBody>
      </p:sp>
      <p:sp>
        <p:nvSpPr>
          <p:cNvPr id="6" name="Footer Placeholder 5"/>
          <p:cNvSpPr>
            <a:spLocks noGrp="1"/>
          </p:cNvSpPr>
          <p:nvPr>
            <p:ph type="ftr" sz="quarter" idx="11"/>
          </p:nvPr>
        </p:nvSpPr>
        <p:spPr/>
        <p:txBody>
          <a:bodyPr/>
          <a:lstStyle/>
          <a:p>
            <a:r>
              <a:rPr lang="en-US"/>
              <a:t>Name and USN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BDEBCC-F5EF-4E8B-A19A-5BE8B053B944}" type="datetime1">
              <a:rPr lang="en-US" smtClean="0"/>
              <a:t>7/8/26</a:t>
            </a:fld>
            <a:endParaRPr lang="en-US"/>
          </a:p>
        </p:txBody>
      </p:sp>
      <p:sp>
        <p:nvSpPr>
          <p:cNvPr id="8" name="Footer Placeholder 7"/>
          <p:cNvSpPr>
            <a:spLocks noGrp="1"/>
          </p:cNvSpPr>
          <p:nvPr>
            <p:ph type="ftr" sz="quarter" idx="11"/>
          </p:nvPr>
        </p:nvSpPr>
        <p:spPr/>
        <p:txBody>
          <a:bodyPr/>
          <a:lstStyle/>
          <a:p>
            <a:r>
              <a:rPr lang="en-US"/>
              <a:t>Name and USN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FDE33A-D4B4-4739-B87E-A5FDEF4A22DF}" type="datetime1">
              <a:rPr lang="en-US" smtClean="0"/>
              <a:t>7/8/26</a:t>
            </a:fld>
            <a:endParaRPr lang="en-US"/>
          </a:p>
        </p:txBody>
      </p:sp>
      <p:sp>
        <p:nvSpPr>
          <p:cNvPr id="4" name="Footer Placeholder 3"/>
          <p:cNvSpPr>
            <a:spLocks noGrp="1"/>
          </p:cNvSpPr>
          <p:nvPr>
            <p:ph type="ftr" sz="quarter" idx="11"/>
          </p:nvPr>
        </p:nvSpPr>
        <p:spPr/>
        <p:txBody>
          <a:bodyPr/>
          <a:lstStyle/>
          <a:p>
            <a:r>
              <a:rPr lang="en-US"/>
              <a:t>Name and USN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6F427B-322B-48AD-B3CA-0FBD7568B150}" type="datetime1">
              <a:rPr lang="en-US" smtClean="0"/>
              <a:t>7/8/26</a:t>
            </a:fld>
            <a:endParaRPr lang="en-US"/>
          </a:p>
        </p:txBody>
      </p:sp>
      <p:sp>
        <p:nvSpPr>
          <p:cNvPr id="3" name="Footer Placeholder 2"/>
          <p:cNvSpPr>
            <a:spLocks noGrp="1"/>
          </p:cNvSpPr>
          <p:nvPr>
            <p:ph type="ftr" sz="quarter" idx="11"/>
          </p:nvPr>
        </p:nvSpPr>
        <p:spPr/>
        <p:txBody>
          <a:bodyPr/>
          <a:lstStyle/>
          <a:p>
            <a:r>
              <a:rPr lang="en-US"/>
              <a:t>Name and USN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A666B5-2A15-4712-A2F2-1B0A962F8608}" type="datetime1">
              <a:rPr lang="en-US" smtClean="0"/>
              <a:t>7/8/26</a:t>
            </a:fld>
            <a:endParaRPr lang="en-US"/>
          </a:p>
        </p:txBody>
      </p:sp>
      <p:sp>
        <p:nvSpPr>
          <p:cNvPr id="6" name="Footer Placeholder 5"/>
          <p:cNvSpPr>
            <a:spLocks noGrp="1"/>
          </p:cNvSpPr>
          <p:nvPr>
            <p:ph type="ftr" sz="quarter" idx="11"/>
          </p:nvPr>
        </p:nvSpPr>
        <p:spPr/>
        <p:txBody>
          <a:bodyPr/>
          <a:lstStyle/>
          <a:p>
            <a:r>
              <a:rPr lang="en-US"/>
              <a:t>Name and USN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89981C-4ECB-4474-9AD9-77C4B722A9C7}" type="datetime1">
              <a:rPr lang="en-US" smtClean="0"/>
              <a:t>7/8/26</a:t>
            </a:fld>
            <a:endParaRPr lang="en-US"/>
          </a:p>
        </p:txBody>
      </p:sp>
      <p:sp>
        <p:nvSpPr>
          <p:cNvPr id="6" name="Footer Placeholder 5"/>
          <p:cNvSpPr>
            <a:spLocks noGrp="1"/>
          </p:cNvSpPr>
          <p:nvPr>
            <p:ph type="ftr" sz="quarter" idx="11"/>
          </p:nvPr>
        </p:nvSpPr>
        <p:spPr/>
        <p:txBody>
          <a:bodyPr/>
          <a:lstStyle/>
          <a:p>
            <a:r>
              <a:rPr lang="en-US"/>
              <a:t>Name and USN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F267AF-9334-4249-ABFA-3A6BF851D582}" type="datetime1">
              <a:rPr lang="en-US" smtClean="0"/>
              <a:t>7/8/26</a:t>
            </a:fld>
            <a:endParaRPr lang="en-US"/>
          </a:p>
        </p:txBody>
      </p:sp>
      <p:sp>
        <p:nvSpPr>
          <p:cNvPr id="5" name="Footer Placeholder 4"/>
          <p:cNvSpPr>
            <a:spLocks noGrp="1"/>
          </p:cNvSpPr>
          <p:nvPr>
            <p:ph type="ftr" sz="quarter" idx="11"/>
          </p:nvPr>
        </p:nvSpPr>
        <p:spPr/>
        <p:txBody>
          <a:bodyPr/>
          <a:lstStyle/>
          <a:p>
            <a:r>
              <a:rPr lang="en-US"/>
              <a:t>Name and USN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20273E-6C6A-4FD4-AB2D-470F5893B534}" type="datetime1">
              <a:rPr lang="en-US" smtClean="0"/>
              <a:t>7/8/26</a:t>
            </a:fld>
            <a:endParaRPr lang="en-US"/>
          </a:p>
        </p:txBody>
      </p:sp>
      <p:sp>
        <p:nvSpPr>
          <p:cNvPr id="5" name="Footer Placeholder 4"/>
          <p:cNvSpPr>
            <a:spLocks noGrp="1"/>
          </p:cNvSpPr>
          <p:nvPr>
            <p:ph type="ftr" sz="quarter" idx="11"/>
          </p:nvPr>
        </p:nvSpPr>
        <p:spPr/>
        <p:txBody>
          <a:bodyPr/>
          <a:lstStyle/>
          <a:p>
            <a:r>
              <a:rPr lang="en-US"/>
              <a:t>Name and USN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E5FD20-2886-4EB8-9DB2-AD6F1A411847}" type="datetime1">
              <a:rPr lang="en-US" smtClean="0"/>
              <a:t>7/8/26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Name and USN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yebrow"/>
          <p:cNvSpPr/>
          <p:nvPr/>
        </p:nvSpPr>
        <p:spPr>
          <a:xfrm>
            <a:off x="1463040" y="1298448"/>
            <a:ext cx="6217920" cy="310896"/>
          </a:xfrm>
          <a:prstGeom prst="rect">
            <a:avLst/>
          </a:prstGeom>
          <a:noFill/>
          <a:ln>
            <a:noFill/>
          </a:ln>
        </p:spPr>
        <p:txBody>
          <a:bodyPr wrap="square" lIns="91440" tIns="45720" rIns="91440" bIns="45720" anchor="ctr">
            <a:normAutofit fontScale="92500" lnSpcReduction="20000"/>
          </a:bodyPr>
          <a:lstStyle/>
          <a:p>
            <a:pPr marL="0" indent="0" algn="ctr">
              <a:lnSpc>
                <a:spcPct val="100000"/>
              </a:lnSpc>
              <a:buNone/>
            </a:pPr>
            <a:r>
              <a:rPr lang="en-US" b="1" spc="240" dirty="0">
                <a:solidFill>
                  <a:srgbClr val="9C7C1B"/>
                </a:solidFill>
                <a:latin typeface="Calibri"/>
                <a:cs typeface="Calibri"/>
              </a:rPr>
              <a:t>PROJECT ON SOCIAL AND RURAL ISSUES</a:t>
            </a:r>
          </a:p>
        </p:txBody>
      </p:sp>
      <p:sp>
        <p:nvSpPr>
          <p:cNvPr id="12" name="rule"/>
          <p:cNvSpPr/>
          <p:nvPr/>
        </p:nvSpPr>
        <p:spPr>
          <a:xfrm>
            <a:off x="3246120" y="1700784"/>
            <a:ext cx="2651760" cy="45720"/>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rtitle"/>
          <p:cNvSpPr/>
          <p:nvPr/>
        </p:nvSpPr>
        <p:spPr>
          <a:xfrm>
            <a:off x="1051560" y="1965960"/>
            <a:ext cx="7040880" cy="1417320"/>
          </a:xfrm>
          <a:prstGeom prst="rect">
            <a:avLst/>
          </a:prstGeom>
          <a:noFill/>
          <a:ln>
            <a:noFill/>
          </a:ln>
        </p:spPr>
        <p:txBody>
          <a:bodyPr wrap="square" lIns="91440" tIns="45720" rIns="91440" bIns="45720" anchor="ctr">
            <a:normAutofit/>
          </a:bodyPr>
          <a:lstStyle/>
          <a:p>
            <a:pPr marL="0" indent="0" algn="ctr">
              <a:lnSpc>
                <a:spcPct val="108000"/>
              </a:lnSpc>
              <a:buNone/>
            </a:pPr>
            <a:r>
              <a:rPr lang="en-US" sz="2700" b="1" dirty="0">
                <a:solidFill>
                  <a:srgbClr val="1E5B3F"/>
                </a:solidFill>
                <a:latin typeface="Cambria"/>
                <a:cs typeface="Cambria"/>
              </a:rPr>
              <a:t>“Opportunities and Challenges Faced by</a:t>
            </a:r>
          </a:p>
          <a:p>
            <a:pPr marL="0" indent="0" algn="ctr">
              <a:lnSpc>
                <a:spcPct val="108000"/>
              </a:lnSpc>
              <a:buNone/>
            </a:pPr>
            <a:r>
              <a:rPr lang="en-US" sz="2700" b="1" dirty="0">
                <a:solidFill>
                  <a:srgbClr val="1E5B3F"/>
                </a:solidFill>
                <a:latin typeface="Cambria"/>
                <a:cs typeface="Cambria"/>
              </a:rPr>
              <a:t>Rural Farmers in Marketing Agricultural Products”</a:t>
            </a:r>
          </a:p>
        </p:txBody>
      </p:sp>
      <p:sp>
        <p:nvSpPr>
          <p:cNvPr id="14" name="card"/>
          <p:cNvSpPr/>
          <p:nvPr/>
        </p:nvSpPr>
        <p:spPr>
          <a:xfrm>
            <a:off x="868680" y="3794760"/>
            <a:ext cx="3429000" cy="14173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5" name="cardhead"/>
          <p:cNvSpPr/>
          <p:nvPr/>
        </p:nvSpPr>
        <p:spPr>
          <a:xfrm>
            <a:off x="868680" y="3794760"/>
            <a:ext cx="3429000" cy="384048"/>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1600" b="1" dirty="0">
                <a:solidFill>
                  <a:srgbClr val="FFFFFF"/>
                </a:solidFill>
                <a:latin typeface="Calibri"/>
                <a:cs typeface="Calibri"/>
              </a:rPr>
              <a:t>Submitted by</a:t>
            </a:r>
          </a:p>
        </p:txBody>
      </p:sp>
      <p:sp>
        <p:nvSpPr>
          <p:cNvPr id="16" name="stud"/>
          <p:cNvSpPr/>
          <p:nvPr/>
        </p:nvSpPr>
        <p:spPr>
          <a:xfrm>
            <a:off x="1024128" y="4261104"/>
            <a:ext cx="3154680" cy="914400"/>
          </a:xfrm>
          <a:prstGeom prst="rect">
            <a:avLst/>
          </a:prstGeom>
          <a:noFill/>
          <a:ln>
            <a:noFill/>
          </a:ln>
        </p:spPr>
        <p:txBody>
          <a:bodyPr wrap="square" lIns="128016" tIns="45720" rIns="91440" bIns="45720" anchor="t">
            <a:normAutofit fontScale="92500" lnSpcReduction="20000"/>
          </a:bodyPr>
          <a:lstStyle/>
          <a:p>
            <a:pPr marL="0" indent="0" algn="l">
              <a:lnSpc>
                <a:spcPct val="100000"/>
              </a:lnSpc>
              <a:spcAft>
                <a:spcPts val="300"/>
              </a:spcAft>
              <a:buNone/>
            </a:pPr>
            <a:r>
              <a:rPr lang="en-US" sz="2400" b="1" dirty="0">
                <a:solidFill>
                  <a:srgbClr val="22302A"/>
                </a:solidFill>
                <a:latin typeface="Calibri"/>
                <a:cs typeface="Calibri"/>
              </a:rPr>
              <a:t>Raghavendra S</a:t>
            </a:r>
          </a:p>
          <a:p>
            <a:pPr marL="0" indent="0" algn="l">
              <a:lnSpc>
                <a:spcPct val="100000"/>
              </a:lnSpc>
              <a:spcAft>
                <a:spcPts val="300"/>
              </a:spcAft>
              <a:buNone/>
            </a:pPr>
            <a:r>
              <a:rPr lang="en-US" sz="2000" dirty="0">
                <a:solidFill>
                  <a:srgbClr val="3E463F"/>
                </a:solidFill>
                <a:latin typeface="Calibri Light"/>
                <a:cs typeface="Calibri Light"/>
              </a:rPr>
              <a:t>USN: 1SI25BA069</a:t>
            </a:r>
          </a:p>
          <a:p>
            <a:pPr marL="0" indent="0" algn="l">
              <a:lnSpc>
                <a:spcPct val="100000"/>
              </a:lnSpc>
              <a:buNone/>
            </a:pPr>
            <a:r>
              <a:rPr lang="en-US" dirty="0">
                <a:solidFill>
                  <a:srgbClr val="6B736A"/>
                </a:solidFill>
                <a:latin typeface="Calibri Light"/>
                <a:cs typeface="Calibri Light"/>
              </a:rPr>
              <a:t>Department of MBA</a:t>
            </a:r>
          </a:p>
        </p:txBody>
      </p:sp>
      <p:sp>
        <p:nvSpPr>
          <p:cNvPr id="17" name="card"/>
          <p:cNvSpPr/>
          <p:nvPr/>
        </p:nvSpPr>
        <p:spPr>
          <a:xfrm>
            <a:off x="4526280" y="3794760"/>
            <a:ext cx="3749040" cy="14173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8" name="cardhead"/>
          <p:cNvSpPr/>
          <p:nvPr/>
        </p:nvSpPr>
        <p:spPr>
          <a:xfrm>
            <a:off x="4526280" y="3794760"/>
            <a:ext cx="3749040" cy="384048"/>
          </a:xfrm>
          <a:prstGeom prst="roundRect">
            <a:avLst>
              <a:gd name="adj" fmla="val 8000"/>
            </a:avLst>
          </a:prstGeom>
          <a:solidFill>
            <a:srgbClr val="2E7D57"/>
          </a:solidFill>
          <a:ln>
            <a:noFill/>
          </a:ln>
        </p:spPr>
        <p:txBody>
          <a:bodyPr wrap="square" lIns="164592" tIns="45720" rIns="91440" bIns="45720" anchor="ctr">
            <a:normAutofit/>
          </a:bodyPr>
          <a:lstStyle/>
          <a:p>
            <a:pPr marL="0" indent="0" algn="l">
              <a:lnSpc>
                <a:spcPct val="100000"/>
              </a:lnSpc>
              <a:buNone/>
            </a:pPr>
            <a:r>
              <a:rPr lang="en-US" sz="1600" b="1" dirty="0">
                <a:solidFill>
                  <a:srgbClr val="FFFFFF"/>
                </a:solidFill>
                <a:latin typeface="Calibri"/>
                <a:cs typeface="Calibri"/>
              </a:rPr>
              <a:t>Under the Guidance of</a:t>
            </a:r>
          </a:p>
        </p:txBody>
      </p:sp>
      <p:sp>
        <p:nvSpPr>
          <p:cNvPr id="19" name="guide"/>
          <p:cNvSpPr/>
          <p:nvPr/>
        </p:nvSpPr>
        <p:spPr>
          <a:xfrm>
            <a:off x="4680464" y="4261104"/>
            <a:ext cx="3474720" cy="914400"/>
          </a:xfrm>
          <a:prstGeom prst="rect">
            <a:avLst/>
          </a:prstGeom>
          <a:noFill/>
          <a:ln>
            <a:noFill/>
          </a:ln>
        </p:spPr>
        <p:txBody>
          <a:bodyPr wrap="square" lIns="128016" tIns="45720" rIns="91440" bIns="45720" anchor="t">
            <a:normAutofit fontScale="92500" lnSpcReduction="20000"/>
          </a:bodyPr>
          <a:lstStyle/>
          <a:p>
            <a:pPr marL="0" indent="0" algn="l">
              <a:lnSpc>
                <a:spcPct val="100000"/>
              </a:lnSpc>
              <a:spcAft>
                <a:spcPts val="300"/>
              </a:spcAft>
              <a:buNone/>
            </a:pPr>
            <a:r>
              <a:rPr lang="en-US" sz="2400" b="1" dirty="0">
                <a:solidFill>
                  <a:srgbClr val="22302A"/>
                </a:solidFill>
                <a:latin typeface="Calibri"/>
                <a:cs typeface="Calibri"/>
              </a:rPr>
              <a:t>Dr. Anitha B. R.</a:t>
            </a:r>
          </a:p>
          <a:p>
            <a:pPr marL="0" indent="0" algn="l">
              <a:lnSpc>
                <a:spcPct val="100000"/>
              </a:lnSpc>
              <a:spcAft>
                <a:spcPts val="300"/>
              </a:spcAft>
              <a:buNone/>
            </a:pPr>
            <a:r>
              <a:rPr lang="en-US" sz="2000" dirty="0">
                <a:solidFill>
                  <a:srgbClr val="3E463F"/>
                </a:solidFill>
                <a:latin typeface="Calibri Light"/>
                <a:cs typeface="Calibri Light"/>
              </a:rPr>
              <a:t>Assistant Professor</a:t>
            </a:r>
          </a:p>
          <a:p>
            <a:pPr marL="0" indent="0" algn="l">
              <a:lnSpc>
                <a:spcPct val="100000"/>
              </a:lnSpc>
              <a:buNone/>
            </a:pPr>
            <a:r>
              <a:rPr lang="en-US" dirty="0">
                <a:solidFill>
                  <a:srgbClr val="6B736A"/>
                </a:solidFill>
                <a:latin typeface="Calibri Light"/>
                <a:cs typeface="Calibri Light"/>
              </a:rPr>
              <a:t>Department of MBA</a:t>
            </a:r>
          </a:p>
        </p:txBody>
      </p:sp>
      <p:sp>
        <p:nvSpPr>
          <p:cNvPr id="20" name="inst"/>
          <p:cNvSpPr/>
          <p:nvPr/>
        </p:nvSpPr>
        <p:spPr>
          <a:xfrm>
            <a:off x="777240" y="5440045"/>
            <a:ext cx="7589520" cy="731520"/>
          </a:xfrm>
          <a:prstGeom prst="rect">
            <a:avLst/>
          </a:prstGeom>
          <a:noFill/>
          <a:ln>
            <a:noFill/>
          </a:ln>
        </p:spPr>
        <p:txBody>
          <a:bodyPr wrap="square" lIns="91440" tIns="45720" rIns="91440" bIns="45720" anchor="ctr">
            <a:normAutofit/>
          </a:bodyPr>
          <a:lstStyle/>
          <a:p>
            <a:pPr marL="0" indent="0" algn="ctr">
              <a:lnSpc>
                <a:spcPct val="100000"/>
              </a:lnSpc>
              <a:spcAft>
                <a:spcPts val="100"/>
              </a:spcAft>
              <a:buNone/>
            </a:pPr>
            <a:r>
              <a:rPr lang="en-US" sz="1600" b="1" dirty="0">
                <a:solidFill>
                  <a:srgbClr val="1E5B3F"/>
                </a:solidFill>
                <a:latin typeface="Calibri"/>
                <a:cs typeface="Calibri"/>
              </a:rPr>
              <a:t>Department of MBA</a:t>
            </a:r>
          </a:p>
          <a:p>
            <a:pPr marL="0" indent="0" algn="ctr">
              <a:lnSpc>
                <a:spcPct val="100000"/>
              </a:lnSpc>
              <a:buNone/>
            </a:pPr>
            <a:r>
              <a:rPr lang="en-US" sz="1600" dirty="0" err="1">
                <a:solidFill>
                  <a:srgbClr val="6B736A"/>
                </a:solidFill>
                <a:latin typeface="Calibri Light"/>
                <a:cs typeface="Calibri Light"/>
              </a:rPr>
              <a:t>Siddaganga</a:t>
            </a:r>
            <a:r>
              <a:rPr lang="en-US" sz="1600" dirty="0">
                <a:solidFill>
                  <a:srgbClr val="6B736A"/>
                </a:solidFill>
                <a:latin typeface="Calibri Light"/>
                <a:cs typeface="Calibri Light"/>
              </a:rPr>
              <a:t> Institute of Technology, </a:t>
            </a:r>
            <a:r>
              <a:rPr lang="en-US" sz="1600" dirty="0" err="1">
                <a:solidFill>
                  <a:srgbClr val="6B736A"/>
                </a:solidFill>
                <a:latin typeface="Calibri Light"/>
                <a:cs typeface="Calibri Light"/>
              </a:rPr>
              <a:t>Tumakuru</a:t>
            </a:r>
            <a:endParaRPr lang="en-US" sz="1600" dirty="0">
              <a:solidFill>
                <a:srgbClr val="6B736A"/>
              </a:solidFill>
              <a:latin typeface="Calibri Light"/>
              <a:cs typeface="Calibri Light"/>
            </a:endParaRPr>
          </a:p>
        </p:txBody>
      </p:sp>
      <p:sp>
        <p:nvSpPr>
          <p:cNvPr id="60" name="Date Placeholder"/>
          <p:cNvSpPr>
            <a:spLocks noGrp="1"/>
          </p:cNvSpPr>
          <p:nvPr>
            <p:ph type="dt" sz="half" idx="10"/>
          </p:nvPr>
        </p:nvSpPr>
        <p:spPr/>
        <p:txBody>
          <a:bodyPr/>
          <a:lstStyle/>
          <a:p>
            <a:r>
              <a:rPr lang="en-US" dirty="0"/>
              <a:t>8/7/26</a:t>
            </a:r>
          </a:p>
        </p:txBody>
      </p:sp>
      <p:sp>
        <p:nvSpPr>
          <p:cNvPr id="62" name="Slide Number Placeholde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1005840" y="136525"/>
            <a:ext cx="7680960" cy="741299"/>
          </a:xfrm>
          <a:prstGeom prst="rect">
            <a:avLst/>
          </a:prstGeom>
          <a:noFill/>
          <a:ln>
            <a:noFill/>
          </a:ln>
        </p:spPr>
        <p:txBody>
          <a:bodyPr wrap="square" lIns="0" tIns="45720" rIns="91440" bIns="18288" anchor="b">
            <a:normAutofit fontScale="92500" lnSpcReduction="20000"/>
          </a:bodyPr>
          <a:lstStyle/>
          <a:p>
            <a:pPr marL="0" indent="0" algn="l">
              <a:lnSpc>
                <a:spcPct val="100000"/>
              </a:lnSpc>
              <a:buNone/>
            </a:pPr>
            <a:r>
              <a:rPr lang="en-US" sz="5400" b="1" dirty="0">
                <a:solidFill>
                  <a:srgbClr val="1E5B3F"/>
                </a:solidFill>
                <a:latin typeface="Cambria"/>
                <a:cs typeface="Cambria"/>
              </a:rPr>
              <a:t>Introduction</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subhead"/>
          <p:cNvSpPr/>
          <p:nvPr/>
        </p:nvSpPr>
        <p:spPr>
          <a:xfrm>
            <a:off x="2133600" y="782739"/>
            <a:ext cx="6812280" cy="521207"/>
          </a:xfrm>
          <a:prstGeom prst="rect">
            <a:avLst/>
          </a:prstGeom>
          <a:noFill/>
          <a:ln>
            <a:noFill/>
          </a:ln>
        </p:spPr>
        <p:txBody>
          <a:bodyPr wrap="square" lIns="45720" tIns="45720" rIns="91440" bIns="45720" anchor="t">
            <a:normAutofit/>
          </a:bodyPr>
          <a:lstStyle/>
          <a:p>
            <a:pPr marL="0" indent="0" algn="l">
              <a:lnSpc>
                <a:spcPct val="100000"/>
              </a:lnSpc>
              <a:buNone/>
            </a:pPr>
            <a:r>
              <a:rPr lang="en-US" sz="2400" i="1" dirty="0">
                <a:solidFill>
                  <a:srgbClr val="6B736A"/>
                </a:solidFill>
                <a:latin typeface="Calibri Light"/>
                <a:cs typeface="Calibri Light"/>
              </a:rPr>
              <a:t>Research background and context</a:t>
            </a:r>
          </a:p>
        </p:txBody>
      </p:sp>
      <p:sp>
        <p:nvSpPr>
          <p:cNvPr id="14" name="bullets"/>
          <p:cNvSpPr/>
          <p:nvPr/>
        </p:nvSpPr>
        <p:spPr>
          <a:xfrm>
            <a:off x="594360" y="1325880"/>
            <a:ext cx="5196840" cy="4916170"/>
          </a:xfrm>
          <a:prstGeom prst="rect">
            <a:avLst/>
          </a:prstGeom>
          <a:noFill/>
          <a:ln>
            <a:noFill/>
          </a:ln>
        </p:spPr>
        <p:txBody>
          <a:bodyPr wrap="square" lIns="36576" tIns="45720" rIns="91440" bIns="45720" anchor="t">
            <a:normAutofit lnSpcReduction="10000"/>
          </a:bodyPr>
          <a:lstStyle/>
          <a:p>
            <a:pPr marL="285750" indent="-285750" algn="just">
              <a:lnSpc>
                <a:spcPct val="104000"/>
              </a:lnSpc>
              <a:spcAft>
                <a:spcPts val="900"/>
              </a:spcAft>
              <a:buClr>
                <a:srgbClr val="C09A2C"/>
              </a:buClr>
              <a:buFont typeface="Wingdings" pitchFamily="2" charset="2"/>
              <a:buChar char="q"/>
            </a:pPr>
            <a:r>
              <a:rPr lang="en-US" dirty="0">
                <a:solidFill>
                  <a:srgbClr val="3E463F"/>
                </a:solidFill>
                <a:latin typeface="Calibri Light"/>
                <a:cs typeface="Calibri Light"/>
              </a:rPr>
              <a:t>Agriculture is the backbone of the Indian economy and a major source of livelihood for rural communities.</a:t>
            </a:r>
          </a:p>
          <a:p>
            <a:pPr marL="285750" indent="-285750" algn="just">
              <a:lnSpc>
                <a:spcPct val="104000"/>
              </a:lnSpc>
              <a:spcAft>
                <a:spcPts val="900"/>
              </a:spcAft>
              <a:buClr>
                <a:srgbClr val="C09A2C"/>
              </a:buClr>
              <a:buFont typeface="Wingdings" pitchFamily="2" charset="2"/>
              <a:buChar char="q"/>
            </a:pPr>
            <a:r>
              <a:rPr lang="en-US" dirty="0">
                <a:solidFill>
                  <a:srgbClr val="3E463F"/>
                </a:solidFill>
                <a:latin typeface="Calibri Light"/>
                <a:cs typeface="Calibri Light"/>
              </a:rPr>
              <a:t>Agricultural marketing connects farmers with consumers and ensures fair price realization.</a:t>
            </a:r>
          </a:p>
          <a:p>
            <a:pPr marL="285750" indent="-285750" algn="just">
              <a:lnSpc>
                <a:spcPct val="104000"/>
              </a:lnSpc>
              <a:spcAft>
                <a:spcPts val="900"/>
              </a:spcAft>
              <a:buClr>
                <a:srgbClr val="C09A2C"/>
              </a:buClr>
              <a:buFont typeface="Wingdings" pitchFamily="2" charset="2"/>
              <a:buChar char="q"/>
            </a:pPr>
            <a:r>
              <a:rPr lang="en-US" dirty="0">
                <a:solidFill>
                  <a:srgbClr val="3E463F"/>
                </a:solidFill>
                <a:latin typeface="Calibri Light"/>
                <a:cs typeface="Calibri Light"/>
              </a:rPr>
              <a:t>Rural farmers face transportation issues, inadequate storage, price fluctuations, limited market information, and dependence on intermediaries.</a:t>
            </a:r>
          </a:p>
          <a:p>
            <a:pPr marL="285750" indent="-285750" algn="just">
              <a:lnSpc>
                <a:spcPct val="104000"/>
              </a:lnSpc>
              <a:spcAft>
                <a:spcPts val="900"/>
              </a:spcAft>
              <a:buClr>
                <a:srgbClr val="C09A2C"/>
              </a:buClr>
              <a:buFont typeface="Wingdings" pitchFamily="2" charset="2"/>
              <a:buChar char="q"/>
            </a:pPr>
            <a:r>
              <a:rPr lang="en-US" dirty="0">
                <a:solidFill>
                  <a:srgbClr val="3E463F"/>
                </a:solidFill>
                <a:latin typeface="Calibri Light"/>
                <a:cs typeface="Calibri Light"/>
              </a:rPr>
              <a:t>Direct marketing and digital marketing offer new opportunities to improve market access and farmer income.</a:t>
            </a:r>
          </a:p>
          <a:p>
            <a:pPr marL="285750" indent="-285750" algn="just">
              <a:lnSpc>
                <a:spcPct val="104000"/>
              </a:lnSpc>
              <a:spcAft>
                <a:spcPts val="900"/>
              </a:spcAft>
              <a:buClr>
                <a:srgbClr val="C09A2C"/>
              </a:buClr>
              <a:buFont typeface="Wingdings" pitchFamily="2" charset="2"/>
              <a:buChar char="q"/>
            </a:pPr>
            <a:r>
              <a:rPr lang="en-US" dirty="0">
                <a:solidFill>
                  <a:srgbClr val="3E463F"/>
                </a:solidFill>
                <a:latin typeface="Calibri Light"/>
                <a:cs typeface="Calibri Light"/>
              </a:rPr>
              <a:t>This study examines the opportunities and challenges faced by rural farmers in marketing agricultural products in selected rural areas of </a:t>
            </a:r>
            <a:r>
              <a:rPr lang="en-US" dirty="0" err="1">
                <a:solidFill>
                  <a:srgbClr val="3E463F"/>
                </a:solidFill>
                <a:latin typeface="Calibri Light"/>
                <a:cs typeface="Calibri Light"/>
              </a:rPr>
              <a:t>Tumakuru</a:t>
            </a:r>
            <a:r>
              <a:rPr lang="en-US" dirty="0">
                <a:solidFill>
                  <a:srgbClr val="3E463F"/>
                </a:solidFill>
                <a:latin typeface="Calibri Light"/>
                <a:cs typeface="Calibri Light"/>
              </a:rPr>
              <a:t> district.</a:t>
            </a:r>
          </a:p>
        </p:txBody>
      </p:sp>
      <p:sp>
        <p:nvSpPr>
          <p:cNvPr id="15" name="flowh"/>
          <p:cNvSpPr/>
          <p:nvPr/>
        </p:nvSpPr>
        <p:spPr>
          <a:xfrm>
            <a:off x="5989320" y="1325880"/>
            <a:ext cx="2331720" cy="310896"/>
          </a:xfrm>
          <a:prstGeom prst="rect">
            <a:avLst/>
          </a:prstGeom>
          <a:noFill/>
          <a:ln>
            <a:noFill/>
          </a:ln>
        </p:spPr>
        <p:txBody>
          <a:bodyPr wrap="square" lIns="91440" tIns="45720" rIns="91440" bIns="45720" anchor="ctr">
            <a:normAutofit lnSpcReduction="10000"/>
          </a:bodyPr>
          <a:lstStyle/>
          <a:p>
            <a:pPr marL="0" indent="0" algn="ctr">
              <a:lnSpc>
                <a:spcPct val="100000"/>
              </a:lnSpc>
              <a:buNone/>
            </a:pPr>
            <a:r>
              <a:rPr lang="en-US" sz="1600" b="1" spc="160" dirty="0">
                <a:solidFill>
                  <a:srgbClr val="9C7C1B"/>
                </a:solidFill>
                <a:latin typeface="Calibri"/>
                <a:cs typeface="Calibri"/>
              </a:rPr>
              <a:t>VALUE CHAIN</a:t>
            </a:r>
          </a:p>
        </p:txBody>
      </p:sp>
      <p:sp>
        <p:nvSpPr>
          <p:cNvPr id="16" name="fnode"/>
          <p:cNvSpPr/>
          <p:nvPr/>
        </p:nvSpPr>
        <p:spPr>
          <a:xfrm>
            <a:off x="5989320" y="1783080"/>
            <a:ext cx="2331720" cy="786384"/>
          </a:xfrm>
          <a:prstGeom prst="roundRect">
            <a:avLst>
              <a:gd name="adj" fmla="val 8000"/>
            </a:avLst>
          </a:prstGeom>
          <a:solidFill>
            <a:srgbClr val="E9F0EA"/>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ctr">
            <a:normAutofit/>
          </a:bodyPr>
          <a:lstStyle/>
          <a:p>
            <a:pPr marL="0" indent="0" algn="ctr">
              <a:lnSpc>
                <a:spcPct val="100000"/>
              </a:lnSpc>
              <a:spcAft>
                <a:spcPts val="200"/>
              </a:spcAft>
              <a:buNone/>
            </a:pPr>
            <a:r>
              <a:rPr lang="en-US" sz="2400" b="1" dirty="0">
                <a:solidFill>
                  <a:srgbClr val="1E5B3F"/>
                </a:solidFill>
                <a:latin typeface="Calibri"/>
                <a:cs typeface="Calibri"/>
              </a:rPr>
              <a:t>Farmer</a:t>
            </a:r>
          </a:p>
          <a:p>
            <a:pPr marL="0" indent="0" algn="ctr">
              <a:lnSpc>
                <a:spcPct val="100000"/>
              </a:lnSpc>
              <a:buNone/>
            </a:pPr>
            <a:r>
              <a:rPr lang="en-US" sz="1400" dirty="0">
                <a:solidFill>
                  <a:srgbClr val="6B736A"/>
                </a:solidFill>
                <a:latin typeface="Calibri Light"/>
                <a:cs typeface="Calibri Light"/>
              </a:rPr>
              <a:t>Produces agricultural goods</a:t>
            </a:r>
            <a:endParaRPr lang="en-US" sz="1000" dirty="0">
              <a:solidFill>
                <a:srgbClr val="6B736A"/>
              </a:solidFill>
              <a:latin typeface="Calibri Light"/>
              <a:cs typeface="Calibri Light"/>
            </a:endParaRPr>
          </a:p>
        </p:txBody>
      </p:sp>
      <p:sp>
        <p:nvSpPr>
          <p:cNvPr id="17" name="arrow"/>
          <p:cNvSpPr/>
          <p:nvPr/>
        </p:nvSpPr>
        <p:spPr>
          <a:xfrm>
            <a:off x="6999732" y="2606040"/>
            <a:ext cx="310896" cy="274320"/>
          </a:xfrm>
          <a:prstGeom prst="downArrow">
            <a:avLst/>
          </a:prstGeom>
          <a:solidFill>
            <a:srgbClr val="C09A2C"/>
          </a:solidFill>
          <a:ln>
            <a:noFill/>
          </a:ln>
        </p:spPr>
        <p:txBody>
          <a:bodyPr wrap="square" lIns="91440" tIns="45720" rIns="91440" bIns="45720" anchor="t">
            <a:normAutofit fontScale="47500" lnSpcReduction="20000"/>
          </a:bodyPr>
          <a:lstStyle/>
          <a:p>
            <a:endParaRPr lang="en-US"/>
          </a:p>
        </p:txBody>
      </p:sp>
      <p:sp>
        <p:nvSpPr>
          <p:cNvPr id="18" name="fnode"/>
          <p:cNvSpPr/>
          <p:nvPr/>
        </p:nvSpPr>
        <p:spPr>
          <a:xfrm>
            <a:off x="5989320" y="2953512"/>
            <a:ext cx="2331720" cy="786384"/>
          </a:xfrm>
          <a:prstGeom prst="roundRect">
            <a:avLst>
              <a:gd name="adj" fmla="val 8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ctr">
            <a:normAutofit fontScale="92500"/>
          </a:bodyPr>
          <a:lstStyle/>
          <a:p>
            <a:pPr marL="0" indent="0" algn="ctr">
              <a:lnSpc>
                <a:spcPct val="100000"/>
              </a:lnSpc>
              <a:spcAft>
                <a:spcPts val="200"/>
              </a:spcAft>
              <a:buNone/>
            </a:pPr>
            <a:r>
              <a:rPr lang="en-US" sz="2400" b="1" dirty="0">
                <a:solidFill>
                  <a:srgbClr val="2E7D57"/>
                </a:solidFill>
                <a:latin typeface="Calibri"/>
                <a:cs typeface="Calibri"/>
              </a:rPr>
              <a:t>Market</a:t>
            </a:r>
          </a:p>
          <a:p>
            <a:pPr marL="0" indent="0" algn="ctr">
              <a:lnSpc>
                <a:spcPct val="100000"/>
              </a:lnSpc>
              <a:buNone/>
            </a:pPr>
            <a:r>
              <a:rPr lang="en-US" sz="1400" dirty="0">
                <a:solidFill>
                  <a:srgbClr val="6B736A"/>
                </a:solidFill>
                <a:latin typeface="Calibri Light"/>
                <a:cs typeface="Calibri Light"/>
              </a:rPr>
              <a:t>Aggregation &amp; price discovery</a:t>
            </a:r>
            <a:endParaRPr lang="en-US" sz="1000" dirty="0">
              <a:solidFill>
                <a:srgbClr val="6B736A"/>
              </a:solidFill>
              <a:latin typeface="Calibri Light"/>
              <a:cs typeface="Calibri Light"/>
            </a:endParaRPr>
          </a:p>
        </p:txBody>
      </p:sp>
      <p:sp>
        <p:nvSpPr>
          <p:cNvPr id="19" name="arrow"/>
          <p:cNvSpPr/>
          <p:nvPr/>
        </p:nvSpPr>
        <p:spPr>
          <a:xfrm>
            <a:off x="6999732" y="3776472"/>
            <a:ext cx="310896" cy="274320"/>
          </a:xfrm>
          <a:prstGeom prst="downArrow">
            <a:avLst/>
          </a:prstGeom>
          <a:solidFill>
            <a:srgbClr val="C09A2C"/>
          </a:solidFill>
          <a:ln>
            <a:noFill/>
          </a:ln>
        </p:spPr>
        <p:txBody>
          <a:bodyPr wrap="square" lIns="91440" tIns="45720" rIns="91440" bIns="45720" anchor="t">
            <a:normAutofit fontScale="47500" lnSpcReduction="20000"/>
          </a:bodyPr>
          <a:lstStyle/>
          <a:p>
            <a:endParaRPr lang="en-US"/>
          </a:p>
        </p:txBody>
      </p:sp>
      <p:sp>
        <p:nvSpPr>
          <p:cNvPr id="20" name="fnode"/>
          <p:cNvSpPr/>
          <p:nvPr/>
        </p:nvSpPr>
        <p:spPr>
          <a:xfrm>
            <a:off x="5989320" y="4123944"/>
            <a:ext cx="2331720" cy="786384"/>
          </a:xfrm>
          <a:prstGeom prst="roundRect">
            <a:avLst>
              <a:gd name="adj" fmla="val 8000"/>
            </a:avLst>
          </a:prstGeom>
          <a:solidFill>
            <a:srgbClr val="E9F0EA"/>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ctr">
            <a:normAutofit/>
          </a:bodyPr>
          <a:lstStyle/>
          <a:p>
            <a:pPr marL="0" indent="0" algn="ctr">
              <a:lnSpc>
                <a:spcPct val="100000"/>
              </a:lnSpc>
              <a:spcAft>
                <a:spcPts val="200"/>
              </a:spcAft>
              <a:buNone/>
            </a:pPr>
            <a:r>
              <a:rPr lang="en-US" sz="2400" b="1" dirty="0">
                <a:solidFill>
                  <a:srgbClr val="9C7C1B"/>
                </a:solidFill>
                <a:latin typeface="Calibri"/>
                <a:cs typeface="Calibri"/>
              </a:rPr>
              <a:t>Consumer</a:t>
            </a:r>
          </a:p>
          <a:p>
            <a:pPr marL="0" indent="0" algn="ctr">
              <a:lnSpc>
                <a:spcPct val="100000"/>
              </a:lnSpc>
              <a:buNone/>
            </a:pPr>
            <a:r>
              <a:rPr lang="en-US" sz="1400" dirty="0">
                <a:solidFill>
                  <a:srgbClr val="6B736A"/>
                </a:solidFill>
                <a:latin typeface="Calibri Light"/>
                <a:cs typeface="Calibri Light"/>
              </a:rPr>
              <a:t>Final purchase &amp; demand</a:t>
            </a:r>
            <a:endParaRPr lang="en-US" sz="1000" dirty="0">
              <a:solidFill>
                <a:srgbClr val="6B736A"/>
              </a:solidFill>
              <a:latin typeface="Calibri Light"/>
              <a:cs typeface="Calibri Light"/>
            </a:endParaRP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1024930" y="57531"/>
            <a:ext cx="8135112" cy="796798"/>
          </a:xfrm>
          <a:prstGeom prst="rect">
            <a:avLst/>
          </a:prstGeom>
          <a:noFill/>
          <a:ln>
            <a:noFill/>
          </a:ln>
        </p:spPr>
        <p:txBody>
          <a:bodyPr wrap="square" lIns="0" tIns="45720" rIns="91440" bIns="18288" anchor="b">
            <a:normAutofit fontScale="92500"/>
          </a:bodyPr>
          <a:lstStyle/>
          <a:p>
            <a:pPr marL="0" indent="0" algn="l">
              <a:lnSpc>
                <a:spcPct val="100000"/>
              </a:lnSpc>
              <a:buNone/>
            </a:pPr>
            <a:r>
              <a:rPr lang="en-US" sz="2800" b="1" dirty="0">
                <a:solidFill>
                  <a:srgbClr val="1E5B3F"/>
                </a:solidFill>
                <a:latin typeface="Cambria"/>
                <a:cs typeface="Cambria"/>
              </a:rPr>
              <a:t>Theoretical Background &amp; Conceptual Framework</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h1"/>
          <p:cNvSpPr/>
          <p:nvPr/>
        </p:nvSpPr>
        <p:spPr>
          <a:xfrm>
            <a:off x="594360" y="1005840"/>
            <a:ext cx="7863840" cy="475488"/>
          </a:xfrm>
          <a:prstGeom prst="rect">
            <a:avLst/>
          </a:prstGeom>
          <a:noFill/>
          <a:ln>
            <a:noFill/>
          </a:ln>
        </p:spPr>
        <p:txBody>
          <a:bodyPr wrap="square" lIns="18288" tIns="45720" rIns="91440" bIns="45720" anchor="ctr">
            <a:normAutofit/>
          </a:bodyPr>
          <a:lstStyle/>
          <a:p>
            <a:pPr marL="0" indent="0" algn="l">
              <a:lnSpc>
                <a:spcPct val="100000"/>
              </a:lnSpc>
              <a:buNone/>
            </a:pPr>
            <a:r>
              <a:rPr lang="en-US" b="1" spc="120" dirty="0">
                <a:solidFill>
                  <a:srgbClr val="1E5B3F"/>
                </a:solidFill>
                <a:latin typeface="Calibri"/>
                <a:cs typeface="Calibri"/>
              </a:rPr>
              <a:t>THEORETICAL BACKGROUND</a:t>
            </a:r>
          </a:p>
        </p:txBody>
      </p:sp>
      <p:sp>
        <p:nvSpPr>
          <p:cNvPr id="14" name="bullets"/>
          <p:cNvSpPr/>
          <p:nvPr/>
        </p:nvSpPr>
        <p:spPr>
          <a:xfrm>
            <a:off x="594360" y="1414822"/>
            <a:ext cx="7863840" cy="1711156"/>
          </a:xfrm>
          <a:prstGeom prst="rect">
            <a:avLst/>
          </a:prstGeom>
          <a:noFill/>
          <a:ln>
            <a:noFill/>
          </a:ln>
        </p:spPr>
        <p:txBody>
          <a:bodyPr wrap="square" lIns="36576" tIns="45720" rIns="91440" bIns="45720" anchor="t">
            <a:normAutofit fontScale="92500" lnSpcReduction="20000"/>
          </a:bodyPr>
          <a:lstStyle/>
          <a:p>
            <a:pPr marL="342900" indent="-342900" algn="l">
              <a:lnSpc>
                <a:spcPct val="102000"/>
              </a:lnSpc>
              <a:spcAft>
                <a:spcPts val="400"/>
              </a:spcAft>
              <a:buClr>
                <a:schemeClr val="tx1"/>
              </a:buClr>
              <a:buFont typeface="Wingdings" pitchFamily="2" charset="2"/>
              <a:buChar char="q"/>
            </a:pPr>
            <a:r>
              <a:rPr lang="en-US" sz="2000" dirty="0">
                <a:solidFill>
                  <a:srgbClr val="3E463F"/>
                </a:solidFill>
                <a:latin typeface="Calibri Light"/>
                <a:cs typeface="Calibri Light"/>
              </a:rPr>
              <a:t>Agricultural marketing facilitates the movement of products from producers to consumers.</a:t>
            </a:r>
          </a:p>
          <a:p>
            <a:pPr marL="342900" indent="-342900" algn="l">
              <a:lnSpc>
                <a:spcPct val="102000"/>
              </a:lnSpc>
              <a:spcAft>
                <a:spcPts val="400"/>
              </a:spcAft>
              <a:buClr>
                <a:schemeClr val="tx1"/>
              </a:buClr>
              <a:buFont typeface="Wingdings" pitchFamily="2" charset="2"/>
              <a:buChar char="q"/>
            </a:pPr>
            <a:r>
              <a:rPr lang="en-US" sz="2000" dirty="0">
                <a:solidFill>
                  <a:srgbClr val="3E463F"/>
                </a:solidFill>
                <a:latin typeface="Calibri Light"/>
                <a:cs typeface="Calibri Light"/>
              </a:rPr>
              <a:t>Efficient marketing systems improve price realization, profitability, and rural economic development.</a:t>
            </a:r>
          </a:p>
          <a:p>
            <a:pPr marL="342900" indent="-342900" algn="l">
              <a:lnSpc>
                <a:spcPct val="102000"/>
              </a:lnSpc>
              <a:spcAft>
                <a:spcPts val="400"/>
              </a:spcAft>
              <a:buClr>
                <a:schemeClr val="tx1"/>
              </a:buClr>
              <a:buFont typeface="Wingdings" pitchFamily="2" charset="2"/>
              <a:buChar char="q"/>
            </a:pPr>
            <a:r>
              <a:rPr lang="en-US" sz="2000" dirty="0">
                <a:solidFill>
                  <a:srgbClr val="3E463F"/>
                </a:solidFill>
                <a:latin typeface="Calibri Light"/>
                <a:cs typeface="Calibri Light"/>
              </a:rPr>
              <a:t>Digital marketing, direct marketing, market information, storage facilities, and reduced intermediary influence drive better outcomes</a:t>
            </a:r>
            <a:r>
              <a:rPr lang="en-US" sz="1600" dirty="0">
                <a:solidFill>
                  <a:srgbClr val="3E463F"/>
                </a:solidFill>
                <a:latin typeface="Calibri Light"/>
                <a:cs typeface="Calibri Light"/>
              </a:rPr>
              <a:t>.</a:t>
            </a:r>
          </a:p>
        </p:txBody>
      </p:sp>
      <p:sp>
        <p:nvSpPr>
          <p:cNvPr id="15" name="h2"/>
          <p:cNvSpPr/>
          <p:nvPr/>
        </p:nvSpPr>
        <p:spPr>
          <a:xfrm>
            <a:off x="594360" y="3038792"/>
            <a:ext cx="2895600" cy="559053"/>
          </a:xfrm>
          <a:prstGeom prst="rect">
            <a:avLst/>
          </a:prstGeom>
          <a:noFill/>
          <a:ln>
            <a:noFill/>
          </a:ln>
        </p:spPr>
        <p:txBody>
          <a:bodyPr wrap="square" lIns="18288" tIns="45720" rIns="91440" bIns="45720" anchor="ctr">
            <a:normAutofit fontScale="92500"/>
          </a:bodyPr>
          <a:lstStyle/>
          <a:p>
            <a:pPr marL="0" indent="0" algn="l">
              <a:lnSpc>
                <a:spcPct val="100000"/>
              </a:lnSpc>
              <a:buNone/>
            </a:pPr>
            <a:r>
              <a:rPr lang="en-US" b="1" spc="120" dirty="0">
                <a:solidFill>
                  <a:srgbClr val="1E5B3F"/>
                </a:solidFill>
                <a:latin typeface="Calibri"/>
                <a:cs typeface="Calibri"/>
              </a:rPr>
              <a:t>CONCEPTUAL FRAMEWORK</a:t>
            </a:r>
          </a:p>
        </p:txBody>
      </p:sp>
      <p:sp>
        <p:nvSpPr>
          <p:cNvPr id="16" name="card"/>
          <p:cNvSpPr/>
          <p:nvPr/>
        </p:nvSpPr>
        <p:spPr>
          <a:xfrm>
            <a:off x="553770" y="3515868"/>
            <a:ext cx="2880360" cy="23317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7" name="cardhead"/>
          <p:cNvSpPr/>
          <p:nvPr/>
        </p:nvSpPr>
        <p:spPr>
          <a:xfrm>
            <a:off x="562356" y="3511296"/>
            <a:ext cx="2880360" cy="484632"/>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b="1" dirty="0">
                <a:solidFill>
                  <a:srgbClr val="FFFFFF"/>
                </a:solidFill>
                <a:latin typeface="Calibri"/>
                <a:cs typeface="Calibri"/>
              </a:rPr>
              <a:t>Independent Factors</a:t>
            </a:r>
          </a:p>
        </p:txBody>
      </p:sp>
      <p:sp>
        <p:nvSpPr>
          <p:cNvPr id="18" name="cardbody"/>
          <p:cNvSpPr/>
          <p:nvPr/>
        </p:nvSpPr>
        <p:spPr>
          <a:xfrm>
            <a:off x="610641" y="3995928"/>
            <a:ext cx="2843784" cy="1856232"/>
          </a:xfrm>
          <a:prstGeom prst="rect">
            <a:avLst/>
          </a:prstGeom>
          <a:noFill/>
          <a:ln>
            <a:noFill/>
          </a:ln>
        </p:spPr>
        <p:txBody>
          <a:bodyPr wrap="square" lIns="109728" tIns="45720" rIns="73152" bIns="45720" anchor="t">
            <a:normAutofit fontScale="85000" lnSpcReduction="10000"/>
          </a:bodyPr>
          <a:lstStyle/>
          <a:p>
            <a:pPr marL="342900" indent="-342900" algn="l">
              <a:lnSpc>
                <a:spcPct val="104000"/>
              </a:lnSpc>
              <a:spcAft>
                <a:spcPts val="400"/>
              </a:spcAft>
              <a:buClr>
                <a:schemeClr val="tx1"/>
              </a:buClr>
              <a:buFont typeface="Arial" panose="020B0604020202020204" pitchFamily="34" charset="0"/>
              <a:buChar char="•"/>
            </a:pPr>
            <a:r>
              <a:rPr lang="en-US" sz="2100" dirty="0">
                <a:solidFill>
                  <a:srgbClr val="3E463F"/>
                </a:solidFill>
                <a:latin typeface="Calibri Light"/>
                <a:cs typeface="Calibri Light"/>
              </a:rPr>
              <a:t>Direct Marketing Awareness</a:t>
            </a:r>
          </a:p>
          <a:p>
            <a:pPr marL="342900" indent="-342900" algn="l">
              <a:lnSpc>
                <a:spcPct val="104000"/>
              </a:lnSpc>
              <a:spcAft>
                <a:spcPts val="400"/>
              </a:spcAft>
              <a:buClr>
                <a:schemeClr val="tx1"/>
              </a:buClr>
              <a:buFont typeface="Arial" panose="020B0604020202020204" pitchFamily="34" charset="0"/>
              <a:buChar char="•"/>
            </a:pPr>
            <a:r>
              <a:rPr lang="en-US" sz="2100" dirty="0">
                <a:solidFill>
                  <a:srgbClr val="3E463F"/>
                </a:solidFill>
                <a:latin typeface="Calibri Light"/>
                <a:cs typeface="Calibri Light"/>
              </a:rPr>
              <a:t>Digital Platform Usage</a:t>
            </a:r>
          </a:p>
          <a:p>
            <a:pPr marL="342900" indent="-342900" algn="l">
              <a:lnSpc>
                <a:spcPct val="104000"/>
              </a:lnSpc>
              <a:spcAft>
                <a:spcPts val="400"/>
              </a:spcAft>
              <a:buClr>
                <a:schemeClr val="tx1"/>
              </a:buClr>
              <a:buFont typeface="Arial" panose="020B0604020202020204" pitchFamily="34" charset="0"/>
              <a:buChar char="•"/>
            </a:pPr>
            <a:r>
              <a:rPr lang="en-US" sz="2100" dirty="0">
                <a:solidFill>
                  <a:srgbClr val="3E463F"/>
                </a:solidFill>
                <a:latin typeface="Calibri Light"/>
                <a:cs typeface="Calibri Light"/>
              </a:rPr>
              <a:t>Market Price Information</a:t>
            </a:r>
          </a:p>
          <a:p>
            <a:pPr marL="342900" indent="-342900" algn="l">
              <a:lnSpc>
                <a:spcPct val="104000"/>
              </a:lnSpc>
              <a:spcAft>
                <a:spcPts val="400"/>
              </a:spcAft>
              <a:buClr>
                <a:schemeClr val="tx1"/>
              </a:buClr>
              <a:buFont typeface="Arial" panose="020B0604020202020204" pitchFamily="34" charset="0"/>
              <a:buChar char="•"/>
            </a:pPr>
            <a:r>
              <a:rPr lang="en-US" sz="2100" dirty="0">
                <a:solidFill>
                  <a:srgbClr val="3E463F"/>
                </a:solidFill>
                <a:latin typeface="Calibri Light"/>
                <a:cs typeface="Calibri Light"/>
              </a:rPr>
              <a:t>Storage Facilities</a:t>
            </a:r>
          </a:p>
          <a:p>
            <a:pPr marL="342900" indent="-342900" algn="l">
              <a:lnSpc>
                <a:spcPct val="104000"/>
              </a:lnSpc>
              <a:spcAft>
                <a:spcPts val="400"/>
              </a:spcAft>
              <a:buClr>
                <a:schemeClr val="tx1"/>
              </a:buClr>
              <a:buFont typeface="Arial" panose="020B0604020202020204" pitchFamily="34" charset="0"/>
              <a:buChar char="•"/>
            </a:pPr>
            <a:r>
              <a:rPr lang="en-US" sz="2100" dirty="0">
                <a:solidFill>
                  <a:srgbClr val="3E463F"/>
                </a:solidFill>
                <a:latin typeface="Calibri Light"/>
                <a:cs typeface="Calibri Light"/>
              </a:rPr>
              <a:t>Middlemen Influence</a:t>
            </a:r>
            <a:endParaRPr lang="en-US" sz="1100" dirty="0">
              <a:solidFill>
                <a:srgbClr val="3E463F"/>
              </a:solidFill>
              <a:latin typeface="Calibri Light"/>
              <a:cs typeface="Calibri Light"/>
            </a:endParaRPr>
          </a:p>
        </p:txBody>
      </p:sp>
      <p:sp>
        <p:nvSpPr>
          <p:cNvPr id="19" name="arrow"/>
          <p:cNvSpPr/>
          <p:nvPr/>
        </p:nvSpPr>
        <p:spPr>
          <a:xfrm>
            <a:off x="3529584" y="4160520"/>
            <a:ext cx="384048" cy="310896"/>
          </a:xfrm>
          <a:prstGeom prst="right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20" name="outn"/>
          <p:cNvSpPr/>
          <p:nvPr/>
        </p:nvSpPr>
        <p:spPr>
          <a:xfrm>
            <a:off x="4041648" y="3218688"/>
            <a:ext cx="4160520" cy="548640"/>
          </a:xfrm>
          <a:prstGeom prst="roundRect">
            <a:avLst>
              <a:gd name="adj" fmla="val 9000"/>
            </a:avLst>
          </a:prstGeom>
          <a:solidFill>
            <a:srgbClr val="E9F0EA"/>
          </a:solidFill>
          <a:ln w="12700">
            <a:solidFill>
              <a:srgbClr val="D9DCD1"/>
            </a:solidFill>
          </a:ln>
        </p:spPr>
        <p:txBody>
          <a:bodyPr wrap="square" lIns="91440" tIns="45720" rIns="91440" bIns="45720" anchor="ctr">
            <a:normAutofit/>
          </a:bodyPr>
          <a:lstStyle/>
          <a:p>
            <a:pPr marL="0" indent="0" algn="ctr">
              <a:lnSpc>
                <a:spcPct val="100000"/>
              </a:lnSpc>
              <a:buNone/>
            </a:pPr>
            <a:r>
              <a:rPr lang="en-US" b="1">
                <a:solidFill>
                  <a:srgbClr val="2E7D57"/>
                </a:solidFill>
                <a:latin typeface="Calibri"/>
                <a:cs typeface="Calibri"/>
              </a:rPr>
              <a:t>Agricultural Marketing Practices</a:t>
            </a:r>
          </a:p>
        </p:txBody>
      </p:sp>
      <p:sp>
        <p:nvSpPr>
          <p:cNvPr id="21" name="arrow"/>
          <p:cNvSpPr/>
          <p:nvPr/>
        </p:nvSpPr>
        <p:spPr>
          <a:xfrm>
            <a:off x="5975604" y="3785616"/>
            <a:ext cx="292608" cy="237744"/>
          </a:xfrm>
          <a:prstGeom prst="downArrow">
            <a:avLst/>
          </a:prstGeom>
          <a:solidFill>
            <a:srgbClr val="C09A2C"/>
          </a:solidFill>
          <a:ln>
            <a:noFill/>
          </a:ln>
        </p:spPr>
        <p:txBody>
          <a:bodyPr wrap="square" lIns="91440" tIns="45720" rIns="91440" bIns="45720" anchor="t">
            <a:normAutofit fontScale="32500" lnSpcReduction="20000"/>
          </a:bodyPr>
          <a:lstStyle/>
          <a:p>
            <a:endParaRPr lang="en-US"/>
          </a:p>
        </p:txBody>
      </p:sp>
      <p:sp>
        <p:nvSpPr>
          <p:cNvPr id="22" name="outn"/>
          <p:cNvSpPr/>
          <p:nvPr/>
        </p:nvSpPr>
        <p:spPr>
          <a:xfrm>
            <a:off x="4041648" y="3995928"/>
            <a:ext cx="4160520" cy="548640"/>
          </a:xfrm>
          <a:prstGeom prst="roundRect">
            <a:avLst>
              <a:gd name="adj" fmla="val 9000"/>
            </a:avLst>
          </a:prstGeom>
          <a:solidFill>
            <a:srgbClr val="F6F1E1"/>
          </a:solidFill>
          <a:ln w="12700">
            <a:solidFill>
              <a:srgbClr val="D9DCD1"/>
            </a:solidFill>
          </a:ln>
        </p:spPr>
        <p:txBody>
          <a:bodyPr wrap="square" lIns="91440" tIns="45720" rIns="91440" bIns="45720" anchor="ctr">
            <a:normAutofit/>
          </a:bodyPr>
          <a:lstStyle/>
          <a:p>
            <a:pPr marL="0" indent="0" algn="ctr">
              <a:lnSpc>
                <a:spcPct val="100000"/>
              </a:lnSpc>
              <a:buNone/>
            </a:pPr>
            <a:r>
              <a:rPr lang="en-US" b="1" dirty="0">
                <a:solidFill>
                  <a:srgbClr val="9C7C1B"/>
                </a:solidFill>
                <a:latin typeface="Calibri"/>
                <a:cs typeface="Calibri"/>
              </a:rPr>
              <a:t>Fair Price Realization</a:t>
            </a:r>
          </a:p>
        </p:txBody>
      </p:sp>
      <p:sp>
        <p:nvSpPr>
          <p:cNvPr id="23" name="arrow"/>
          <p:cNvSpPr/>
          <p:nvPr/>
        </p:nvSpPr>
        <p:spPr>
          <a:xfrm>
            <a:off x="5975604" y="4562856"/>
            <a:ext cx="292608" cy="237744"/>
          </a:xfrm>
          <a:prstGeom prst="downArrow">
            <a:avLst/>
          </a:prstGeom>
          <a:solidFill>
            <a:srgbClr val="C09A2C"/>
          </a:solidFill>
          <a:ln>
            <a:noFill/>
          </a:ln>
        </p:spPr>
        <p:txBody>
          <a:bodyPr wrap="square" lIns="91440" tIns="45720" rIns="91440" bIns="45720" anchor="t">
            <a:normAutofit fontScale="32500" lnSpcReduction="20000"/>
          </a:bodyPr>
          <a:lstStyle/>
          <a:p>
            <a:endParaRPr lang="en-US"/>
          </a:p>
        </p:txBody>
      </p:sp>
      <p:sp>
        <p:nvSpPr>
          <p:cNvPr id="24" name="outn"/>
          <p:cNvSpPr/>
          <p:nvPr/>
        </p:nvSpPr>
        <p:spPr>
          <a:xfrm>
            <a:off x="4041648" y="4773168"/>
            <a:ext cx="4160520" cy="548640"/>
          </a:xfrm>
          <a:prstGeom prst="roundRect">
            <a:avLst>
              <a:gd name="adj" fmla="val 9000"/>
            </a:avLst>
          </a:prstGeom>
          <a:solidFill>
            <a:srgbClr val="E9F0EA"/>
          </a:solidFill>
          <a:ln w="12700">
            <a:solidFill>
              <a:srgbClr val="D9DCD1"/>
            </a:solidFill>
          </a:ln>
        </p:spPr>
        <p:txBody>
          <a:bodyPr wrap="square" lIns="91440" tIns="45720" rIns="91440" bIns="45720" anchor="ctr">
            <a:normAutofit/>
          </a:bodyPr>
          <a:lstStyle/>
          <a:p>
            <a:pPr marL="0" indent="0" algn="ctr">
              <a:lnSpc>
                <a:spcPct val="100000"/>
              </a:lnSpc>
              <a:buNone/>
            </a:pPr>
            <a:r>
              <a:rPr lang="en-US" b="1">
                <a:solidFill>
                  <a:srgbClr val="1E5B3F"/>
                </a:solidFill>
                <a:latin typeface="Calibri"/>
                <a:cs typeface="Calibri"/>
              </a:rPr>
              <a:t>Improved Farmer Income</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274320"/>
            <a:ext cx="7680960" cy="603504"/>
          </a:xfrm>
          <a:prstGeom prst="rect">
            <a:avLst/>
          </a:prstGeom>
          <a:noFill/>
          <a:ln>
            <a:noFill/>
          </a:ln>
        </p:spPr>
        <p:txBody>
          <a:bodyPr wrap="square" lIns="0" tIns="45720" rIns="91440" bIns="18288" anchor="b">
            <a:normAutofit/>
          </a:bodyPr>
          <a:lstStyle/>
          <a:p>
            <a:pPr marL="0" indent="0" algn="l">
              <a:lnSpc>
                <a:spcPct val="100000"/>
              </a:lnSpc>
              <a:buNone/>
            </a:pPr>
            <a:r>
              <a:rPr lang="en-US" sz="3000" b="1" dirty="0">
                <a:solidFill>
                  <a:srgbClr val="1E5B3F"/>
                </a:solidFill>
                <a:latin typeface="Cambria"/>
                <a:cs typeface="Cambria"/>
              </a:rPr>
              <a:t>Sustainable Development Goals</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subhead"/>
          <p:cNvSpPr/>
          <p:nvPr/>
        </p:nvSpPr>
        <p:spPr>
          <a:xfrm>
            <a:off x="2103120" y="950976"/>
            <a:ext cx="6400800" cy="484632"/>
          </a:xfrm>
          <a:prstGeom prst="rect">
            <a:avLst/>
          </a:prstGeom>
          <a:noFill/>
          <a:ln>
            <a:noFill/>
          </a:ln>
        </p:spPr>
        <p:txBody>
          <a:bodyPr wrap="square" lIns="45720" tIns="45720" rIns="91440" bIns="45720" anchor="t">
            <a:normAutofit/>
          </a:bodyPr>
          <a:lstStyle/>
          <a:p>
            <a:pPr marL="0" indent="0" algn="l">
              <a:lnSpc>
                <a:spcPct val="100000"/>
              </a:lnSpc>
              <a:buNone/>
            </a:pPr>
            <a:r>
              <a:rPr lang="en-US" i="1" dirty="0">
                <a:solidFill>
                  <a:srgbClr val="6B736A"/>
                </a:solidFill>
                <a:latin typeface="Calibri Light"/>
                <a:cs typeface="Calibri Light"/>
              </a:rPr>
              <a:t>How the research contributes to sustainable development</a:t>
            </a:r>
          </a:p>
        </p:txBody>
      </p:sp>
      <p:sp>
        <p:nvSpPr>
          <p:cNvPr id="14" name="h"/>
          <p:cNvSpPr/>
          <p:nvPr/>
        </p:nvSpPr>
        <p:spPr>
          <a:xfrm>
            <a:off x="594360" y="1325880"/>
            <a:ext cx="3794760" cy="292608"/>
          </a:xfrm>
          <a:prstGeom prst="rect">
            <a:avLst/>
          </a:prstGeom>
          <a:noFill/>
          <a:ln>
            <a:noFill/>
          </a:ln>
        </p:spPr>
        <p:txBody>
          <a:bodyPr wrap="square" lIns="18288" tIns="45720" rIns="91440" bIns="45720" anchor="ctr">
            <a:normAutofit fontScale="92500" lnSpcReduction="20000"/>
          </a:bodyPr>
          <a:lstStyle/>
          <a:p>
            <a:pPr marL="0" indent="0" algn="l">
              <a:lnSpc>
                <a:spcPct val="100000"/>
              </a:lnSpc>
              <a:buNone/>
            </a:pPr>
            <a:r>
              <a:rPr lang="en-US" sz="1600" b="1" spc="140" dirty="0">
                <a:solidFill>
                  <a:srgbClr val="9C7C1B"/>
                </a:solidFill>
                <a:latin typeface="Calibri"/>
                <a:cs typeface="Calibri"/>
              </a:rPr>
              <a:t>ALIGNED SDGs</a:t>
            </a:r>
          </a:p>
        </p:txBody>
      </p:sp>
      <p:sp>
        <p:nvSpPr>
          <p:cNvPr id="15" name="card"/>
          <p:cNvSpPr/>
          <p:nvPr/>
        </p:nvSpPr>
        <p:spPr>
          <a:xfrm>
            <a:off x="594360" y="1664208"/>
            <a:ext cx="3794760" cy="868680"/>
          </a:xfrm>
          <a:prstGeom prst="roundRect">
            <a:avLst>
              <a:gd name="adj" fmla="val 6000"/>
            </a:avLst>
          </a:prstGeom>
          <a:solidFill>
            <a:srgbClr val="F6F1E1"/>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6" name="cardhead"/>
          <p:cNvSpPr/>
          <p:nvPr/>
        </p:nvSpPr>
        <p:spPr>
          <a:xfrm>
            <a:off x="594360" y="1581912"/>
            <a:ext cx="3794760" cy="393192"/>
          </a:xfrm>
          <a:prstGeom prst="roundRect">
            <a:avLst>
              <a:gd name="adj" fmla="val 8000"/>
            </a:avLst>
          </a:prstGeom>
          <a:solidFill>
            <a:srgbClr val="9C7C1B"/>
          </a:solidFill>
          <a:ln>
            <a:noFill/>
          </a:ln>
        </p:spPr>
        <p:txBody>
          <a:bodyPr wrap="square" lIns="164592" tIns="45720" rIns="91440" bIns="45720" anchor="ctr">
            <a:normAutofit/>
          </a:bodyPr>
          <a:lstStyle/>
          <a:p>
            <a:pPr marL="0" indent="0" algn="l">
              <a:lnSpc>
                <a:spcPct val="100000"/>
              </a:lnSpc>
              <a:buNone/>
            </a:pPr>
            <a:r>
              <a:rPr lang="en-US" sz="1600" b="1" dirty="0">
                <a:solidFill>
                  <a:srgbClr val="FFFFFF"/>
                </a:solidFill>
                <a:latin typeface="Calibri"/>
                <a:cs typeface="Calibri"/>
              </a:rPr>
              <a:t>PRIMARY GOAL</a:t>
            </a:r>
          </a:p>
        </p:txBody>
      </p:sp>
      <p:sp>
        <p:nvSpPr>
          <p:cNvPr id="17" name="psdg"/>
          <p:cNvSpPr/>
          <p:nvPr/>
        </p:nvSpPr>
        <p:spPr>
          <a:xfrm>
            <a:off x="777240" y="1993392"/>
            <a:ext cx="3474720" cy="502920"/>
          </a:xfrm>
          <a:prstGeom prst="rect">
            <a:avLst/>
          </a:prstGeom>
          <a:noFill/>
          <a:ln>
            <a:noFill/>
          </a:ln>
        </p:spPr>
        <p:txBody>
          <a:bodyPr wrap="square" lIns="91440" tIns="45720" rIns="91440" bIns="45720" anchor="ctr">
            <a:normAutofit lnSpcReduction="10000"/>
          </a:bodyPr>
          <a:lstStyle/>
          <a:p>
            <a:pPr marL="0" indent="0" algn="l">
              <a:lnSpc>
                <a:spcPct val="100000"/>
              </a:lnSpc>
              <a:buNone/>
            </a:pPr>
            <a:r>
              <a:rPr lang="en-US" sz="2800" b="1" dirty="0">
                <a:solidFill>
                  <a:srgbClr val="1E5B3F"/>
                </a:solidFill>
                <a:latin typeface="Cambria"/>
                <a:cs typeface="Cambria"/>
              </a:rPr>
              <a:t>SDG 2  </a:t>
            </a:r>
            <a:r>
              <a:rPr lang="en-US" sz="2400" b="1" dirty="0">
                <a:solidFill>
                  <a:srgbClr val="22302A"/>
                </a:solidFill>
                <a:latin typeface="Calibri"/>
                <a:cs typeface="Calibri"/>
              </a:rPr>
              <a:t>Zero Hunger</a:t>
            </a:r>
          </a:p>
        </p:txBody>
      </p:sp>
      <p:sp>
        <p:nvSpPr>
          <p:cNvPr id="18" name="sep"/>
          <p:cNvSpPr/>
          <p:nvPr/>
        </p:nvSpPr>
        <p:spPr>
          <a:xfrm>
            <a:off x="594360" y="2615184"/>
            <a:ext cx="3794760" cy="18288"/>
          </a:xfrm>
          <a:prstGeom prst="rect">
            <a:avLst/>
          </a:prstGeom>
          <a:solidFill>
            <a:srgbClr val="D9DCD1"/>
          </a:solidFill>
          <a:ln>
            <a:noFill/>
          </a:ln>
        </p:spPr>
        <p:txBody>
          <a:bodyPr wrap="square" lIns="91440" tIns="45720" rIns="91440" bIns="45720" anchor="t">
            <a:normAutofit fontScale="25000" lnSpcReduction="20000"/>
          </a:bodyPr>
          <a:lstStyle/>
          <a:p>
            <a:endParaRPr lang="en-US"/>
          </a:p>
        </p:txBody>
      </p:sp>
      <p:sp>
        <p:nvSpPr>
          <p:cNvPr id="19" name="ssdg"/>
          <p:cNvSpPr/>
          <p:nvPr/>
        </p:nvSpPr>
        <p:spPr>
          <a:xfrm>
            <a:off x="594360" y="2761488"/>
            <a:ext cx="1847088" cy="1214374"/>
          </a:xfrm>
          <a:prstGeom prst="roundRect">
            <a:avLst>
              <a:gd name="adj" fmla="val 7000"/>
            </a:avLst>
          </a:prstGeom>
          <a:solidFill>
            <a:srgbClr val="E9F0EA"/>
          </a:solidFill>
          <a:ln w="12700">
            <a:solidFill>
              <a:srgbClr val="D9DCD1"/>
            </a:solidFill>
          </a:ln>
        </p:spPr>
        <p:txBody>
          <a:bodyPr wrap="square" lIns="91440" tIns="45720" rIns="91440" bIns="45720" anchor="ctr">
            <a:normAutofit/>
          </a:bodyPr>
          <a:lstStyle/>
          <a:p>
            <a:pPr marL="0" indent="0" algn="ctr">
              <a:lnSpc>
                <a:spcPct val="100000"/>
              </a:lnSpc>
              <a:spcAft>
                <a:spcPts val="100"/>
              </a:spcAft>
              <a:buNone/>
            </a:pPr>
            <a:r>
              <a:rPr lang="en-US" sz="2000" b="1" dirty="0">
                <a:solidFill>
                  <a:srgbClr val="1E5B3F"/>
                </a:solidFill>
                <a:latin typeface="Cambria"/>
                <a:cs typeface="Cambria"/>
              </a:rPr>
              <a:t>SDG 1</a:t>
            </a:r>
          </a:p>
          <a:p>
            <a:pPr marL="0" indent="0" algn="ctr">
              <a:lnSpc>
                <a:spcPct val="98000"/>
              </a:lnSpc>
              <a:buNone/>
            </a:pPr>
            <a:r>
              <a:rPr lang="en-US" sz="2000" dirty="0">
                <a:solidFill>
                  <a:srgbClr val="3E463F"/>
                </a:solidFill>
                <a:latin typeface="Calibri Light"/>
                <a:cs typeface="Calibri Light"/>
              </a:rPr>
              <a:t>No Poverty</a:t>
            </a:r>
          </a:p>
        </p:txBody>
      </p:sp>
      <p:sp>
        <p:nvSpPr>
          <p:cNvPr id="20" name="ssdg"/>
          <p:cNvSpPr/>
          <p:nvPr/>
        </p:nvSpPr>
        <p:spPr>
          <a:xfrm>
            <a:off x="2542032" y="2761488"/>
            <a:ext cx="1847088" cy="1232662"/>
          </a:xfrm>
          <a:prstGeom prst="roundRect">
            <a:avLst>
              <a:gd name="adj" fmla="val 7000"/>
            </a:avLst>
          </a:prstGeom>
          <a:solidFill>
            <a:srgbClr val="E9F0EA"/>
          </a:solidFill>
          <a:ln w="12700">
            <a:solidFill>
              <a:srgbClr val="D9DCD1"/>
            </a:solidFill>
          </a:ln>
        </p:spPr>
        <p:txBody>
          <a:bodyPr wrap="square" lIns="91440" tIns="45720" rIns="91440" bIns="45720" anchor="ctr">
            <a:noAutofit/>
          </a:bodyPr>
          <a:lstStyle/>
          <a:p>
            <a:pPr marL="0" indent="0" algn="ctr">
              <a:lnSpc>
                <a:spcPct val="100000"/>
              </a:lnSpc>
              <a:spcAft>
                <a:spcPts val="100"/>
              </a:spcAft>
              <a:buNone/>
            </a:pPr>
            <a:r>
              <a:rPr lang="en-US" sz="2000" b="1" dirty="0">
                <a:solidFill>
                  <a:srgbClr val="1E5B3F"/>
                </a:solidFill>
                <a:latin typeface="Cambria"/>
                <a:cs typeface="Cambria"/>
              </a:rPr>
              <a:t>SDG 8</a:t>
            </a:r>
          </a:p>
          <a:p>
            <a:pPr marL="0" indent="0" algn="ctr">
              <a:lnSpc>
                <a:spcPct val="98000"/>
              </a:lnSpc>
              <a:buNone/>
            </a:pPr>
            <a:r>
              <a:rPr lang="en-US" sz="2000" dirty="0">
                <a:solidFill>
                  <a:srgbClr val="3E463F"/>
                </a:solidFill>
                <a:latin typeface="Calibri Light"/>
                <a:cs typeface="Calibri Light"/>
              </a:rPr>
              <a:t>Decent Work &amp; Economic Growth</a:t>
            </a:r>
          </a:p>
        </p:txBody>
      </p:sp>
      <p:sp>
        <p:nvSpPr>
          <p:cNvPr id="21" name="ssdg"/>
          <p:cNvSpPr/>
          <p:nvPr/>
        </p:nvSpPr>
        <p:spPr>
          <a:xfrm>
            <a:off x="594360" y="4113022"/>
            <a:ext cx="1847088" cy="1254506"/>
          </a:xfrm>
          <a:prstGeom prst="roundRect">
            <a:avLst>
              <a:gd name="adj" fmla="val 7000"/>
            </a:avLst>
          </a:prstGeom>
          <a:solidFill>
            <a:srgbClr val="E9F0EA"/>
          </a:solidFill>
          <a:ln w="12700">
            <a:solidFill>
              <a:srgbClr val="D9DCD1"/>
            </a:solidFill>
          </a:ln>
        </p:spPr>
        <p:txBody>
          <a:bodyPr wrap="square" lIns="91440" tIns="45720" rIns="91440" bIns="45720" anchor="ctr">
            <a:noAutofit/>
          </a:bodyPr>
          <a:lstStyle/>
          <a:p>
            <a:pPr marL="0" indent="0" algn="ctr">
              <a:lnSpc>
                <a:spcPct val="100000"/>
              </a:lnSpc>
              <a:spcAft>
                <a:spcPts val="100"/>
              </a:spcAft>
              <a:buNone/>
            </a:pPr>
            <a:r>
              <a:rPr lang="en-US" sz="2000" b="1" dirty="0">
                <a:solidFill>
                  <a:srgbClr val="1E5B3F"/>
                </a:solidFill>
                <a:latin typeface="Cambria"/>
                <a:cs typeface="Cambria"/>
              </a:rPr>
              <a:t>SDG 9</a:t>
            </a:r>
          </a:p>
          <a:p>
            <a:pPr marL="0" indent="0" algn="ctr">
              <a:lnSpc>
                <a:spcPct val="98000"/>
              </a:lnSpc>
              <a:buNone/>
            </a:pPr>
            <a:r>
              <a:rPr lang="en-US" sz="2000" dirty="0">
                <a:solidFill>
                  <a:srgbClr val="3E463F"/>
                </a:solidFill>
                <a:latin typeface="Calibri Light"/>
                <a:cs typeface="Calibri Light"/>
              </a:rPr>
              <a:t>Industry, Innovation &amp; Infrastructure</a:t>
            </a:r>
          </a:p>
        </p:txBody>
      </p:sp>
      <p:sp>
        <p:nvSpPr>
          <p:cNvPr id="22" name="ssdg"/>
          <p:cNvSpPr/>
          <p:nvPr/>
        </p:nvSpPr>
        <p:spPr>
          <a:xfrm>
            <a:off x="2542032" y="4113022"/>
            <a:ext cx="1847088" cy="1254506"/>
          </a:xfrm>
          <a:prstGeom prst="roundRect">
            <a:avLst>
              <a:gd name="adj" fmla="val 7000"/>
            </a:avLst>
          </a:prstGeom>
          <a:solidFill>
            <a:srgbClr val="E9F0EA"/>
          </a:solidFill>
          <a:ln w="12700">
            <a:solidFill>
              <a:srgbClr val="D9DCD1"/>
            </a:solidFill>
          </a:ln>
        </p:spPr>
        <p:txBody>
          <a:bodyPr wrap="square" lIns="91440" tIns="45720" rIns="91440" bIns="45720" anchor="ctr">
            <a:noAutofit/>
          </a:bodyPr>
          <a:lstStyle/>
          <a:p>
            <a:pPr marL="0" indent="0" algn="ctr">
              <a:lnSpc>
                <a:spcPct val="100000"/>
              </a:lnSpc>
              <a:spcAft>
                <a:spcPts val="100"/>
              </a:spcAft>
              <a:buNone/>
            </a:pPr>
            <a:r>
              <a:rPr lang="en-US" sz="2000" b="1" dirty="0">
                <a:solidFill>
                  <a:srgbClr val="1E5B3F"/>
                </a:solidFill>
                <a:latin typeface="Cambria"/>
                <a:cs typeface="Cambria"/>
              </a:rPr>
              <a:t>SDG 12</a:t>
            </a:r>
          </a:p>
          <a:p>
            <a:pPr marL="0" indent="0" algn="ctr">
              <a:lnSpc>
                <a:spcPct val="98000"/>
              </a:lnSpc>
              <a:buNone/>
            </a:pPr>
            <a:r>
              <a:rPr lang="en-US" sz="2000" dirty="0">
                <a:solidFill>
                  <a:srgbClr val="3E463F"/>
                </a:solidFill>
                <a:latin typeface="Calibri Light"/>
                <a:cs typeface="Calibri Light"/>
              </a:rPr>
              <a:t>Responsible Consumption &amp; Production</a:t>
            </a:r>
          </a:p>
        </p:txBody>
      </p:sp>
      <p:sp>
        <p:nvSpPr>
          <p:cNvPr id="23" name="card"/>
          <p:cNvSpPr/>
          <p:nvPr/>
        </p:nvSpPr>
        <p:spPr>
          <a:xfrm>
            <a:off x="4617720" y="1664208"/>
            <a:ext cx="3611880" cy="37033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24" name="cardhead"/>
          <p:cNvSpPr/>
          <p:nvPr/>
        </p:nvSpPr>
        <p:spPr>
          <a:xfrm>
            <a:off x="4617720" y="1664208"/>
            <a:ext cx="3611880" cy="832104"/>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2000" b="1" dirty="0">
                <a:solidFill>
                  <a:srgbClr val="FFFFFF"/>
                </a:solidFill>
                <a:latin typeface="Calibri"/>
                <a:cs typeface="Calibri"/>
              </a:rPr>
              <a:t>Contribution of the Study</a:t>
            </a:r>
          </a:p>
        </p:txBody>
      </p:sp>
      <p:sp>
        <p:nvSpPr>
          <p:cNvPr id="25" name="cardbody"/>
          <p:cNvSpPr/>
          <p:nvPr/>
        </p:nvSpPr>
        <p:spPr>
          <a:xfrm>
            <a:off x="4654296" y="2724912"/>
            <a:ext cx="3575304" cy="2525014"/>
          </a:xfrm>
          <a:prstGeom prst="rect">
            <a:avLst/>
          </a:prstGeom>
          <a:noFill/>
          <a:ln>
            <a:noFill/>
          </a:ln>
        </p:spPr>
        <p:txBody>
          <a:bodyPr wrap="square" lIns="109728" tIns="45720" rIns="73152" bIns="45720" anchor="t">
            <a:normAutofit/>
          </a:bodyPr>
          <a:lstStyle/>
          <a:p>
            <a:pPr marL="342900" indent="-342900" algn="l">
              <a:lnSpc>
                <a:spcPct val="104000"/>
              </a:lnSpc>
              <a:spcAft>
                <a:spcPts val="400"/>
              </a:spcAft>
              <a:buClr>
                <a:schemeClr val="tx1"/>
              </a:buClr>
              <a:buFont typeface="Arial" panose="020B0604020202020204" pitchFamily="34" charset="0"/>
              <a:buChar char="•"/>
            </a:pPr>
            <a:r>
              <a:rPr lang="en-US" sz="2000" dirty="0">
                <a:solidFill>
                  <a:srgbClr val="3E463F"/>
                </a:solidFill>
                <a:latin typeface="Calibri Light"/>
                <a:cs typeface="Calibri Light"/>
              </a:rPr>
              <a:t>Improves agricultural marketing efficiency</a:t>
            </a:r>
          </a:p>
          <a:p>
            <a:pPr marL="342900" indent="-342900" algn="l">
              <a:lnSpc>
                <a:spcPct val="104000"/>
              </a:lnSpc>
              <a:spcAft>
                <a:spcPts val="400"/>
              </a:spcAft>
              <a:buClr>
                <a:schemeClr val="tx1"/>
              </a:buClr>
              <a:buFont typeface="Arial" panose="020B0604020202020204" pitchFamily="34" charset="0"/>
              <a:buChar char="•"/>
            </a:pPr>
            <a:r>
              <a:rPr lang="en-US" sz="2000" dirty="0">
                <a:solidFill>
                  <a:srgbClr val="3E463F"/>
                </a:solidFill>
                <a:latin typeface="Calibri Light"/>
                <a:cs typeface="Calibri Light"/>
              </a:rPr>
              <a:t>Enhances farmer income</a:t>
            </a:r>
          </a:p>
          <a:p>
            <a:pPr marL="342900" indent="-342900" algn="l">
              <a:lnSpc>
                <a:spcPct val="104000"/>
              </a:lnSpc>
              <a:spcAft>
                <a:spcPts val="400"/>
              </a:spcAft>
              <a:buClr>
                <a:schemeClr val="tx1"/>
              </a:buClr>
              <a:buFont typeface="Arial" panose="020B0604020202020204" pitchFamily="34" charset="0"/>
              <a:buChar char="•"/>
            </a:pPr>
            <a:r>
              <a:rPr lang="en-US" sz="2000" dirty="0">
                <a:solidFill>
                  <a:srgbClr val="3E463F"/>
                </a:solidFill>
                <a:latin typeface="Calibri Light"/>
                <a:cs typeface="Calibri Light"/>
              </a:rPr>
              <a:t>Promotes digital agricultural marketing</a:t>
            </a:r>
          </a:p>
          <a:p>
            <a:pPr marL="342900" indent="-342900" algn="l">
              <a:lnSpc>
                <a:spcPct val="104000"/>
              </a:lnSpc>
              <a:spcAft>
                <a:spcPts val="400"/>
              </a:spcAft>
              <a:buClr>
                <a:schemeClr val="tx1"/>
              </a:buClr>
              <a:buFont typeface="Arial" panose="020B0604020202020204" pitchFamily="34" charset="0"/>
              <a:buChar char="•"/>
            </a:pPr>
            <a:r>
              <a:rPr lang="en-US" sz="2000" dirty="0">
                <a:solidFill>
                  <a:srgbClr val="3E463F"/>
                </a:solidFill>
                <a:latin typeface="Calibri Light"/>
                <a:cs typeface="Calibri Light"/>
              </a:rPr>
              <a:t>Supports sustainable rural development</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274320"/>
            <a:ext cx="7680960" cy="603504"/>
          </a:xfrm>
          <a:prstGeom prst="rect">
            <a:avLst/>
          </a:prstGeom>
          <a:noFill/>
          <a:ln>
            <a:noFill/>
          </a:ln>
        </p:spPr>
        <p:txBody>
          <a:bodyPr wrap="square" lIns="0" tIns="45720" rIns="91440" bIns="18288" anchor="b">
            <a:normAutofit fontScale="92500" lnSpcReduction="10000"/>
          </a:bodyPr>
          <a:lstStyle/>
          <a:p>
            <a:pPr marL="0" indent="0" algn="l">
              <a:lnSpc>
                <a:spcPct val="100000"/>
              </a:lnSpc>
              <a:buNone/>
            </a:pPr>
            <a:r>
              <a:rPr lang="en-US" sz="4000" b="1" dirty="0">
                <a:solidFill>
                  <a:srgbClr val="1E5B3F"/>
                </a:solidFill>
                <a:latin typeface="Cambria"/>
                <a:cs typeface="Cambria"/>
              </a:rPr>
              <a:t>Literature Review</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subhead"/>
          <p:cNvSpPr/>
          <p:nvPr/>
        </p:nvSpPr>
        <p:spPr>
          <a:xfrm>
            <a:off x="2103120" y="822960"/>
            <a:ext cx="6400800" cy="402336"/>
          </a:xfrm>
          <a:prstGeom prst="rect">
            <a:avLst/>
          </a:prstGeom>
          <a:noFill/>
          <a:ln>
            <a:noFill/>
          </a:ln>
        </p:spPr>
        <p:txBody>
          <a:bodyPr wrap="square" lIns="45720" tIns="45720" rIns="91440" bIns="45720" anchor="t">
            <a:normAutofit fontScale="85000" lnSpcReduction="10000"/>
          </a:bodyPr>
          <a:lstStyle/>
          <a:p>
            <a:pPr marL="0" indent="0" algn="l">
              <a:lnSpc>
                <a:spcPct val="100000"/>
              </a:lnSpc>
              <a:buNone/>
            </a:pPr>
            <a:r>
              <a:rPr lang="en-US" sz="2400" i="1" dirty="0">
                <a:solidFill>
                  <a:srgbClr val="6B736A"/>
                </a:solidFill>
                <a:latin typeface="Calibri Light"/>
                <a:cs typeface="Calibri Light"/>
              </a:rPr>
              <a:t>Summary of previous research and the research foundation</a:t>
            </a:r>
          </a:p>
        </p:txBody>
      </p:sp>
      <p:sp>
        <p:nvSpPr>
          <p:cNvPr id="14" name="card"/>
          <p:cNvSpPr/>
          <p:nvPr/>
        </p:nvSpPr>
        <p:spPr>
          <a:xfrm>
            <a:off x="347472" y="1325879"/>
            <a:ext cx="4376928" cy="3331349"/>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24" name="card"/>
          <p:cNvSpPr/>
          <p:nvPr/>
        </p:nvSpPr>
        <p:spPr>
          <a:xfrm>
            <a:off x="4815840" y="1325880"/>
            <a:ext cx="3980688" cy="3331348"/>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25" name="cardhead"/>
          <p:cNvSpPr/>
          <p:nvPr/>
        </p:nvSpPr>
        <p:spPr>
          <a:xfrm>
            <a:off x="4815840" y="1325880"/>
            <a:ext cx="3980688" cy="402336"/>
          </a:xfrm>
          <a:prstGeom prst="roundRect">
            <a:avLst>
              <a:gd name="adj" fmla="val 8000"/>
            </a:avLst>
          </a:prstGeom>
          <a:solidFill>
            <a:srgbClr val="2E7D57"/>
          </a:solidFill>
          <a:ln>
            <a:noFill/>
          </a:ln>
        </p:spPr>
        <p:txBody>
          <a:bodyPr wrap="square" lIns="164592" tIns="45720" rIns="91440" bIns="45720" anchor="ctr">
            <a:normAutofit/>
          </a:bodyPr>
          <a:lstStyle/>
          <a:p>
            <a:pPr marL="0" indent="0" algn="l">
              <a:lnSpc>
                <a:spcPct val="100000"/>
              </a:lnSpc>
              <a:buNone/>
            </a:pPr>
            <a:r>
              <a:rPr lang="en-US" b="1" dirty="0">
                <a:solidFill>
                  <a:srgbClr val="FFFFFF"/>
                </a:solidFill>
                <a:latin typeface="Calibri"/>
                <a:cs typeface="Calibri"/>
              </a:rPr>
              <a:t>Overall Findings from Previous Studies</a:t>
            </a:r>
          </a:p>
        </p:txBody>
      </p:sp>
      <p:sp>
        <p:nvSpPr>
          <p:cNvPr id="26" name="cardbody"/>
          <p:cNvSpPr/>
          <p:nvPr/>
        </p:nvSpPr>
        <p:spPr>
          <a:xfrm>
            <a:off x="4815839" y="1777950"/>
            <a:ext cx="3889353" cy="2656890"/>
          </a:xfrm>
          <a:prstGeom prst="rect">
            <a:avLst/>
          </a:prstGeom>
          <a:noFill/>
          <a:ln>
            <a:noFill/>
          </a:ln>
        </p:spPr>
        <p:txBody>
          <a:bodyPr wrap="square" lIns="109728" tIns="45720" rIns="73152" bIns="45720" anchor="t">
            <a:normAutofit lnSpcReduction="10000"/>
          </a:bodyPr>
          <a:lstStyle/>
          <a:p>
            <a:pPr marL="285750" indent="-285750" algn="l">
              <a:lnSpc>
                <a:spcPct val="104000"/>
              </a:lnSpc>
              <a:spcAft>
                <a:spcPts val="400"/>
              </a:spcAft>
              <a:buClr>
                <a:schemeClr val="tx1"/>
              </a:buClr>
              <a:buFont typeface="Arial" panose="020B0604020202020204" pitchFamily="34" charset="0"/>
              <a:buChar char="•"/>
            </a:pPr>
            <a:r>
              <a:rPr lang="en-US" sz="1600" dirty="0">
                <a:solidFill>
                  <a:srgbClr val="3E463F"/>
                </a:solidFill>
                <a:latin typeface="Calibri Light"/>
                <a:cs typeface="Calibri Light"/>
              </a:rPr>
              <a:t>Direct marketing improves farmer income.</a:t>
            </a:r>
          </a:p>
          <a:p>
            <a:pPr marL="285750" indent="-285750" algn="l">
              <a:lnSpc>
                <a:spcPct val="104000"/>
              </a:lnSpc>
              <a:spcAft>
                <a:spcPts val="400"/>
              </a:spcAft>
              <a:buClr>
                <a:schemeClr val="tx1"/>
              </a:buClr>
              <a:buFont typeface="Arial" panose="020B0604020202020204" pitchFamily="34" charset="0"/>
              <a:buChar char="•"/>
            </a:pPr>
            <a:r>
              <a:rPr lang="en-US" sz="1600" dirty="0">
                <a:solidFill>
                  <a:srgbClr val="3E463F"/>
                </a:solidFill>
                <a:latin typeface="Calibri Light"/>
                <a:cs typeface="Calibri Light"/>
              </a:rPr>
              <a:t>Digital platforms enhance market accessibility.</a:t>
            </a:r>
          </a:p>
          <a:p>
            <a:pPr marL="285750" indent="-285750" algn="l">
              <a:lnSpc>
                <a:spcPct val="104000"/>
              </a:lnSpc>
              <a:spcAft>
                <a:spcPts val="400"/>
              </a:spcAft>
              <a:buClr>
                <a:schemeClr val="tx1"/>
              </a:buClr>
              <a:buFont typeface="Arial" panose="020B0604020202020204" pitchFamily="34" charset="0"/>
              <a:buChar char="•"/>
            </a:pPr>
            <a:r>
              <a:rPr lang="en-US" sz="1600" dirty="0">
                <a:solidFill>
                  <a:srgbClr val="3E463F"/>
                </a:solidFill>
                <a:latin typeface="Calibri Light"/>
                <a:cs typeface="Calibri Light"/>
              </a:rPr>
              <a:t>Market information supports better pricing decisions.</a:t>
            </a:r>
          </a:p>
          <a:p>
            <a:pPr marL="285750" indent="-285750" algn="l">
              <a:lnSpc>
                <a:spcPct val="104000"/>
              </a:lnSpc>
              <a:spcAft>
                <a:spcPts val="400"/>
              </a:spcAft>
              <a:buClr>
                <a:schemeClr val="tx1"/>
              </a:buClr>
              <a:buFont typeface="Arial" panose="020B0604020202020204" pitchFamily="34" charset="0"/>
              <a:buChar char="•"/>
            </a:pPr>
            <a:r>
              <a:rPr lang="en-US" sz="1600" dirty="0">
                <a:solidFill>
                  <a:srgbClr val="3E463F"/>
                </a:solidFill>
                <a:latin typeface="Calibri Light"/>
                <a:cs typeface="Calibri Light"/>
              </a:rPr>
              <a:t>Digital technologies improve marketing efficiency.</a:t>
            </a:r>
          </a:p>
          <a:p>
            <a:pPr marL="285750" indent="-285750" algn="l">
              <a:lnSpc>
                <a:spcPct val="104000"/>
              </a:lnSpc>
              <a:spcAft>
                <a:spcPts val="400"/>
              </a:spcAft>
              <a:buClr>
                <a:schemeClr val="tx1"/>
              </a:buClr>
              <a:buFont typeface="Arial" panose="020B0604020202020204" pitchFamily="34" charset="0"/>
              <a:buChar char="•"/>
            </a:pPr>
            <a:r>
              <a:rPr lang="en-US" sz="1600" dirty="0">
                <a:solidFill>
                  <a:srgbClr val="3E463F"/>
                </a:solidFill>
                <a:latin typeface="Calibri Light"/>
                <a:cs typeface="Calibri Light"/>
              </a:rPr>
              <a:t>Infrastructure limitations remain a major challenge.</a:t>
            </a:r>
          </a:p>
        </p:txBody>
      </p:sp>
      <p:sp>
        <p:nvSpPr>
          <p:cNvPr id="28" name="gaph"/>
          <p:cNvSpPr/>
          <p:nvPr/>
        </p:nvSpPr>
        <p:spPr>
          <a:xfrm>
            <a:off x="594360" y="4804466"/>
            <a:ext cx="1737360" cy="365760"/>
          </a:xfrm>
          <a:prstGeom prst="rect">
            <a:avLst/>
          </a:prstGeom>
          <a:noFill/>
          <a:ln>
            <a:noFill/>
          </a:ln>
        </p:spPr>
        <p:txBody>
          <a:bodyPr wrap="square" lIns="45720" tIns="45720" rIns="91440" bIns="45720" anchor="ctr">
            <a:normAutofit/>
          </a:bodyPr>
          <a:lstStyle/>
          <a:p>
            <a:pPr marL="0" indent="0" algn="l">
              <a:lnSpc>
                <a:spcPct val="100000"/>
              </a:lnSpc>
              <a:buNone/>
            </a:pPr>
            <a:endParaRPr lang="en-US" b="1" spc="120" dirty="0">
              <a:solidFill>
                <a:srgbClr val="9C7C1B"/>
              </a:solidFill>
              <a:latin typeface="Calibri"/>
              <a:cs typeface="Calibri"/>
            </a:endParaRP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5</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459581464"/>
              </p:ext>
            </p:extLst>
          </p:nvPr>
        </p:nvGraphicFramePr>
        <p:xfrm>
          <a:off x="438807" y="1822018"/>
          <a:ext cx="4191000" cy="2761488"/>
        </p:xfrm>
        <a:graphic>
          <a:graphicData uri="http://schemas.openxmlformats.org/drawingml/2006/table">
            <a:tbl>
              <a:tblPr/>
              <a:tblGrid>
                <a:gridCol w="23050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tblGrid>
              <a:tr h="460248">
                <a:tc>
                  <a:txBody>
                    <a:bodyPr/>
                    <a:lstStyle/>
                    <a:p>
                      <a:pPr marL="0" indent="0" algn="l">
                        <a:buNone/>
                      </a:pPr>
                      <a:r>
                        <a:rPr lang="en-US" sz="1600" b="1" dirty="0">
                          <a:solidFill>
                            <a:srgbClr val="FFFFFF"/>
                          </a:solidFill>
                          <a:latin typeface="Calibri"/>
                          <a:cs typeface="Calibri"/>
                        </a:rPr>
                        <a:t>Author</a:t>
                      </a:r>
                    </a:p>
                  </a:txBody>
                  <a:tcPr marL="100584" marR="73152" marT="27432" marB="27432" anchor="ctr">
                    <a:lnL w="6350">
                      <a:solidFill>
                        <a:srgbClr val="D9DCD1"/>
                      </a:solidFill>
                    </a:lnL>
                    <a:lnR w="6350">
                      <a:solidFill>
                        <a:srgbClr val="D9DCD1"/>
                      </a:solidFill>
                    </a:lnR>
                    <a:lnT w="6350">
                      <a:solidFill>
                        <a:srgbClr val="D9DCD1"/>
                      </a:solidFill>
                    </a:lnT>
                    <a:lnB w="19050">
                      <a:solidFill>
                        <a:srgbClr val="C09A2C"/>
                      </a:solidFill>
                    </a:lnB>
                    <a:solidFill>
                      <a:srgbClr val="1E5B3F"/>
                    </a:solidFill>
                  </a:tcPr>
                </a:tc>
                <a:tc>
                  <a:txBody>
                    <a:bodyPr/>
                    <a:lstStyle/>
                    <a:p>
                      <a:pPr marL="0" indent="0" algn="l">
                        <a:buNone/>
                      </a:pPr>
                      <a:r>
                        <a:rPr lang="en-US" sz="1600" b="1" dirty="0">
                          <a:solidFill>
                            <a:srgbClr val="FFFFFF"/>
                          </a:solidFill>
                          <a:latin typeface="Calibri"/>
                          <a:cs typeface="Calibri"/>
                        </a:rPr>
                        <a:t>Topic</a:t>
                      </a:r>
                    </a:p>
                  </a:txBody>
                  <a:tcPr marL="100584" marR="73152" marT="27432" marB="27432" anchor="ctr">
                    <a:lnL w="6350">
                      <a:solidFill>
                        <a:srgbClr val="D9DCD1"/>
                      </a:solidFill>
                    </a:lnL>
                    <a:lnR w="6350">
                      <a:solidFill>
                        <a:srgbClr val="D9DCD1"/>
                      </a:solidFill>
                    </a:lnR>
                    <a:lnT w="6350">
                      <a:solidFill>
                        <a:srgbClr val="D9DCD1"/>
                      </a:solidFill>
                    </a:lnT>
                    <a:lnB w="19050">
                      <a:solidFill>
                        <a:srgbClr val="C09A2C"/>
                      </a:solidFill>
                    </a:lnB>
                    <a:solidFill>
                      <a:srgbClr val="1E5B3F"/>
                    </a:solidFill>
                  </a:tcPr>
                </a:tc>
                <a:extLst>
                  <a:ext uri="{0D108BD9-81ED-4DB2-BD59-A6C34878D82A}">
                    <a16:rowId xmlns:a16="http://schemas.microsoft.com/office/drawing/2014/main" val="10000"/>
                  </a:ext>
                </a:extLst>
              </a:tr>
              <a:tr h="460248">
                <a:tc>
                  <a:txBody>
                    <a:bodyPr/>
                    <a:lstStyle/>
                    <a:p>
                      <a:pPr marL="0" indent="0" algn="l">
                        <a:buNone/>
                      </a:pPr>
                      <a:r>
                        <a:rPr lang="en-US" sz="1400" b="1" dirty="0">
                          <a:solidFill>
                            <a:srgbClr val="22302A"/>
                          </a:solidFill>
                          <a:latin typeface="Calibri"/>
                          <a:cs typeface="Calibri"/>
                        </a:rPr>
                        <a:t>Negi et al. (2018)</a:t>
                      </a:r>
                    </a:p>
                  </a:txBody>
                  <a:tcPr marL="100584" marR="73152" marT="27432" marB="27432" anchor="ctr">
                    <a:lnL w="6350">
                      <a:solidFill>
                        <a:srgbClr val="D9DCD1"/>
                      </a:solidFill>
                    </a:lnL>
                    <a:lnR w="6350">
                      <a:solidFill>
                        <a:srgbClr val="D9DCD1"/>
                      </a:solidFill>
                    </a:lnR>
                    <a:lnT w="19050" cap="flat" cmpd="sng" algn="ctr">
                      <a:solidFill>
                        <a:srgbClr val="C09A2C"/>
                      </a:solidFill>
                      <a:prstDash val="solid"/>
                      <a:round/>
                      <a:headEnd type="none" w="med" len="med"/>
                      <a:tailEnd type="none" w="med" len="med"/>
                    </a:lnT>
                    <a:lnB w="6350">
                      <a:solidFill>
                        <a:srgbClr val="D9DCD1"/>
                      </a:solidFill>
                    </a:lnB>
                    <a:solidFill>
                      <a:srgbClr val="E9F0EA"/>
                    </a:solidFill>
                  </a:tcPr>
                </a:tc>
                <a:tc>
                  <a:txBody>
                    <a:bodyPr/>
                    <a:lstStyle/>
                    <a:p>
                      <a:pPr marL="0" indent="0" algn="l">
                        <a:buNone/>
                      </a:pPr>
                      <a:r>
                        <a:rPr lang="en-US" sz="1400" dirty="0">
                          <a:solidFill>
                            <a:srgbClr val="3E463F"/>
                          </a:solidFill>
                          <a:latin typeface="Calibri"/>
                          <a:cs typeface="Calibri"/>
                        </a:rPr>
                        <a:t>Agricultural Marketing</a:t>
                      </a:r>
                    </a:p>
                  </a:txBody>
                  <a:tcPr marL="100584" marR="73152" marT="27432" marB="27432" anchor="ctr">
                    <a:lnL w="6350">
                      <a:solidFill>
                        <a:srgbClr val="D9DCD1"/>
                      </a:solidFill>
                    </a:lnL>
                    <a:lnR w="6350">
                      <a:solidFill>
                        <a:srgbClr val="D9DCD1"/>
                      </a:solidFill>
                    </a:lnR>
                    <a:lnT w="19050" cap="flat" cmpd="sng" algn="ctr">
                      <a:solidFill>
                        <a:srgbClr val="C09A2C"/>
                      </a:solidFill>
                      <a:prstDash val="solid"/>
                      <a:round/>
                      <a:headEnd type="none" w="med" len="med"/>
                      <a:tailEnd type="none" w="med" len="med"/>
                    </a:lnT>
                    <a:lnB w="6350">
                      <a:solidFill>
                        <a:srgbClr val="D9DCD1"/>
                      </a:solidFill>
                    </a:lnB>
                    <a:solidFill>
                      <a:srgbClr val="E9F0EA"/>
                    </a:solidFill>
                  </a:tcPr>
                </a:tc>
                <a:extLst>
                  <a:ext uri="{0D108BD9-81ED-4DB2-BD59-A6C34878D82A}">
                    <a16:rowId xmlns:a16="http://schemas.microsoft.com/office/drawing/2014/main" val="10001"/>
                  </a:ext>
                </a:extLst>
              </a:tr>
              <a:tr h="460248">
                <a:tc>
                  <a:txBody>
                    <a:bodyPr/>
                    <a:lstStyle/>
                    <a:p>
                      <a:pPr marL="0" indent="0" algn="l">
                        <a:buNone/>
                      </a:pPr>
                      <a:r>
                        <a:rPr lang="en-US" sz="1400" b="1" dirty="0">
                          <a:solidFill>
                            <a:srgbClr val="22302A"/>
                          </a:solidFill>
                          <a:latin typeface="Calibri"/>
                          <a:cs typeface="Calibri"/>
                        </a:rPr>
                        <a:t>Aparajita Goyal (2010)</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FFFFFF"/>
                    </a:solidFill>
                  </a:tcPr>
                </a:tc>
                <a:tc>
                  <a:txBody>
                    <a:bodyPr/>
                    <a:lstStyle/>
                    <a:p>
                      <a:pPr marL="0" indent="0" algn="l">
                        <a:buNone/>
                      </a:pPr>
                      <a:r>
                        <a:rPr lang="en-US" sz="1400" dirty="0">
                          <a:solidFill>
                            <a:srgbClr val="3E463F"/>
                          </a:solidFill>
                          <a:latin typeface="Calibri"/>
                          <a:cs typeface="Calibri"/>
                        </a:rPr>
                        <a:t>Direct Marketing</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FFFFFF"/>
                    </a:solidFill>
                  </a:tcPr>
                </a:tc>
                <a:extLst>
                  <a:ext uri="{0D108BD9-81ED-4DB2-BD59-A6C34878D82A}">
                    <a16:rowId xmlns:a16="http://schemas.microsoft.com/office/drawing/2014/main" val="10002"/>
                  </a:ext>
                </a:extLst>
              </a:tr>
              <a:tr h="460248">
                <a:tc>
                  <a:txBody>
                    <a:bodyPr/>
                    <a:lstStyle/>
                    <a:p>
                      <a:pPr marL="0" indent="0" algn="l">
                        <a:buNone/>
                      </a:pPr>
                      <a:r>
                        <a:rPr lang="en-US" sz="1400" b="1" dirty="0">
                          <a:solidFill>
                            <a:srgbClr val="22302A"/>
                          </a:solidFill>
                          <a:latin typeface="Calibri"/>
                          <a:cs typeface="Calibri"/>
                        </a:rPr>
                        <a:t>Kamilaris et al. (2019)</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E9F0EA"/>
                    </a:solidFill>
                  </a:tcPr>
                </a:tc>
                <a:tc>
                  <a:txBody>
                    <a:bodyPr/>
                    <a:lstStyle/>
                    <a:p>
                      <a:pPr marL="0" indent="0" algn="l">
                        <a:buNone/>
                      </a:pPr>
                      <a:r>
                        <a:rPr lang="en-US" sz="1400" dirty="0">
                          <a:solidFill>
                            <a:srgbClr val="3E463F"/>
                          </a:solidFill>
                          <a:latin typeface="Calibri"/>
                          <a:cs typeface="Calibri"/>
                        </a:rPr>
                        <a:t>Supply Chain</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E9F0EA"/>
                    </a:solidFill>
                  </a:tcPr>
                </a:tc>
                <a:extLst>
                  <a:ext uri="{0D108BD9-81ED-4DB2-BD59-A6C34878D82A}">
                    <a16:rowId xmlns:a16="http://schemas.microsoft.com/office/drawing/2014/main" val="10003"/>
                  </a:ext>
                </a:extLst>
              </a:tr>
              <a:tr h="460248">
                <a:tc>
                  <a:txBody>
                    <a:bodyPr/>
                    <a:lstStyle/>
                    <a:p>
                      <a:pPr marL="0" indent="0" algn="l">
                        <a:buNone/>
                      </a:pPr>
                      <a:r>
                        <a:rPr lang="en-US" sz="1400" b="1" dirty="0">
                          <a:solidFill>
                            <a:srgbClr val="22302A"/>
                          </a:solidFill>
                          <a:latin typeface="Calibri"/>
                          <a:cs typeface="Calibri"/>
                        </a:rPr>
                        <a:t>Bertoglio et al. (2021)</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FFFFFF"/>
                    </a:solidFill>
                  </a:tcPr>
                </a:tc>
                <a:tc>
                  <a:txBody>
                    <a:bodyPr/>
                    <a:lstStyle/>
                    <a:p>
                      <a:pPr marL="0" indent="0" algn="l">
                        <a:buNone/>
                      </a:pPr>
                      <a:r>
                        <a:rPr lang="en-US" sz="1400" dirty="0">
                          <a:solidFill>
                            <a:srgbClr val="3E463F"/>
                          </a:solidFill>
                          <a:latin typeface="Calibri"/>
                          <a:cs typeface="Calibri"/>
                        </a:rPr>
                        <a:t>Digital Agriculture</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FFFFFF"/>
                    </a:solidFill>
                  </a:tcPr>
                </a:tc>
                <a:extLst>
                  <a:ext uri="{0D108BD9-81ED-4DB2-BD59-A6C34878D82A}">
                    <a16:rowId xmlns:a16="http://schemas.microsoft.com/office/drawing/2014/main" val="10004"/>
                  </a:ext>
                </a:extLst>
              </a:tr>
              <a:tr h="460248">
                <a:tc>
                  <a:txBody>
                    <a:bodyPr/>
                    <a:lstStyle/>
                    <a:p>
                      <a:pPr marL="0" indent="0" algn="l">
                        <a:buNone/>
                      </a:pPr>
                      <a:r>
                        <a:rPr lang="en-US" sz="1400" b="1" dirty="0">
                          <a:solidFill>
                            <a:srgbClr val="22302A"/>
                          </a:solidFill>
                          <a:latin typeface="Calibri"/>
                          <a:cs typeface="Calibri"/>
                        </a:rPr>
                        <a:t>Chowdhury et al. (2023)</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E9F0EA"/>
                    </a:solidFill>
                  </a:tcPr>
                </a:tc>
                <a:tc>
                  <a:txBody>
                    <a:bodyPr/>
                    <a:lstStyle/>
                    <a:p>
                      <a:pPr marL="0" indent="0" algn="l">
                        <a:buNone/>
                      </a:pPr>
                      <a:r>
                        <a:rPr lang="en-US" sz="1400" dirty="0">
                          <a:solidFill>
                            <a:srgbClr val="3E463F"/>
                          </a:solidFill>
                          <a:latin typeface="Calibri"/>
                          <a:cs typeface="Calibri"/>
                        </a:rPr>
                        <a:t>Rural Development</a:t>
                      </a:r>
                    </a:p>
                  </a:txBody>
                  <a:tcPr marL="100584" marR="73152" marT="27432" marB="27432" anchor="ctr">
                    <a:lnL w="6350">
                      <a:solidFill>
                        <a:srgbClr val="D9DCD1"/>
                      </a:solidFill>
                    </a:lnL>
                    <a:lnR w="6350">
                      <a:solidFill>
                        <a:srgbClr val="D9DCD1"/>
                      </a:solidFill>
                    </a:lnR>
                    <a:lnT w="6350">
                      <a:solidFill>
                        <a:srgbClr val="D9DCD1"/>
                      </a:solidFill>
                    </a:lnT>
                    <a:lnB w="6350">
                      <a:solidFill>
                        <a:srgbClr val="D9DCD1"/>
                      </a:solidFill>
                    </a:lnB>
                    <a:solidFill>
                      <a:srgbClr val="E9F0EA"/>
                    </a:solidFill>
                  </a:tcPr>
                </a:tc>
                <a:extLst>
                  <a:ext uri="{0D108BD9-81ED-4DB2-BD59-A6C34878D82A}">
                    <a16:rowId xmlns:a16="http://schemas.microsoft.com/office/drawing/2014/main" val="10005"/>
                  </a:ext>
                </a:extLst>
              </a:tr>
            </a:tbl>
          </a:graphicData>
        </a:graphic>
      </p:graphicFrame>
      <p:sp>
        <p:nvSpPr>
          <p:cNvPr id="70" name="litband"/>
          <p:cNvSpPr/>
          <p:nvPr/>
        </p:nvSpPr>
        <p:spPr>
          <a:xfrm>
            <a:off x="347472" y="1325880"/>
            <a:ext cx="4376928" cy="402336"/>
          </a:xfrm>
          <a:prstGeom prst="roundRect">
            <a:avLst>
              <a:gd name="adj" fmla="val 8000"/>
            </a:avLst>
          </a:prstGeom>
          <a:solidFill>
            <a:srgbClr val="2E7D57"/>
          </a:solidFill>
          <a:ln>
            <a:noFill/>
          </a:ln>
        </p:spPr>
        <p:txBody>
          <a:bodyPr wrap="square" lIns="164592" tIns="45720" rIns="91440" bIns="45720" anchor="ctr">
            <a:normAutofit/>
          </a:bodyPr>
          <a:lstStyle/>
          <a:p>
            <a:pPr marL="0" indent="0" algn="l">
              <a:buNone/>
            </a:pPr>
            <a:r>
              <a:rPr lang="en-US" b="1" dirty="0">
                <a:solidFill>
                  <a:srgbClr val="FFFFFF"/>
                </a:solidFill>
                <a:latin typeface="Calibri"/>
                <a:cs typeface="Calibri"/>
              </a:rPr>
              <a:t>Representative Literature</a:t>
            </a:r>
          </a:p>
        </p:txBody>
      </p:sp>
      <p:sp>
        <p:nvSpPr>
          <p:cNvPr id="10" name="TextBox 9">
            <a:extLst>
              <a:ext uri="{FF2B5EF4-FFF2-40B4-BE49-F238E27FC236}">
                <a16:creationId xmlns:a16="http://schemas.microsoft.com/office/drawing/2014/main" id="{CCC2859B-4B88-D7D6-471D-727F01828F50}"/>
              </a:ext>
            </a:extLst>
          </p:cNvPr>
          <p:cNvSpPr txBox="1"/>
          <p:nvPr/>
        </p:nvSpPr>
        <p:spPr>
          <a:xfrm>
            <a:off x="347472" y="4743748"/>
            <a:ext cx="8449056" cy="1569660"/>
          </a:xfrm>
          <a:prstGeom prst="rect">
            <a:avLst/>
          </a:prstGeom>
          <a:noFill/>
        </p:spPr>
        <p:txBody>
          <a:bodyPr wrap="square">
            <a:spAutoFit/>
          </a:bodyPr>
          <a:lstStyle/>
          <a:p>
            <a:pPr indent="0" algn="just">
              <a:buNone/>
            </a:pPr>
            <a:r>
              <a:rPr lang="en-US" sz="2400" b="1" dirty="0">
                <a:solidFill>
                  <a:srgbClr val="000000"/>
                </a:solidFill>
                <a:effectLst/>
              </a:rPr>
              <a:t>Literature Review Summary</a:t>
            </a:r>
            <a:endParaRPr lang="en-US" sz="2400" b="0" dirty="0">
              <a:solidFill>
                <a:srgbClr val="000000"/>
              </a:solidFill>
              <a:effectLst/>
            </a:endParaRPr>
          </a:p>
          <a:p>
            <a:pPr indent="0" algn="just">
              <a:buNone/>
            </a:pPr>
            <a:r>
              <a:rPr lang="en-US" b="0" dirty="0">
                <a:solidFill>
                  <a:srgbClr val="000000"/>
                </a:solidFill>
                <a:effectLst/>
              </a:rPr>
              <a:t>Previous studies consistently highlight the importance of direct marketing, digital agriculture, market information, and technology adoption in improving agricultural marketing. However, challenges related to infrastructure and market access continue to affect rural farmers.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274320"/>
            <a:ext cx="7680960" cy="603504"/>
          </a:xfrm>
          <a:prstGeom prst="rect">
            <a:avLst/>
          </a:prstGeom>
          <a:noFill/>
          <a:ln>
            <a:noFill/>
          </a:ln>
        </p:spPr>
        <p:txBody>
          <a:bodyPr wrap="square" lIns="0" tIns="45720" rIns="91440" bIns="18288" anchor="b">
            <a:normAutofit/>
          </a:bodyPr>
          <a:lstStyle/>
          <a:p>
            <a:pPr marL="0" indent="0" algn="l">
              <a:lnSpc>
                <a:spcPct val="100000"/>
              </a:lnSpc>
              <a:buNone/>
            </a:pPr>
            <a:r>
              <a:rPr lang="en-US" sz="2350" b="1" dirty="0">
                <a:solidFill>
                  <a:srgbClr val="1E5B3F"/>
                </a:solidFill>
                <a:latin typeface="Cambria"/>
                <a:cs typeface="Cambria"/>
              </a:rPr>
              <a:t>Research Gap, Problem, Need &amp; Scope</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card"/>
          <p:cNvSpPr/>
          <p:nvPr/>
        </p:nvSpPr>
        <p:spPr>
          <a:xfrm>
            <a:off x="228600" y="1298447"/>
            <a:ext cx="4160520" cy="2371083"/>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4" name="cardhead"/>
          <p:cNvSpPr/>
          <p:nvPr/>
        </p:nvSpPr>
        <p:spPr>
          <a:xfrm>
            <a:off x="228600" y="1298447"/>
            <a:ext cx="4160520" cy="598489"/>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2400" b="1">
                <a:solidFill>
                  <a:srgbClr val="FFFFFF"/>
                </a:solidFill>
                <a:latin typeface="Calibri"/>
                <a:cs typeface="Calibri"/>
              </a:rPr>
              <a:t>Research Gap</a:t>
            </a:r>
          </a:p>
        </p:txBody>
      </p:sp>
      <p:sp>
        <p:nvSpPr>
          <p:cNvPr id="15" name="cardbody"/>
          <p:cNvSpPr/>
          <p:nvPr/>
        </p:nvSpPr>
        <p:spPr>
          <a:xfrm>
            <a:off x="228600" y="1974658"/>
            <a:ext cx="4160520" cy="1589986"/>
          </a:xfrm>
          <a:prstGeom prst="rect">
            <a:avLst/>
          </a:prstGeom>
          <a:noFill/>
          <a:ln>
            <a:noFill/>
          </a:ln>
        </p:spPr>
        <p:txBody>
          <a:bodyPr wrap="square" lIns="109728" tIns="45720" rIns="73152" bIns="45720" anchor="t">
            <a:normAutofit fontScale="92500" lnSpcReduction="20000"/>
          </a:bodyPr>
          <a:lstStyle/>
          <a:p>
            <a:pPr marL="285750" indent="-285750" algn="l">
              <a:lnSpc>
                <a:spcPct val="104000"/>
              </a:lnSpc>
              <a:spcAft>
                <a:spcPts val="400"/>
              </a:spcAft>
              <a:buClr>
                <a:schemeClr val="tx1"/>
              </a:buClr>
              <a:buFont typeface="Arial" panose="020B0604020202020204" pitchFamily="34" charset="0"/>
              <a:buChar char="•"/>
            </a:pPr>
            <a:r>
              <a:rPr lang="en-US" dirty="0">
                <a:solidFill>
                  <a:srgbClr val="3E463F"/>
                </a:solidFill>
                <a:latin typeface="Calibri Light"/>
                <a:cs typeface="Calibri Light"/>
              </a:rPr>
              <a:t>Limited district-level studies on agricultural marketing in </a:t>
            </a:r>
            <a:r>
              <a:rPr lang="en-US" dirty="0" err="1">
                <a:solidFill>
                  <a:srgbClr val="3E463F"/>
                </a:solidFill>
                <a:latin typeface="Calibri Light"/>
                <a:cs typeface="Calibri Light"/>
              </a:rPr>
              <a:t>Tumakuru</a:t>
            </a:r>
            <a:r>
              <a:rPr lang="en-US" dirty="0">
                <a:solidFill>
                  <a:srgbClr val="3E463F"/>
                </a:solidFill>
                <a:latin typeface="Calibri Light"/>
                <a:cs typeface="Calibri Light"/>
              </a:rPr>
              <a:t>.</a:t>
            </a:r>
          </a:p>
          <a:p>
            <a:pPr marL="285750" indent="-285750" algn="l">
              <a:lnSpc>
                <a:spcPct val="104000"/>
              </a:lnSpc>
              <a:spcAft>
                <a:spcPts val="400"/>
              </a:spcAft>
              <a:buClr>
                <a:schemeClr val="tx1"/>
              </a:buClr>
              <a:buFont typeface="Arial" panose="020B0604020202020204" pitchFamily="34" charset="0"/>
              <a:buChar char="•"/>
            </a:pPr>
            <a:r>
              <a:rPr lang="en-US" dirty="0">
                <a:solidFill>
                  <a:srgbClr val="3E463F"/>
                </a:solidFill>
                <a:latin typeface="Calibri Light"/>
                <a:cs typeface="Calibri Light"/>
              </a:rPr>
              <a:t>Few studies integrate both opportunities and challenges together.</a:t>
            </a:r>
          </a:p>
          <a:p>
            <a:pPr marL="285750" indent="-285750" algn="l">
              <a:lnSpc>
                <a:spcPct val="104000"/>
              </a:lnSpc>
              <a:spcAft>
                <a:spcPts val="400"/>
              </a:spcAft>
              <a:buClr>
                <a:schemeClr val="tx1"/>
              </a:buClr>
              <a:buFont typeface="Arial" panose="020B0604020202020204" pitchFamily="34" charset="0"/>
              <a:buChar char="•"/>
            </a:pPr>
            <a:r>
              <a:rPr lang="en-US" dirty="0">
                <a:solidFill>
                  <a:srgbClr val="3E463F"/>
                </a:solidFill>
                <a:latin typeface="Calibri Light"/>
                <a:cs typeface="Calibri Light"/>
              </a:rPr>
              <a:t>Limited use of advanced statistical and predictive techniques.</a:t>
            </a:r>
          </a:p>
        </p:txBody>
      </p:sp>
      <p:sp>
        <p:nvSpPr>
          <p:cNvPr id="16" name="card"/>
          <p:cNvSpPr/>
          <p:nvPr/>
        </p:nvSpPr>
        <p:spPr>
          <a:xfrm>
            <a:off x="4590288" y="1298447"/>
            <a:ext cx="4325112" cy="2360935"/>
          </a:xfrm>
          <a:prstGeom prst="roundRect">
            <a:avLst>
              <a:gd name="adj" fmla="val 6000"/>
            </a:avLst>
          </a:prstGeom>
          <a:solidFill>
            <a:srgbClr val="F6F1E1"/>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7" name="cardhead"/>
          <p:cNvSpPr/>
          <p:nvPr/>
        </p:nvSpPr>
        <p:spPr>
          <a:xfrm>
            <a:off x="4590288" y="1298447"/>
            <a:ext cx="4325112" cy="603503"/>
          </a:xfrm>
          <a:prstGeom prst="roundRect">
            <a:avLst>
              <a:gd name="adj" fmla="val 8000"/>
            </a:avLst>
          </a:prstGeom>
          <a:solidFill>
            <a:srgbClr val="9C7C1B"/>
          </a:solidFill>
          <a:ln>
            <a:noFill/>
          </a:ln>
        </p:spPr>
        <p:txBody>
          <a:bodyPr wrap="square" lIns="164592" tIns="45720" rIns="91440" bIns="45720" anchor="ctr">
            <a:normAutofit/>
          </a:bodyPr>
          <a:lstStyle/>
          <a:p>
            <a:pPr marL="0" indent="0" algn="l">
              <a:lnSpc>
                <a:spcPct val="100000"/>
              </a:lnSpc>
              <a:buNone/>
            </a:pPr>
            <a:r>
              <a:rPr lang="en-US" sz="2400" b="1" dirty="0">
                <a:solidFill>
                  <a:srgbClr val="FFFFFF"/>
                </a:solidFill>
                <a:latin typeface="Calibri"/>
                <a:cs typeface="Calibri"/>
              </a:rPr>
              <a:t>Problem Statement</a:t>
            </a:r>
          </a:p>
        </p:txBody>
      </p:sp>
      <p:sp>
        <p:nvSpPr>
          <p:cNvPr id="18" name="cardbody"/>
          <p:cNvSpPr/>
          <p:nvPr/>
        </p:nvSpPr>
        <p:spPr>
          <a:xfrm>
            <a:off x="4623742" y="1974657"/>
            <a:ext cx="4215458" cy="1567251"/>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r>
              <a:rPr lang="en-US" sz="1700" dirty="0">
                <a:solidFill>
                  <a:srgbClr val="3E463F"/>
                </a:solidFill>
                <a:latin typeface="Calibri Light"/>
                <a:cs typeface="Calibri Light"/>
              </a:rPr>
              <a:t>Rural farmers face transportation issues, inadequate storage, middlemen influence, price fluctuations, and limited market information — reducing their ability to receive fair prices.</a:t>
            </a:r>
          </a:p>
        </p:txBody>
      </p:sp>
      <p:sp>
        <p:nvSpPr>
          <p:cNvPr id="19" name="card"/>
          <p:cNvSpPr/>
          <p:nvPr/>
        </p:nvSpPr>
        <p:spPr>
          <a:xfrm>
            <a:off x="228600" y="3819146"/>
            <a:ext cx="4160520" cy="2353054"/>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20" name="cardhead"/>
          <p:cNvSpPr/>
          <p:nvPr/>
        </p:nvSpPr>
        <p:spPr>
          <a:xfrm>
            <a:off x="228600" y="3819146"/>
            <a:ext cx="4160520" cy="560317"/>
          </a:xfrm>
          <a:prstGeom prst="roundRect">
            <a:avLst>
              <a:gd name="adj" fmla="val 8000"/>
            </a:avLst>
          </a:prstGeom>
          <a:solidFill>
            <a:srgbClr val="2E7D57"/>
          </a:solidFill>
          <a:ln>
            <a:noFill/>
          </a:ln>
        </p:spPr>
        <p:txBody>
          <a:bodyPr wrap="square" lIns="164592" tIns="45720" rIns="91440" bIns="45720" anchor="ctr">
            <a:normAutofit/>
          </a:bodyPr>
          <a:lstStyle/>
          <a:p>
            <a:pPr marL="0" indent="0" algn="l">
              <a:lnSpc>
                <a:spcPct val="100000"/>
              </a:lnSpc>
              <a:buNone/>
            </a:pPr>
            <a:r>
              <a:rPr lang="en-US" sz="2400" b="1">
                <a:solidFill>
                  <a:srgbClr val="FFFFFF"/>
                </a:solidFill>
                <a:latin typeface="Calibri"/>
                <a:cs typeface="Calibri"/>
              </a:rPr>
              <a:t>Need of the Study</a:t>
            </a:r>
          </a:p>
        </p:txBody>
      </p:sp>
      <p:sp>
        <p:nvSpPr>
          <p:cNvPr id="21" name="cardbody"/>
          <p:cNvSpPr/>
          <p:nvPr/>
        </p:nvSpPr>
        <p:spPr>
          <a:xfrm>
            <a:off x="124522" y="4419334"/>
            <a:ext cx="4264598" cy="1712994"/>
          </a:xfrm>
          <a:prstGeom prst="rect">
            <a:avLst/>
          </a:prstGeom>
          <a:noFill/>
          <a:ln>
            <a:noFill/>
          </a:ln>
        </p:spPr>
        <p:txBody>
          <a:bodyPr wrap="square" lIns="109728" tIns="45720" rIns="73152" bIns="45720" anchor="t">
            <a:noAutofit/>
          </a:bodyPr>
          <a:lstStyle/>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Understand existing agricultural marketing practices.</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Evaluate digital marketing adoption.</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Identify factors influencing fair price realization.</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Support evidence-based marketing improvements.</a:t>
            </a:r>
          </a:p>
        </p:txBody>
      </p:sp>
      <p:sp>
        <p:nvSpPr>
          <p:cNvPr id="22" name="card"/>
          <p:cNvSpPr/>
          <p:nvPr/>
        </p:nvSpPr>
        <p:spPr>
          <a:xfrm>
            <a:off x="4590288" y="3819146"/>
            <a:ext cx="4325112" cy="2353053"/>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23" name="cardhead"/>
          <p:cNvSpPr/>
          <p:nvPr/>
        </p:nvSpPr>
        <p:spPr>
          <a:xfrm>
            <a:off x="4590288" y="3819146"/>
            <a:ext cx="4325112" cy="550169"/>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2400" b="1" dirty="0">
                <a:solidFill>
                  <a:srgbClr val="FFFFFF"/>
                </a:solidFill>
                <a:latin typeface="Calibri"/>
                <a:cs typeface="Calibri"/>
              </a:rPr>
              <a:t>Scope of the Study</a:t>
            </a:r>
          </a:p>
        </p:txBody>
      </p:sp>
      <p:sp>
        <p:nvSpPr>
          <p:cNvPr id="24" name="cardbody"/>
          <p:cNvSpPr/>
          <p:nvPr/>
        </p:nvSpPr>
        <p:spPr>
          <a:xfrm>
            <a:off x="4590288" y="4468498"/>
            <a:ext cx="4248912" cy="1551302"/>
          </a:xfrm>
          <a:prstGeom prst="rect">
            <a:avLst/>
          </a:prstGeom>
          <a:noFill/>
          <a:ln>
            <a:noFill/>
          </a:ln>
        </p:spPr>
        <p:txBody>
          <a:bodyPr wrap="square" lIns="109728" tIns="45720" rIns="73152" bIns="45720" anchor="t">
            <a:noAutofit/>
          </a:bodyPr>
          <a:lstStyle/>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Selected rural areas of </a:t>
            </a:r>
            <a:r>
              <a:rPr lang="en-US" sz="1600" dirty="0" err="1">
                <a:solidFill>
                  <a:srgbClr val="3E463F"/>
                </a:solidFill>
                <a:latin typeface="Calibri Light"/>
                <a:cs typeface="Calibri Light"/>
              </a:rPr>
              <a:t>Tumakuru</a:t>
            </a:r>
            <a:r>
              <a:rPr lang="en-US" sz="1600" dirty="0">
                <a:solidFill>
                  <a:srgbClr val="3E463F"/>
                </a:solidFill>
                <a:latin typeface="Calibri Light"/>
                <a:cs typeface="Calibri Light"/>
              </a:rPr>
              <a:t> District.</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Rural farmers engaged in agricultural marketing.</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Covers traditional and digital marketing practices.</a:t>
            </a:r>
          </a:p>
          <a:p>
            <a:pPr marL="201168" indent="-201168" algn="l">
              <a:lnSpc>
                <a:spcPct val="104000"/>
              </a:lnSpc>
              <a:spcAft>
                <a:spcPts val="400"/>
              </a:spcAft>
              <a:buClr>
                <a:srgbClr val="C09A2C"/>
              </a:buClr>
              <a:buFont typeface="Arial"/>
              <a:buChar char="▪"/>
            </a:pPr>
            <a:r>
              <a:rPr lang="en-US" sz="1600" dirty="0">
                <a:solidFill>
                  <a:srgbClr val="3E463F"/>
                </a:solidFill>
                <a:latin typeface="Calibri Light"/>
                <a:cs typeface="Calibri Light"/>
              </a:rPr>
              <a:t>Includes statistical and predictive analysis.</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132588"/>
            <a:ext cx="7680960" cy="745236"/>
          </a:xfrm>
          <a:prstGeom prst="rect">
            <a:avLst/>
          </a:prstGeom>
          <a:noFill/>
          <a:ln>
            <a:noFill/>
          </a:ln>
        </p:spPr>
        <p:txBody>
          <a:bodyPr wrap="square" lIns="0" tIns="45720" rIns="91440" bIns="18288" anchor="b">
            <a:normAutofit fontScale="92500"/>
          </a:bodyPr>
          <a:lstStyle/>
          <a:p>
            <a:pPr marL="0" indent="0" algn="l">
              <a:lnSpc>
                <a:spcPct val="100000"/>
              </a:lnSpc>
              <a:buNone/>
            </a:pPr>
            <a:r>
              <a:rPr lang="en-US" sz="4000" b="1" dirty="0">
                <a:solidFill>
                  <a:srgbClr val="1E5B3F"/>
                </a:solidFill>
                <a:latin typeface="Cambria"/>
                <a:cs typeface="Cambria"/>
              </a:rPr>
              <a:t>Research Objectives &amp; Hypotheses</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card"/>
          <p:cNvSpPr/>
          <p:nvPr/>
        </p:nvSpPr>
        <p:spPr>
          <a:xfrm>
            <a:off x="152400" y="1298448"/>
            <a:ext cx="4608786" cy="4608576"/>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4" name="cardhead"/>
          <p:cNvSpPr/>
          <p:nvPr/>
        </p:nvSpPr>
        <p:spPr>
          <a:xfrm>
            <a:off x="152400" y="1186065"/>
            <a:ext cx="4608786" cy="617220"/>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2400" b="1">
                <a:solidFill>
                  <a:srgbClr val="FFFFFF"/>
                </a:solidFill>
                <a:latin typeface="Calibri"/>
                <a:cs typeface="Calibri"/>
              </a:rPr>
              <a:t>Research Objectives</a:t>
            </a:r>
          </a:p>
        </p:txBody>
      </p:sp>
      <p:sp>
        <p:nvSpPr>
          <p:cNvPr id="15" name="num"/>
          <p:cNvSpPr/>
          <p:nvPr/>
        </p:nvSpPr>
        <p:spPr>
          <a:xfrm>
            <a:off x="318253" y="1828800"/>
            <a:ext cx="384048" cy="384048"/>
          </a:xfrm>
          <a:prstGeom prst="ellipse">
            <a:avLst/>
          </a:prstGeom>
          <a:solidFill>
            <a:srgbClr val="2E7D57"/>
          </a:solidFill>
          <a:ln>
            <a:noFill/>
          </a:ln>
        </p:spPr>
        <p:txBody>
          <a:bodyPr wrap="square" lIns="91440" tIns="45720" rIns="91440" bIns="45720" anchor="ctr">
            <a:normAutofit lnSpcReduction="10000"/>
          </a:bodyPr>
          <a:lstStyle/>
          <a:p>
            <a:pPr marL="0" indent="0" algn="ctr">
              <a:lnSpc>
                <a:spcPct val="100000"/>
              </a:lnSpc>
              <a:buNone/>
            </a:pPr>
            <a:r>
              <a:rPr lang="en-US" sz="1300" b="1">
                <a:solidFill>
                  <a:srgbClr val="FFFFFF"/>
                </a:solidFill>
                <a:latin typeface="Calibri"/>
                <a:cs typeface="Calibri"/>
              </a:rPr>
              <a:t>1</a:t>
            </a:r>
          </a:p>
        </p:txBody>
      </p:sp>
      <p:sp>
        <p:nvSpPr>
          <p:cNvPr id="16" name="ot"/>
          <p:cNvSpPr/>
          <p:nvPr/>
        </p:nvSpPr>
        <p:spPr>
          <a:xfrm>
            <a:off x="814972" y="1815084"/>
            <a:ext cx="3931920" cy="658368"/>
          </a:xfrm>
          <a:prstGeom prst="rect">
            <a:avLst/>
          </a:prstGeom>
          <a:noFill/>
          <a:ln>
            <a:noFill/>
          </a:ln>
        </p:spPr>
        <p:txBody>
          <a:bodyPr wrap="square" lIns="54864" tIns="45720" rIns="91440" bIns="45720" anchor="ctr">
            <a:normAutofit fontScale="85000" lnSpcReduction="10000"/>
          </a:bodyPr>
          <a:lstStyle/>
          <a:p>
            <a:pPr marL="0" indent="0" algn="l">
              <a:lnSpc>
                <a:spcPct val="102000"/>
              </a:lnSpc>
              <a:buNone/>
            </a:pPr>
            <a:r>
              <a:rPr lang="en-US" sz="2400" dirty="0">
                <a:solidFill>
                  <a:srgbClr val="3E463F"/>
                </a:solidFill>
                <a:latin typeface="Calibri Light"/>
                <a:cs typeface="Calibri Light"/>
              </a:rPr>
              <a:t>Understand the existing marketing methods used by rural farmers.</a:t>
            </a:r>
          </a:p>
        </p:txBody>
      </p:sp>
      <p:sp>
        <p:nvSpPr>
          <p:cNvPr id="17" name="num"/>
          <p:cNvSpPr/>
          <p:nvPr/>
        </p:nvSpPr>
        <p:spPr>
          <a:xfrm>
            <a:off x="318253" y="2542032"/>
            <a:ext cx="384048" cy="384048"/>
          </a:xfrm>
          <a:prstGeom prst="ellipse">
            <a:avLst/>
          </a:prstGeom>
          <a:solidFill>
            <a:srgbClr val="2E7D57"/>
          </a:solidFill>
          <a:ln>
            <a:noFill/>
          </a:ln>
        </p:spPr>
        <p:txBody>
          <a:bodyPr wrap="square" lIns="91440" tIns="45720" rIns="91440" bIns="45720" anchor="ctr">
            <a:normAutofit lnSpcReduction="10000"/>
          </a:bodyPr>
          <a:lstStyle/>
          <a:p>
            <a:pPr marL="0" indent="0" algn="ctr">
              <a:lnSpc>
                <a:spcPct val="100000"/>
              </a:lnSpc>
              <a:buNone/>
            </a:pPr>
            <a:r>
              <a:rPr lang="en-US" sz="1300" b="1">
                <a:solidFill>
                  <a:srgbClr val="FFFFFF"/>
                </a:solidFill>
                <a:latin typeface="Calibri"/>
                <a:cs typeface="Calibri"/>
              </a:rPr>
              <a:t>2</a:t>
            </a:r>
          </a:p>
        </p:txBody>
      </p:sp>
      <p:sp>
        <p:nvSpPr>
          <p:cNvPr id="18" name="ot"/>
          <p:cNvSpPr/>
          <p:nvPr/>
        </p:nvSpPr>
        <p:spPr>
          <a:xfrm>
            <a:off x="833365" y="2517109"/>
            <a:ext cx="3931920" cy="658368"/>
          </a:xfrm>
          <a:prstGeom prst="rect">
            <a:avLst/>
          </a:prstGeom>
          <a:noFill/>
          <a:ln>
            <a:noFill/>
          </a:ln>
        </p:spPr>
        <p:txBody>
          <a:bodyPr wrap="square" lIns="54864" tIns="45720" rIns="91440" bIns="45720" anchor="ctr">
            <a:normAutofit lnSpcReduction="10000"/>
          </a:bodyPr>
          <a:lstStyle/>
          <a:p>
            <a:pPr marL="0" indent="0" algn="l">
              <a:lnSpc>
                <a:spcPct val="102000"/>
              </a:lnSpc>
              <a:buNone/>
            </a:pPr>
            <a:r>
              <a:rPr lang="en-US" sz="2000" dirty="0">
                <a:solidFill>
                  <a:srgbClr val="3E463F"/>
                </a:solidFill>
                <a:latin typeface="Calibri Light"/>
                <a:cs typeface="Calibri Light"/>
              </a:rPr>
              <a:t>Analyze the marketing opportunities available for rural farmers.</a:t>
            </a:r>
          </a:p>
        </p:txBody>
      </p:sp>
      <p:sp>
        <p:nvSpPr>
          <p:cNvPr id="19" name="num"/>
          <p:cNvSpPr/>
          <p:nvPr/>
        </p:nvSpPr>
        <p:spPr>
          <a:xfrm>
            <a:off x="318253" y="3255264"/>
            <a:ext cx="384048" cy="384048"/>
          </a:xfrm>
          <a:prstGeom prst="ellipse">
            <a:avLst/>
          </a:prstGeom>
          <a:solidFill>
            <a:srgbClr val="2E7D57"/>
          </a:solidFill>
          <a:ln>
            <a:noFill/>
          </a:ln>
        </p:spPr>
        <p:txBody>
          <a:bodyPr wrap="square" lIns="91440" tIns="45720" rIns="91440" bIns="45720" anchor="ctr">
            <a:normAutofit lnSpcReduction="10000"/>
          </a:bodyPr>
          <a:lstStyle/>
          <a:p>
            <a:pPr marL="0" indent="0" algn="ctr">
              <a:lnSpc>
                <a:spcPct val="100000"/>
              </a:lnSpc>
              <a:buNone/>
            </a:pPr>
            <a:r>
              <a:rPr lang="en-US" sz="1300" b="1">
                <a:solidFill>
                  <a:srgbClr val="FFFFFF"/>
                </a:solidFill>
                <a:latin typeface="Calibri"/>
                <a:cs typeface="Calibri"/>
              </a:rPr>
              <a:t>3</a:t>
            </a:r>
          </a:p>
        </p:txBody>
      </p:sp>
      <p:sp>
        <p:nvSpPr>
          <p:cNvPr id="20" name="ot"/>
          <p:cNvSpPr/>
          <p:nvPr/>
        </p:nvSpPr>
        <p:spPr>
          <a:xfrm>
            <a:off x="829266" y="3216179"/>
            <a:ext cx="3931920" cy="658368"/>
          </a:xfrm>
          <a:prstGeom prst="rect">
            <a:avLst/>
          </a:prstGeom>
          <a:noFill/>
          <a:ln>
            <a:noFill/>
          </a:ln>
        </p:spPr>
        <p:txBody>
          <a:bodyPr wrap="square" lIns="54864" tIns="45720" rIns="91440" bIns="45720" anchor="ctr">
            <a:normAutofit lnSpcReduction="10000"/>
          </a:bodyPr>
          <a:lstStyle/>
          <a:p>
            <a:pPr marL="0" indent="0" algn="l">
              <a:lnSpc>
                <a:spcPct val="102000"/>
              </a:lnSpc>
              <a:buNone/>
            </a:pPr>
            <a:r>
              <a:rPr lang="en-US" sz="2000" dirty="0">
                <a:solidFill>
                  <a:srgbClr val="3E463F"/>
                </a:solidFill>
                <a:latin typeface="Calibri Light"/>
                <a:cs typeface="Calibri Light"/>
              </a:rPr>
              <a:t>Analyze the role of digital marketing in promoting agricultural products.</a:t>
            </a:r>
          </a:p>
        </p:txBody>
      </p:sp>
      <p:sp>
        <p:nvSpPr>
          <p:cNvPr id="21" name="num"/>
          <p:cNvSpPr/>
          <p:nvPr/>
        </p:nvSpPr>
        <p:spPr>
          <a:xfrm>
            <a:off x="318253" y="3973515"/>
            <a:ext cx="384048" cy="384048"/>
          </a:xfrm>
          <a:prstGeom prst="ellipse">
            <a:avLst/>
          </a:prstGeom>
          <a:solidFill>
            <a:srgbClr val="2E7D57"/>
          </a:solidFill>
          <a:ln>
            <a:noFill/>
          </a:ln>
        </p:spPr>
        <p:txBody>
          <a:bodyPr wrap="square" lIns="91440" tIns="45720" rIns="91440" bIns="45720" anchor="ctr">
            <a:normAutofit lnSpcReduction="10000"/>
          </a:bodyPr>
          <a:lstStyle/>
          <a:p>
            <a:pPr marL="0" indent="0" algn="ctr">
              <a:lnSpc>
                <a:spcPct val="100000"/>
              </a:lnSpc>
              <a:buNone/>
            </a:pPr>
            <a:r>
              <a:rPr lang="en-US" sz="1300" b="1">
                <a:solidFill>
                  <a:srgbClr val="FFFFFF"/>
                </a:solidFill>
                <a:latin typeface="Calibri"/>
                <a:cs typeface="Calibri"/>
              </a:rPr>
              <a:t>4</a:t>
            </a:r>
          </a:p>
        </p:txBody>
      </p:sp>
      <p:sp>
        <p:nvSpPr>
          <p:cNvPr id="22" name="ot"/>
          <p:cNvSpPr/>
          <p:nvPr/>
        </p:nvSpPr>
        <p:spPr>
          <a:xfrm>
            <a:off x="814972" y="3924274"/>
            <a:ext cx="3931920" cy="658368"/>
          </a:xfrm>
          <a:prstGeom prst="rect">
            <a:avLst/>
          </a:prstGeom>
          <a:noFill/>
          <a:ln>
            <a:noFill/>
          </a:ln>
        </p:spPr>
        <p:txBody>
          <a:bodyPr wrap="square" lIns="54864" tIns="45720" rIns="91440" bIns="45720" anchor="ctr">
            <a:normAutofit lnSpcReduction="10000"/>
          </a:bodyPr>
          <a:lstStyle/>
          <a:p>
            <a:pPr marL="0" indent="0" algn="l">
              <a:lnSpc>
                <a:spcPct val="102000"/>
              </a:lnSpc>
              <a:buNone/>
            </a:pPr>
            <a:r>
              <a:rPr lang="en-US" sz="2000" dirty="0">
                <a:solidFill>
                  <a:srgbClr val="3E463F"/>
                </a:solidFill>
                <a:latin typeface="Calibri Light"/>
                <a:cs typeface="Calibri Light"/>
              </a:rPr>
              <a:t>Identify the challenges faced by rural farmers in marketing.</a:t>
            </a:r>
          </a:p>
        </p:txBody>
      </p:sp>
      <p:sp>
        <p:nvSpPr>
          <p:cNvPr id="23" name="num"/>
          <p:cNvSpPr/>
          <p:nvPr/>
        </p:nvSpPr>
        <p:spPr>
          <a:xfrm>
            <a:off x="318253" y="4647885"/>
            <a:ext cx="384048" cy="384048"/>
          </a:xfrm>
          <a:prstGeom prst="ellipse">
            <a:avLst/>
          </a:prstGeom>
          <a:solidFill>
            <a:srgbClr val="2E7D57"/>
          </a:solidFill>
          <a:ln>
            <a:noFill/>
          </a:ln>
        </p:spPr>
        <p:txBody>
          <a:bodyPr wrap="square" lIns="91440" tIns="45720" rIns="91440" bIns="45720" anchor="ctr">
            <a:normAutofit lnSpcReduction="10000"/>
          </a:bodyPr>
          <a:lstStyle/>
          <a:p>
            <a:pPr marL="0" indent="0" algn="ctr">
              <a:lnSpc>
                <a:spcPct val="100000"/>
              </a:lnSpc>
              <a:buNone/>
            </a:pPr>
            <a:r>
              <a:rPr lang="en-US" sz="1300" b="1">
                <a:solidFill>
                  <a:srgbClr val="FFFFFF"/>
                </a:solidFill>
                <a:latin typeface="Calibri"/>
                <a:cs typeface="Calibri"/>
              </a:rPr>
              <a:t>5</a:t>
            </a:r>
          </a:p>
        </p:txBody>
      </p:sp>
      <p:sp>
        <p:nvSpPr>
          <p:cNvPr id="24" name="ot"/>
          <p:cNvSpPr/>
          <p:nvPr/>
        </p:nvSpPr>
        <p:spPr>
          <a:xfrm>
            <a:off x="814972" y="4617274"/>
            <a:ext cx="3931920" cy="1020826"/>
          </a:xfrm>
          <a:prstGeom prst="rect">
            <a:avLst/>
          </a:prstGeom>
          <a:noFill/>
          <a:ln>
            <a:noFill/>
          </a:ln>
        </p:spPr>
        <p:txBody>
          <a:bodyPr wrap="square" lIns="54864" tIns="45720" rIns="91440" bIns="45720" anchor="ctr">
            <a:normAutofit/>
          </a:bodyPr>
          <a:lstStyle/>
          <a:p>
            <a:pPr marL="0" indent="0" algn="l">
              <a:lnSpc>
                <a:spcPct val="102000"/>
              </a:lnSpc>
              <a:buNone/>
            </a:pPr>
            <a:r>
              <a:rPr lang="en-US" sz="2000" dirty="0">
                <a:solidFill>
                  <a:srgbClr val="3E463F"/>
                </a:solidFill>
                <a:latin typeface="Calibri Light"/>
                <a:cs typeface="Calibri Light"/>
              </a:rPr>
              <a:t>Develop and evaluate a predictive model identifying factors influencing fair price realization.</a:t>
            </a:r>
          </a:p>
        </p:txBody>
      </p:sp>
      <p:sp>
        <p:nvSpPr>
          <p:cNvPr id="25" name="card"/>
          <p:cNvSpPr/>
          <p:nvPr/>
        </p:nvSpPr>
        <p:spPr>
          <a:xfrm>
            <a:off x="4873857" y="1241074"/>
            <a:ext cx="4117743" cy="4665949"/>
          </a:xfrm>
          <a:prstGeom prst="roundRect">
            <a:avLst>
              <a:gd name="adj" fmla="val 6000"/>
            </a:avLst>
          </a:prstGeom>
          <a:solidFill>
            <a:srgbClr val="E9F0EA"/>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fontScale="92500" lnSpcReduction="20000"/>
          </a:bodyPr>
          <a:lstStyle/>
          <a:p>
            <a:r>
              <a:rPr lang="en-US" b="1" dirty="0"/>
              <a:t>H₁:</a:t>
            </a:r>
            <a:r>
              <a:rPr lang="en-US" dirty="0"/>
              <a:t> Awareness of D</a:t>
            </a:r>
          </a:p>
          <a:p>
            <a:endParaRPr lang="en-US" dirty="0"/>
          </a:p>
          <a:p>
            <a:endParaRPr lang="en-US" b="1" dirty="0"/>
          </a:p>
          <a:p>
            <a:r>
              <a:rPr lang="en-US" sz="1900" b="1" dirty="0"/>
              <a:t>H₁:</a:t>
            </a:r>
            <a:r>
              <a:rPr lang="en-US" sz="1900" dirty="0"/>
              <a:t> Awareness of Direct Marketing Methods ↔ Use of Digital Platforms for Selling</a:t>
            </a:r>
          </a:p>
          <a:p>
            <a:endParaRPr lang="en-US" sz="1900" dirty="0"/>
          </a:p>
          <a:p>
            <a:r>
              <a:rPr lang="en-US" sz="1900" b="1" dirty="0"/>
              <a:t>H₂:</a:t>
            </a:r>
            <a:r>
              <a:rPr lang="en-US" sz="1900" dirty="0"/>
              <a:t> Use of Digital Platforms for Selling ↔ Perception that Digital Platforms Help Promote Agricultural Products</a:t>
            </a:r>
          </a:p>
          <a:p>
            <a:endParaRPr lang="en-US" sz="1900" dirty="0"/>
          </a:p>
          <a:p>
            <a:r>
              <a:rPr lang="en-US" sz="1900" b="1" dirty="0"/>
              <a:t>H₃:</a:t>
            </a:r>
            <a:r>
              <a:rPr lang="en-US" sz="1900" dirty="0"/>
              <a:t> Market Price Information ↔ Fair Price Realization</a:t>
            </a:r>
          </a:p>
          <a:p>
            <a:endParaRPr lang="en-US" sz="1900" dirty="0"/>
          </a:p>
          <a:p>
            <a:r>
              <a:rPr lang="en-US" sz="1900" b="1" dirty="0"/>
              <a:t>H₄:</a:t>
            </a:r>
            <a:r>
              <a:rPr lang="en-US" sz="1900" dirty="0"/>
              <a:t> Middlemen Influence on Pricing ↔ Fair Price Realization</a:t>
            </a:r>
          </a:p>
          <a:p>
            <a:endParaRPr lang="en-US" sz="1900" dirty="0"/>
          </a:p>
          <a:p>
            <a:r>
              <a:rPr lang="en-US" sz="1900" b="1" dirty="0"/>
              <a:t>H₅:</a:t>
            </a:r>
            <a:r>
              <a:rPr lang="en-US" sz="1900" dirty="0"/>
              <a:t> Customer Interest in Purchasing Directly from Farmers ↔ Preference for Digital Platforms</a:t>
            </a:r>
          </a:p>
          <a:p>
            <a:endParaRPr lang="en-US" dirty="0"/>
          </a:p>
        </p:txBody>
      </p:sp>
      <p:sp>
        <p:nvSpPr>
          <p:cNvPr id="26" name="cardhead"/>
          <p:cNvSpPr/>
          <p:nvPr/>
        </p:nvSpPr>
        <p:spPr>
          <a:xfrm>
            <a:off x="4873857" y="1186065"/>
            <a:ext cx="4117743" cy="617220"/>
          </a:xfrm>
          <a:prstGeom prst="roundRect">
            <a:avLst>
              <a:gd name="adj" fmla="val 8000"/>
            </a:avLst>
          </a:prstGeom>
          <a:solidFill>
            <a:srgbClr val="2E7D57"/>
          </a:solidFill>
          <a:ln>
            <a:noFill/>
          </a:ln>
        </p:spPr>
        <p:txBody>
          <a:bodyPr wrap="square" lIns="164592" tIns="45720" rIns="91440" bIns="45720" anchor="ctr">
            <a:normAutofit/>
          </a:bodyPr>
          <a:lstStyle/>
          <a:p>
            <a:pPr marL="0" indent="0" algn="l">
              <a:lnSpc>
                <a:spcPct val="100000"/>
              </a:lnSpc>
              <a:buNone/>
            </a:pPr>
            <a:r>
              <a:rPr lang="en-US" sz="2400" b="1">
                <a:solidFill>
                  <a:srgbClr val="FFFFFF"/>
                </a:solidFill>
                <a:latin typeface="Calibri"/>
                <a:cs typeface="Calibri"/>
              </a:rPr>
              <a:t>Hypotheses</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7</a:t>
            </a:fld>
            <a:endParaRPr lang="en-US"/>
          </a:p>
        </p:txBody>
      </p:sp>
      <p:sp>
        <p:nvSpPr>
          <p:cNvPr id="3" name="TextBox 2">
            <a:extLst>
              <a:ext uri="{FF2B5EF4-FFF2-40B4-BE49-F238E27FC236}">
                <a16:creationId xmlns:a16="http://schemas.microsoft.com/office/drawing/2014/main" id="{BD803643-10CB-A8EE-FEF0-E0EEDF5268CD}"/>
              </a:ext>
            </a:extLst>
          </p:cNvPr>
          <p:cNvSpPr txBox="1"/>
          <p:nvPr/>
        </p:nvSpPr>
        <p:spPr>
          <a:xfrm>
            <a:off x="152400" y="6002142"/>
            <a:ext cx="8991600" cy="338554"/>
          </a:xfrm>
          <a:prstGeom prst="rect">
            <a:avLst/>
          </a:prstGeom>
          <a:noFill/>
        </p:spPr>
        <p:txBody>
          <a:bodyPr wrap="square">
            <a:spAutoFit/>
          </a:bodyPr>
          <a:lstStyle/>
          <a:p>
            <a:r>
              <a:rPr lang="en-US" sz="1600" b="0" i="0" u="none" strike="noStrike" dirty="0">
                <a:solidFill>
                  <a:srgbClr val="000000"/>
                </a:solidFill>
                <a:effectLst/>
                <a:latin typeface="-webkit-standard"/>
              </a:rPr>
              <a:t>Detailed Null (H₀) and Alternative (H₁) hypotheses were tested using the Chi-Square Test of Independence.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136525"/>
            <a:ext cx="7680960" cy="741299"/>
          </a:xfrm>
          <a:prstGeom prst="rect">
            <a:avLst/>
          </a:prstGeom>
          <a:noFill/>
          <a:ln>
            <a:noFill/>
          </a:ln>
        </p:spPr>
        <p:txBody>
          <a:bodyPr wrap="square" lIns="0" tIns="45720" rIns="91440" bIns="18288" anchor="b">
            <a:normAutofit lnSpcReduction="10000"/>
          </a:bodyPr>
          <a:lstStyle/>
          <a:p>
            <a:pPr marL="0" indent="0" algn="l">
              <a:lnSpc>
                <a:spcPct val="100000"/>
              </a:lnSpc>
              <a:buNone/>
            </a:pPr>
            <a:r>
              <a:rPr lang="en-US" sz="4800" b="1" dirty="0">
                <a:solidFill>
                  <a:srgbClr val="1E5B3F"/>
                </a:solidFill>
                <a:latin typeface="Cambria"/>
                <a:cs typeface="Cambria"/>
              </a:rPr>
              <a:t>Research Methodology</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35" name="tech"/>
          <p:cNvSpPr/>
          <p:nvPr/>
        </p:nvSpPr>
        <p:spPr>
          <a:xfrm>
            <a:off x="116586" y="5510530"/>
            <a:ext cx="8722613" cy="739740"/>
          </a:xfrm>
          <a:prstGeom prst="roundRect">
            <a:avLst>
              <a:gd name="adj" fmla="val 6000"/>
            </a:avLst>
          </a:prstGeom>
          <a:solidFill>
            <a:srgbClr val="F6F1E1"/>
          </a:solidFill>
          <a:ln w="12700">
            <a:solidFill>
              <a:srgbClr val="C09A2C"/>
            </a:solidFill>
          </a:ln>
        </p:spPr>
        <p:txBody>
          <a:bodyPr wrap="square" lIns="128016" tIns="45720" rIns="91440" bIns="45720" anchor="ctr">
            <a:normAutofit lnSpcReduction="10000"/>
          </a:bodyPr>
          <a:lstStyle/>
          <a:p>
            <a:pPr marL="0" indent="0" algn="l">
              <a:lnSpc>
                <a:spcPct val="100000"/>
              </a:lnSpc>
              <a:spcAft>
                <a:spcPts val="100"/>
              </a:spcAft>
              <a:buNone/>
            </a:pPr>
            <a:r>
              <a:rPr lang="en-US" sz="2400" b="1" dirty="0">
                <a:solidFill>
                  <a:srgbClr val="9C7C1B"/>
                </a:solidFill>
                <a:latin typeface="Calibri"/>
                <a:cs typeface="Calibri"/>
              </a:rPr>
              <a:t>Analytical Techniques</a:t>
            </a:r>
          </a:p>
          <a:p>
            <a:pPr marL="0" indent="0" algn="l">
              <a:lnSpc>
                <a:spcPct val="100000"/>
              </a:lnSpc>
              <a:buNone/>
            </a:pPr>
            <a:r>
              <a:rPr lang="en-US" dirty="0">
                <a:solidFill>
                  <a:srgbClr val="3E463F"/>
                </a:solidFill>
                <a:latin typeface="Calibri Light"/>
                <a:cs typeface="Calibri Light"/>
              </a:rPr>
              <a:t>Descriptive Stats · Chi-Square · Pearson Correlation · VIF · Logistic Regression · Decision Tree</a:t>
            </a:r>
          </a:p>
        </p:txBody>
      </p:sp>
      <p:sp>
        <p:nvSpPr>
          <p:cNvPr id="36" name="wfh"/>
          <p:cNvSpPr/>
          <p:nvPr/>
        </p:nvSpPr>
        <p:spPr>
          <a:xfrm>
            <a:off x="5669278" y="1082522"/>
            <a:ext cx="2788920" cy="525780"/>
          </a:xfrm>
          <a:prstGeom prst="rect">
            <a:avLst/>
          </a:prstGeom>
          <a:noFill/>
          <a:ln>
            <a:noFill/>
          </a:ln>
        </p:spPr>
        <p:txBody>
          <a:bodyPr wrap="square" lIns="91440" tIns="45720" rIns="91440" bIns="45720" anchor="ctr">
            <a:normAutofit fontScale="92500"/>
          </a:bodyPr>
          <a:lstStyle/>
          <a:p>
            <a:pPr marL="0" indent="0" algn="ctr">
              <a:lnSpc>
                <a:spcPct val="100000"/>
              </a:lnSpc>
              <a:buNone/>
            </a:pPr>
            <a:r>
              <a:rPr lang="en-US" sz="2000" b="1" spc="120" dirty="0">
                <a:solidFill>
                  <a:srgbClr val="9C7C1B"/>
                </a:solidFill>
                <a:latin typeface="Calibri"/>
                <a:cs typeface="Calibri"/>
              </a:rPr>
              <a:t>RESEARCH WORKFLOW</a:t>
            </a:r>
          </a:p>
        </p:txBody>
      </p:sp>
      <p:sp>
        <p:nvSpPr>
          <p:cNvPr id="37" name="wf"/>
          <p:cNvSpPr/>
          <p:nvPr/>
        </p:nvSpPr>
        <p:spPr>
          <a:xfrm>
            <a:off x="5440680" y="1645920"/>
            <a:ext cx="3246120" cy="475488"/>
          </a:xfrm>
          <a:prstGeom prst="roundRect">
            <a:avLst>
              <a:gd name="adj" fmla="val 9000"/>
            </a:avLst>
          </a:prstGeom>
          <a:solidFill>
            <a:srgbClr val="E9F0EA"/>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1E5B3F"/>
                </a:solidFill>
                <a:latin typeface="Calibri"/>
                <a:cs typeface="Calibri"/>
              </a:rPr>
              <a:t>Questionnaire</a:t>
            </a:r>
          </a:p>
        </p:txBody>
      </p:sp>
      <p:sp>
        <p:nvSpPr>
          <p:cNvPr id="38" name="arrow"/>
          <p:cNvSpPr/>
          <p:nvPr/>
        </p:nvSpPr>
        <p:spPr>
          <a:xfrm>
            <a:off x="6946918" y="2115912"/>
            <a:ext cx="237744" cy="173736"/>
          </a:xfrm>
          <a:prstGeom prst="down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39" name="wf"/>
          <p:cNvSpPr/>
          <p:nvPr/>
        </p:nvSpPr>
        <p:spPr>
          <a:xfrm>
            <a:off x="5440680" y="2308860"/>
            <a:ext cx="3246120" cy="475488"/>
          </a:xfrm>
          <a:prstGeom prst="roundRect">
            <a:avLst>
              <a:gd name="adj" fmla="val 9000"/>
            </a:avLst>
          </a:prstGeom>
          <a:solidFill>
            <a:srgbClr val="F5F4EC"/>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2E7D57"/>
                </a:solidFill>
                <a:latin typeface="Calibri"/>
                <a:cs typeface="Calibri"/>
              </a:rPr>
              <a:t>Excel</a:t>
            </a:r>
          </a:p>
        </p:txBody>
      </p:sp>
      <p:sp>
        <p:nvSpPr>
          <p:cNvPr id="40" name="arrow"/>
          <p:cNvSpPr/>
          <p:nvPr/>
        </p:nvSpPr>
        <p:spPr>
          <a:xfrm>
            <a:off x="6944866" y="2799468"/>
            <a:ext cx="237744" cy="173736"/>
          </a:xfrm>
          <a:prstGeom prst="down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41" name="wf"/>
          <p:cNvSpPr/>
          <p:nvPr/>
        </p:nvSpPr>
        <p:spPr>
          <a:xfrm>
            <a:off x="5440679" y="2971800"/>
            <a:ext cx="3246119" cy="475488"/>
          </a:xfrm>
          <a:prstGeom prst="roundRect">
            <a:avLst>
              <a:gd name="adj" fmla="val 9000"/>
            </a:avLst>
          </a:prstGeom>
          <a:solidFill>
            <a:srgbClr val="E9F0EA"/>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2E7D57"/>
                </a:solidFill>
                <a:latin typeface="Calibri"/>
                <a:cs typeface="Calibri"/>
              </a:rPr>
              <a:t>Python</a:t>
            </a:r>
          </a:p>
        </p:txBody>
      </p:sp>
      <p:sp>
        <p:nvSpPr>
          <p:cNvPr id="42" name="arrow"/>
          <p:cNvSpPr/>
          <p:nvPr/>
        </p:nvSpPr>
        <p:spPr>
          <a:xfrm>
            <a:off x="6946918" y="3461398"/>
            <a:ext cx="237744" cy="173736"/>
          </a:xfrm>
          <a:prstGeom prst="down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43" name="wf"/>
          <p:cNvSpPr/>
          <p:nvPr/>
        </p:nvSpPr>
        <p:spPr>
          <a:xfrm>
            <a:off x="5440680" y="3634740"/>
            <a:ext cx="3246118" cy="475488"/>
          </a:xfrm>
          <a:prstGeom prst="roundRect">
            <a:avLst>
              <a:gd name="adj" fmla="val 9000"/>
            </a:avLst>
          </a:prstGeom>
          <a:solidFill>
            <a:srgbClr val="F5F4EC"/>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2E7D57"/>
                </a:solidFill>
                <a:latin typeface="Calibri"/>
                <a:cs typeface="Calibri"/>
              </a:rPr>
              <a:t>Statistical Analysis</a:t>
            </a:r>
          </a:p>
        </p:txBody>
      </p:sp>
      <p:sp>
        <p:nvSpPr>
          <p:cNvPr id="44" name="arrow"/>
          <p:cNvSpPr/>
          <p:nvPr/>
        </p:nvSpPr>
        <p:spPr>
          <a:xfrm>
            <a:off x="6944866" y="4114800"/>
            <a:ext cx="237744" cy="173736"/>
          </a:xfrm>
          <a:prstGeom prst="down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45" name="wf"/>
          <p:cNvSpPr/>
          <p:nvPr/>
        </p:nvSpPr>
        <p:spPr>
          <a:xfrm>
            <a:off x="5440680" y="4297680"/>
            <a:ext cx="3246118" cy="475488"/>
          </a:xfrm>
          <a:prstGeom prst="roundRect">
            <a:avLst>
              <a:gd name="adj" fmla="val 9000"/>
            </a:avLst>
          </a:prstGeom>
          <a:solidFill>
            <a:srgbClr val="E9F0EA"/>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9C7C1B"/>
                </a:solidFill>
                <a:latin typeface="Calibri"/>
                <a:cs typeface="Calibri"/>
              </a:rPr>
              <a:t>Predictive Analysis</a:t>
            </a:r>
          </a:p>
        </p:txBody>
      </p:sp>
      <p:sp>
        <p:nvSpPr>
          <p:cNvPr id="46" name="arrow"/>
          <p:cNvSpPr/>
          <p:nvPr/>
        </p:nvSpPr>
        <p:spPr>
          <a:xfrm>
            <a:off x="6944866" y="4756044"/>
            <a:ext cx="237744" cy="173736"/>
          </a:xfrm>
          <a:prstGeom prst="downArrow">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47" name="wf"/>
          <p:cNvSpPr/>
          <p:nvPr/>
        </p:nvSpPr>
        <p:spPr>
          <a:xfrm>
            <a:off x="5440680" y="4960620"/>
            <a:ext cx="3246118" cy="475488"/>
          </a:xfrm>
          <a:prstGeom prst="roundRect">
            <a:avLst>
              <a:gd name="adj" fmla="val 9000"/>
            </a:avLst>
          </a:prstGeom>
          <a:solidFill>
            <a:srgbClr val="F5F4EC"/>
          </a:solidFill>
          <a:ln w="12700">
            <a:solidFill>
              <a:srgbClr val="D9DCD1"/>
            </a:solidFill>
          </a:ln>
        </p:spPr>
        <p:txBody>
          <a:bodyPr wrap="square" lIns="91440" tIns="45720" rIns="91440" bIns="45720" anchor="ctr">
            <a:normAutofit lnSpcReduction="10000"/>
          </a:bodyPr>
          <a:lstStyle/>
          <a:p>
            <a:pPr marL="0" indent="0" algn="ctr">
              <a:lnSpc>
                <a:spcPct val="100000"/>
              </a:lnSpc>
              <a:buNone/>
            </a:pPr>
            <a:r>
              <a:rPr lang="en-US" sz="2400" b="1">
                <a:solidFill>
                  <a:srgbClr val="1E5B3F"/>
                </a:solidFill>
                <a:latin typeface="Calibri"/>
                <a:cs typeface="Calibri"/>
              </a:rPr>
              <a:t>Findings</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8</a:t>
            </a:fld>
            <a:endParaRPr lang="en-US"/>
          </a:p>
        </p:txBody>
      </p:sp>
      <p:graphicFrame>
        <p:nvGraphicFramePr>
          <p:cNvPr id="2" name="Table 1">
            <a:extLst>
              <a:ext uri="{FF2B5EF4-FFF2-40B4-BE49-F238E27FC236}">
                <a16:creationId xmlns:a16="http://schemas.microsoft.com/office/drawing/2014/main" id="{701371D8-C014-6F10-B771-FA71C57D183B}"/>
              </a:ext>
            </a:extLst>
          </p:cNvPr>
          <p:cNvGraphicFramePr>
            <a:graphicFrameLocks noGrp="1"/>
          </p:cNvGraphicFramePr>
          <p:nvPr>
            <p:extLst>
              <p:ext uri="{D42A27DB-BD31-4B8C-83A1-F6EECF244321}">
                <p14:modId xmlns:p14="http://schemas.microsoft.com/office/powerpoint/2010/main" val="2224484161"/>
              </p:ext>
            </p:extLst>
          </p:nvPr>
        </p:nvGraphicFramePr>
        <p:xfrm>
          <a:off x="116586" y="1065277"/>
          <a:ext cx="5217414" cy="4383573"/>
        </p:xfrm>
        <a:graphic>
          <a:graphicData uri="http://schemas.openxmlformats.org/drawingml/2006/table">
            <a:tbl>
              <a:tblPr/>
              <a:tblGrid>
                <a:gridCol w="2169414">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622625">
                <a:tc>
                  <a:txBody>
                    <a:bodyPr/>
                    <a:lstStyle/>
                    <a:p>
                      <a:pPr algn="l">
                        <a:buNone/>
                      </a:pPr>
                      <a:r>
                        <a:rPr lang="en-US" sz="1800" b="1" i="0" dirty="0">
                          <a:solidFill>
                            <a:srgbClr val="FFFFFF"/>
                          </a:solidFill>
                          <a:latin typeface="Calibri"/>
                          <a:cs typeface="Calibri"/>
                        </a:rPr>
                        <a:t>Research Methodology</a:t>
                      </a:r>
                    </a:p>
                  </a:txBody>
                  <a:tcPr anchor="ctr">
                    <a:lnL w="6350" cap="flat">
                      <a:solidFill>
                        <a:srgbClr val="D9DCD1"/>
                      </a:solidFill>
                    </a:lnL>
                    <a:lnR w="6350" cap="flat">
                      <a:solidFill>
                        <a:srgbClr val="D9DCD1"/>
                      </a:solidFill>
                    </a:lnR>
                    <a:lnT w="6350" cap="flat">
                      <a:solidFill>
                        <a:srgbClr val="D9DCD1"/>
                      </a:solidFill>
                    </a:lnT>
                    <a:lnB w="19050" cap="flat">
                      <a:solidFill>
                        <a:srgbClr val="C09A2C"/>
                      </a:solidFill>
                    </a:lnB>
                    <a:solidFill>
                      <a:srgbClr val="1E5B3F"/>
                    </a:solidFill>
                  </a:tcPr>
                </a:tc>
                <a:tc>
                  <a:txBody>
                    <a:bodyPr/>
                    <a:lstStyle/>
                    <a:p>
                      <a:pPr algn="l">
                        <a:buNone/>
                      </a:pPr>
                      <a:r>
                        <a:rPr lang="en-US" sz="1800" b="1" i="0" dirty="0">
                          <a:solidFill>
                            <a:srgbClr val="FFFFFF"/>
                          </a:solidFill>
                          <a:latin typeface="Calibri"/>
                          <a:cs typeface="Calibri"/>
                        </a:rPr>
                        <a:t>Details</a:t>
                      </a:r>
                    </a:p>
                  </a:txBody>
                  <a:tcPr anchor="ctr">
                    <a:lnL w="6350" cap="flat">
                      <a:solidFill>
                        <a:srgbClr val="D9DCD1"/>
                      </a:solidFill>
                    </a:lnL>
                    <a:lnR w="6350" cap="flat">
                      <a:solidFill>
                        <a:srgbClr val="D9DCD1"/>
                      </a:solidFill>
                    </a:lnR>
                    <a:lnT w="6350" cap="flat">
                      <a:solidFill>
                        <a:srgbClr val="D9DCD1"/>
                      </a:solidFill>
                    </a:lnT>
                    <a:lnB w="19050" cap="flat">
                      <a:solidFill>
                        <a:srgbClr val="C09A2C"/>
                      </a:solidFill>
                    </a:lnB>
                    <a:solidFill>
                      <a:srgbClr val="1E5B3F"/>
                    </a:solidFill>
                  </a:tcPr>
                </a:tc>
                <a:extLst>
                  <a:ext uri="{0D108BD9-81ED-4DB2-BD59-A6C34878D82A}">
                    <a16:rowId xmlns:a16="http://schemas.microsoft.com/office/drawing/2014/main" val="10000"/>
                  </a:ext>
                </a:extLst>
              </a:tr>
              <a:tr h="362590">
                <a:tc>
                  <a:txBody>
                    <a:bodyPr/>
                    <a:lstStyle/>
                    <a:p>
                      <a:pPr algn="l">
                        <a:buNone/>
                      </a:pPr>
                      <a:r>
                        <a:rPr lang="en-US" b="1" i="0">
                          <a:solidFill>
                            <a:srgbClr val="22302A"/>
                          </a:solidFill>
                          <a:latin typeface="Calibri"/>
                          <a:cs typeface="Calibri"/>
                        </a:rPr>
                        <a:t>Research Design</a:t>
                      </a:r>
                    </a:p>
                  </a:txBody>
                  <a:tcPr anchor="ctr">
                    <a:lnL w="6350" cap="flat">
                      <a:solidFill>
                        <a:srgbClr val="D9DCD1"/>
                      </a:solidFill>
                    </a:lnL>
                    <a:lnR w="6350" cap="flat">
                      <a:solidFill>
                        <a:srgbClr val="D9DCD1"/>
                      </a:solidFill>
                    </a:lnR>
                    <a:lnT w="19050" cap="flat" cmpd="sng" algn="ctr">
                      <a:solidFill>
                        <a:srgbClr val="C09A2C"/>
                      </a:solidFill>
                      <a:prstDash val="solid"/>
                      <a:round/>
                      <a:headEnd type="none" w="med" len="med"/>
                      <a:tailEnd type="none" w="med" len="med"/>
                    </a:lnT>
                    <a:lnB w="6350" cap="flat">
                      <a:solidFill>
                        <a:srgbClr val="D9DCD1"/>
                      </a:solidFill>
                    </a:lnB>
                    <a:solidFill>
                      <a:srgbClr val="FFFFFF"/>
                    </a:solidFill>
                  </a:tcPr>
                </a:tc>
                <a:tc>
                  <a:txBody>
                    <a:bodyPr/>
                    <a:lstStyle/>
                    <a:p>
                      <a:pPr algn="l">
                        <a:buNone/>
                      </a:pPr>
                      <a:r>
                        <a:rPr lang="en-US" b="0" i="0">
                          <a:solidFill>
                            <a:srgbClr val="3E463F"/>
                          </a:solidFill>
                          <a:latin typeface="Calibri"/>
                          <a:cs typeface="Calibri"/>
                        </a:rPr>
                        <a:t>Descriptive</a:t>
                      </a:r>
                    </a:p>
                  </a:txBody>
                  <a:tcPr anchor="ctr">
                    <a:lnL w="6350" cap="flat">
                      <a:solidFill>
                        <a:srgbClr val="D9DCD1"/>
                      </a:solidFill>
                    </a:lnL>
                    <a:lnR w="6350" cap="flat">
                      <a:solidFill>
                        <a:srgbClr val="D9DCD1"/>
                      </a:solidFill>
                    </a:lnR>
                    <a:lnT w="19050" cap="flat" cmpd="sng" algn="ctr">
                      <a:solidFill>
                        <a:srgbClr val="C09A2C"/>
                      </a:solidFill>
                      <a:prstDash val="solid"/>
                      <a:round/>
                      <a:headEnd type="none" w="med" len="med"/>
                      <a:tailEnd type="none" w="med" len="med"/>
                    </a:lnT>
                    <a:lnB w="6350" cap="flat">
                      <a:solidFill>
                        <a:srgbClr val="D9DCD1"/>
                      </a:solidFill>
                    </a:lnB>
                    <a:solidFill>
                      <a:srgbClr val="FFFFFF"/>
                    </a:solidFill>
                  </a:tcPr>
                </a:tc>
                <a:extLst>
                  <a:ext uri="{0D108BD9-81ED-4DB2-BD59-A6C34878D82A}">
                    <a16:rowId xmlns:a16="http://schemas.microsoft.com/office/drawing/2014/main" val="10001"/>
                  </a:ext>
                </a:extLst>
              </a:tr>
              <a:tr h="362590">
                <a:tc>
                  <a:txBody>
                    <a:bodyPr/>
                    <a:lstStyle/>
                    <a:p>
                      <a:pPr algn="l">
                        <a:buNone/>
                      </a:pPr>
                      <a:r>
                        <a:rPr lang="en-US" b="1" i="0">
                          <a:solidFill>
                            <a:srgbClr val="22302A"/>
                          </a:solidFill>
                          <a:latin typeface="Calibri"/>
                          <a:cs typeface="Calibri"/>
                        </a:rPr>
                        <a:t>Research Approach</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tc>
                  <a:txBody>
                    <a:bodyPr/>
                    <a:lstStyle/>
                    <a:p>
                      <a:pPr algn="l">
                        <a:buNone/>
                      </a:pPr>
                      <a:r>
                        <a:rPr lang="en-US" b="0" i="0">
                          <a:solidFill>
                            <a:srgbClr val="3E463F"/>
                          </a:solidFill>
                          <a:latin typeface="Calibri"/>
                          <a:cs typeface="Calibri"/>
                        </a:rPr>
                        <a:t>Quantitative</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extLst>
                  <a:ext uri="{0D108BD9-81ED-4DB2-BD59-A6C34878D82A}">
                    <a16:rowId xmlns:a16="http://schemas.microsoft.com/office/drawing/2014/main" val="10002"/>
                  </a:ext>
                </a:extLst>
              </a:tr>
              <a:tr h="634533">
                <a:tc>
                  <a:txBody>
                    <a:bodyPr/>
                    <a:lstStyle/>
                    <a:p>
                      <a:pPr algn="l">
                        <a:buNone/>
                      </a:pPr>
                      <a:r>
                        <a:rPr lang="en-US" b="1" i="0">
                          <a:solidFill>
                            <a:srgbClr val="22302A"/>
                          </a:solidFill>
                          <a:latin typeface="Calibri"/>
                          <a:cs typeface="Calibri"/>
                        </a:rPr>
                        <a:t>Study Area</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tc>
                  <a:txBody>
                    <a:bodyPr/>
                    <a:lstStyle/>
                    <a:p>
                      <a:pPr algn="l">
                        <a:buNone/>
                      </a:pPr>
                      <a:r>
                        <a:rPr lang="en-US" b="0" i="0">
                          <a:solidFill>
                            <a:srgbClr val="3E463F"/>
                          </a:solidFill>
                          <a:latin typeface="Calibri"/>
                          <a:cs typeface="Calibri"/>
                        </a:rPr>
                        <a:t>Rural Areas of Tumakuru District</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extLst>
                  <a:ext uri="{0D108BD9-81ED-4DB2-BD59-A6C34878D82A}">
                    <a16:rowId xmlns:a16="http://schemas.microsoft.com/office/drawing/2014/main" val="10003"/>
                  </a:ext>
                </a:extLst>
              </a:tr>
              <a:tr h="362590">
                <a:tc>
                  <a:txBody>
                    <a:bodyPr/>
                    <a:lstStyle/>
                    <a:p>
                      <a:pPr algn="l">
                        <a:buNone/>
                      </a:pPr>
                      <a:r>
                        <a:rPr lang="en-US" b="1" i="0">
                          <a:solidFill>
                            <a:srgbClr val="22302A"/>
                          </a:solidFill>
                          <a:latin typeface="Calibri"/>
                          <a:cs typeface="Calibri"/>
                        </a:rPr>
                        <a:t>Sample Size</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tc>
                  <a:txBody>
                    <a:bodyPr/>
                    <a:lstStyle/>
                    <a:p>
                      <a:pPr algn="l">
                        <a:buNone/>
                      </a:pPr>
                      <a:r>
                        <a:rPr lang="en-US" b="0" i="0">
                          <a:solidFill>
                            <a:srgbClr val="3E463F"/>
                          </a:solidFill>
                          <a:latin typeface="Calibri"/>
                          <a:cs typeface="Calibri"/>
                        </a:rPr>
                        <a:t>115 Rural Farmers</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extLst>
                  <a:ext uri="{0D108BD9-81ED-4DB2-BD59-A6C34878D82A}">
                    <a16:rowId xmlns:a16="http://schemas.microsoft.com/office/drawing/2014/main" val="10004"/>
                  </a:ext>
                </a:extLst>
              </a:tr>
              <a:tr h="362590">
                <a:tc>
                  <a:txBody>
                    <a:bodyPr/>
                    <a:lstStyle/>
                    <a:p>
                      <a:pPr algn="l">
                        <a:buNone/>
                      </a:pPr>
                      <a:r>
                        <a:rPr lang="en-US" b="1" i="0">
                          <a:solidFill>
                            <a:srgbClr val="22302A"/>
                          </a:solidFill>
                          <a:latin typeface="Calibri"/>
                          <a:cs typeface="Calibri"/>
                        </a:rPr>
                        <a:t>Sampling Technique</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tc>
                  <a:txBody>
                    <a:bodyPr/>
                    <a:lstStyle/>
                    <a:p>
                      <a:pPr algn="l">
                        <a:buNone/>
                      </a:pPr>
                      <a:r>
                        <a:rPr lang="en-US" b="0" i="0">
                          <a:solidFill>
                            <a:srgbClr val="3E463F"/>
                          </a:solidFill>
                          <a:latin typeface="Calibri"/>
                          <a:cs typeface="Calibri"/>
                        </a:rPr>
                        <a:t>Convenience Sampling</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extLst>
                  <a:ext uri="{0D108BD9-81ED-4DB2-BD59-A6C34878D82A}">
                    <a16:rowId xmlns:a16="http://schemas.microsoft.com/office/drawing/2014/main" val="10005"/>
                  </a:ext>
                </a:extLst>
              </a:tr>
              <a:tr h="362590">
                <a:tc>
                  <a:txBody>
                    <a:bodyPr/>
                    <a:lstStyle/>
                    <a:p>
                      <a:pPr algn="l">
                        <a:buNone/>
                      </a:pPr>
                      <a:r>
                        <a:rPr lang="en-US" b="1" i="0">
                          <a:solidFill>
                            <a:srgbClr val="22302A"/>
                          </a:solidFill>
                          <a:latin typeface="Calibri"/>
                          <a:cs typeface="Calibri"/>
                        </a:rPr>
                        <a:t>Primary Data</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tc>
                  <a:txBody>
                    <a:bodyPr/>
                    <a:lstStyle/>
                    <a:p>
                      <a:pPr algn="l">
                        <a:buNone/>
                      </a:pPr>
                      <a:r>
                        <a:rPr lang="en-US" b="0" i="0">
                          <a:solidFill>
                            <a:srgbClr val="3E463F"/>
                          </a:solidFill>
                          <a:latin typeface="Calibri"/>
                          <a:cs typeface="Calibri"/>
                        </a:rPr>
                        <a:t>Structured Questionnaire</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extLst>
                  <a:ext uri="{0D108BD9-81ED-4DB2-BD59-A6C34878D82A}">
                    <a16:rowId xmlns:a16="http://schemas.microsoft.com/office/drawing/2014/main" val="10006"/>
                  </a:ext>
                </a:extLst>
              </a:tr>
              <a:tr h="634533">
                <a:tc>
                  <a:txBody>
                    <a:bodyPr/>
                    <a:lstStyle/>
                    <a:p>
                      <a:pPr algn="l">
                        <a:buNone/>
                      </a:pPr>
                      <a:r>
                        <a:rPr lang="en-US" b="1" i="0">
                          <a:solidFill>
                            <a:srgbClr val="22302A"/>
                          </a:solidFill>
                          <a:latin typeface="Calibri"/>
                          <a:cs typeface="Calibri"/>
                        </a:rPr>
                        <a:t>Secondary Data</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tc>
                  <a:txBody>
                    <a:bodyPr/>
                    <a:lstStyle/>
                    <a:p>
                      <a:pPr algn="l">
                        <a:buNone/>
                      </a:pPr>
                      <a:r>
                        <a:rPr lang="en-US" b="0" i="0">
                          <a:solidFill>
                            <a:srgbClr val="3E463F"/>
                          </a:solidFill>
                          <a:latin typeface="Calibri"/>
                          <a:cs typeface="Calibri"/>
                        </a:rPr>
                        <a:t>Journals, Govt. Reports, NABARD &amp; FAO</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FFFFFF"/>
                    </a:solidFill>
                  </a:tcPr>
                </a:tc>
                <a:extLst>
                  <a:ext uri="{0D108BD9-81ED-4DB2-BD59-A6C34878D82A}">
                    <a16:rowId xmlns:a16="http://schemas.microsoft.com/office/drawing/2014/main" val="10007"/>
                  </a:ext>
                </a:extLst>
              </a:tr>
              <a:tr h="634533">
                <a:tc>
                  <a:txBody>
                    <a:bodyPr/>
                    <a:lstStyle/>
                    <a:p>
                      <a:pPr algn="l">
                        <a:buNone/>
                      </a:pPr>
                      <a:r>
                        <a:rPr lang="en-US" b="1" i="0">
                          <a:solidFill>
                            <a:srgbClr val="22302A"/>
                          </a:solidFill>
                          <a:latin typeface="Calibri"/>
                          <a:cs typeface="Calibri"/>
                        </a:rPr>
                        <a:t>Software</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tc>
                  <a:txBody>
                    <a:bodyPr/>
                    <a:lstStyle/>
                    <a:p>
                      <a:pPr algn="l">
                        <a:buNone/>
                      </a:pPr>
                      <a:r>
                        <a:rPr lang="en-US" b="0" i="0" dirty="0">
                          <a:solidFill>
                            <a:srgbClr val="3E463F"/>
                          </a:solidFill>
                          <a:latin typeface="Calibri"/>
                          <a:cs typeface="Calibri"/>
                        </a:rPr>
                        <a:t>MS Excel &amp; Python (Jupyter)</a:t>
                      </a:r>
                    </a:p>
                  </a:txBody>
                  <a:tcPr anchor="ctr">
                    <a:lnL w="6350" cap="flat">
                      <a:solidFill>
                        <a:srgbClr val="D9DCD1"/>
                      </a:solidFill>
                    </a:lnL>
                    <a:lnR w="6350" cap="flat">
                      <a:solidFill>
                        <a:srgbClr val="D9DCD1"/>
                      </a:solidFill>
                    </a:lnR>
                    <a:lnT w="6350" cap="flat">
                      <a:solidFill>
                        <a:srgbClr val="D9DCD1"/>
                      </a:solidFill>
                    </a:lnT>
                    <a:lnB w="6350" cap="flat">
                      <a:solidFill>
                        <a:srgbClr val="D9DCD1"/>
                      </a:solidFill>
                    </a:lnB>
                    <a:solidFill>
                      <a:srgbClr val="E9F0E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136525"/>
            <a:ext cx="7680960" cy="741299"/>
          </a:xfrm>
          <a:prstGeom prst="rect">
            <a:avLst/>
          </a:prstGeom>
          <a:noFill/>
          <a:ln>
            <a:noFill/>
          </a:ln>
        </p:spPr>
        <p:txBody>
          <a:bodyPr wrap="square" lIns="0" tIns="45720" rIns="91440" bIns="18288" anchor="b">
            <a:normAutofit lnSpcReduction="10000"/>
          </a:bodyPr>
          <a:lstStyle/>
          <a:p>
            <a:pPr marL="0" indent="0" algn="l">
              <a:lnSpc>
                <a:spcPct val="100000"/>
              </a:lnSpc>
              <a:buNone/>
            </a:pPr>
            <a:r>
              <a:rPr lang="en-US" sz="4800" b="1" dirty="0">
                <a:solidFill>
                  <a:srgbClr val="1E5B3F"/>
                </a:solidFill>
                <a:latin typeface="Cambria"/>
                <a:cs typeface="Cambria"/>
              </a:rPr>
              <a:t>Respondent Profile</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subhead"/>
          <p:cNvSpPr/>
          <p:nvPr/>
        </p:nvSpPr>
        <p:spPr>
          <a:xfrm>
            <a:off x="2103120" y="839978"/>
            <a:ext cx="6400800" cy="385318"/>
          </a:xfrm>
          <a:prstGeom prst="rect">
            <a:avLst/>
          </a:prstGeom>
          <a:noFill/>
          <a:ln>
            <a:noFill/>
          </a:ln>
        </p:spPr>
        <p:txBody>
          <a:bodyPr wrap="square" lIns="45720" tIns="45720" rIns="91440" bIns="45720" anchor="t">
            <a:normAutofit fontScale="92500" lnSpcReduction="20000"/>
          </a:bodyPr>
          <a:lstStyle/>
          <a:p>
            <a:pPr marL="0" indent="0" algn="l">
              <a:lnSpc>
                <a:spcPct val="100000"/>
              </a:lnSpc>
              <a:buNone/>
            </a:pPr>
            <a:r>
              <a:rPr lang="en-US" sz="2400" i="1" dirty="0">
                <a:solidFill>
                  <a:srgbClr val="6B736A"/>
                </a:solidFill>
                <a:latin typeface="Calibri Light"/>
                <a:cs typeface="Calibri Light"/>
              </a:rPr>
              <a:t>Demographic profile of the survey respondents</a:t>
            </a:r>
          </a:p>
        </p:txBody>
      </p:sp>
      <p:sp>
        <p:nvSpPr>
          <p:cNvPr id="14" name="card"/>
          <p:cNvSpPr/>
          <p:nvPr/>
        </p:nvSpPr>
        <p:spPr>
          <a:xfrm>
            <a:off x="152400" y="1325880"/>
            <a:ext cx="3505200" cy="27889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5" name="cardhead"/>
          <p:cNvSpPr/>
          <p:nvPr/>
        </p:nvSpPr>
        <p:spPr>
          <a:xfrm>
            <a:off x="152400" y="1225296"/>
            <a:ext cx="3505200" cy="521208"/>
          </a:xfrm>
          <a:prstGeom prst="roundRect">
            <a:avLst>
              <a:gd name="adj" fmla="val 8000"/>
            </a:avLst>
          </a:prstGeom>
          <a:solidFill>
            <a:srgbClr val="1E5B3F"/>
          </a:solidFill>
          <a:ln>
            <a:noFill/>
          </a:ln>
        </p:spPr>
        <p:txBody>
          <a:bodyPr wrap="square" lIns="164592" tIns="45720" rIns="91440" bIns="45720" anchor="ctr">
            <a:normAutofit/>
          </a:bodyPr>
          <a:lstStyle/>
          <a:p>
            <a:pPr marL="0" indent="0" algn="l">
              <a:lnSpc>
                <a:spcPct val="100000"/>
              </a:lnSpc>
              <a:buNone/>
            </a:pPr>
            <a:r>
              <a:rPr lang="en-US" sz="2400" b="1" dirty="0">
                <a:solidFill>
                  <a:srgbClr val="FFFFFF"/>
                </a:solidFill>
                <a:latin typeface="Calibri"/>
                <a:cs typeface="Calibri"/>
              </a:rPr>
              <a:t>Demographic Variables</a:t>
            </a:r>
          </a:p>
        </p:txBody>
      </p:sp>
      <p:sp>
        <p:nvSpPr>
          <p:cNvPr id="16" name="cardbody"/>
          <p:cNvSpPr/>
          <p:nvPr/>
        </p:nvSpPr>
        <p:spPr>
          <a:xfrm>
            <a:off x="152400" y="1801368"/>
            <a:ext cx="3486912" cy="2258568"/>
          </a:xfrm>
          <a:prstGeom prst="rect">
            <a:avLst/>
          </a:prstGeom>
          <a:noFill/>
          <a:ln>
            <a:noFill/>
          </a:ln>
        </p:spPr>
        <p:txBody>
          <a:bodyPr wrap="square" lIns="109728" tIns="45720" rIns="73152" bIns="45720" anchor="t">
            <a:normAutofit/>
          </a:bodyPr>
          <a:lstStyle/>
          <a:p>
            <a:pPr marL="201168" indent="-201168" algn="l">
              <a:lnSpc>
                <a:spcPct val="150000"/>
              </a:lnSpc>
              <a:spcAft>
                <a:spcPts val="400"/>
              </a:spcAft>
              <a:buClr>
                <a:srgbClr val="C09A2C"/>
              </a:buClr>
              <a:buFont typeface="Arial"/>
              <a:buChar char="▪"/>
            </a:pPr>
            <a:r>
              <a:rPr lang="en-US" sz="2000" dirty="0">
                <a:solidFill>
                  <a:srgbClr val="3E463F"/>
                </a:solidFill>
                <a:latin typeface="Calibri Light"/>
                <a:cs typeface="Calibri Light"/>
              </a:rPr>
              <a:t>Age</a:t>
            </a:r>
          </a:p>
          <a:p>
            <a:pPr marL="201168" indent="-201168" algn="l">
              <a:lnSpc>
                <a:spcPct val="150000"/>
              </a:lnSpc>
              <a:spcAft>
                <a:spcPts val="400"/>
              </a:spcAft>
              <a:buClr>
                <a:srgbClr val="C09A2C"/>
              </a:buClr>
              <a:buFont typeface="Arial"/>
              <a:buChar char="▪"/>
            </a:pPr>
            <a:r>
              <a:rPr lang="en-US" sz="2000" dirty="0">
                <a:solidFill>
                  <a:srgbClr val="3E463F"/>
                </a:solidFill>
                <a:latin typeface="Calibri Light"/>
                <a:cs typeface="Calibri Light"/>
              </a:rPr>
              <a:t>Gender</a:t>
            </a:r>
          </a:p>
          <a:p>
            <a:pPr marL="201168" indent="-201168" algn="l">
              <a:lnSpc>
                <a:spcPct val="150000"/>
              </a:lnSpc>
              <a:spcAft>
                <a:spcPts val="400"/>
              </a:spcAft>
              <a:buClr>
                <a:srgbClr val="C09A2C"/>
              </a:buClr>
              <a:buFont typeface="Arial"/>
              <a:buChar char="▪"/>
            </a:pPr>
            <a:r>
              <a:rPr lang="en-US" sz="2000" dirty="0">
                <a:solidFill>
                  <a:srgbClr val="3E463F"/>
                </a:solidFill>
                <a:latin typeface="Calibri Light"/>
                <a:cs typeface="Calibri Light"/>
              </a:rPr>
              <a:t>Land Holding</a:t>
            </a:r>
          </a:p>
          <a:p>
            <a:pPr marL="201168" indent="-201168" algn="l">
              <a:lnSpc>
                <a:spcPct val="150000"/>
              </a:lnSpc>
              <a:spcAft>
                <a:spcPts val="400"/>
              </a:spcAft>
              <a:buClr>
                <a:srgbClr val="C09A2C"/>
              </a:buClr>
              <a:buFont typeface="Arial"/>
              <a:buChar char="▪"/>
            </a:pPr>
            <a:r>
              <a:rPr lang="en-US" sz="2000" dirty="0">
                <a:solidFill>
                  <a:srgbClr val="3E463F"/>
                </a:solidFill>
                <a:latin typeface="Calibri Light"/>
                <a:cs typeface="Calibri Light"/>
              </a:rPr>
              <a:t>Farming Experience</a:t>
            </a:r>
          </a:p>
        </p:txBody>
      </p:sp>
      <p:sp>
        <p:nvSpPr>
          <p:cNvPr id="17" name="ov"/>
          <p:cNvSpPr/>
          <p:nvPr/>
        </p:nvSpPr>
        <p:spPr>
          <a:xfrm>
            <a:off x="152400" y="4224528"/>
            <a:ext cx="3505200" cy="1682496"/>
          </a:xfrm>
          <a:prstGeom prst="roundRect">
            <a:avLst>
              <a:gd name="adj" fmla="val 6000"/>
            </a:avLst>
          </a:prstGeom>
          <a:solidFill>
            <a:srgbClr val="F6F1E1"/>
          </a:solidFill>
          <a:ln w="12700">
            <a:solidFill>
              <a:srgbClr val="C09A2C"/>
            </a:solidFill>
          </a:ln>
          <a:effectLst>
            <a:outerShdw blurRad="55000" dist="28000" dir="5400000" rotWithShape="0">
              <a:srgbClr val="223026">
                <a:alpha val="20000"/>
              </a:srgbClr>
            </a:outerShdw>
          </a:effectLst>
        </p:spPr>
        <p:txBody>
          <a:bodyPr wrap="square" lIns="146304" tIns="45720" rIns="91440" bIns="45720" anchor="ctr">
            <a:normAutofit fontScale="92500" lnSpcReduction="20000"/>
          </a:bodyPr>
          <a:lstStyle/>
          <a:p>
            <a:pPr marL="0" indent="0" algn="l">
              <a:lnSpc>
                <a:spcPct val="100000"/>
              </a:lnSpc>
              <a:spcAft>
                <a:spcPts val="200"/>
              </a:spcAft>
              <a:buNone/>
            </a:pPr>
            <a:r>
              <a:rPr lang="en-US" sz="4800" b="1" dirty="0">
                <a:solidFill>
                  <a:srgbClr val="9C7C1B"/>
                </a:solidFill>
                <a:latin typeface="Cambria"/>
                <a:cs typeface="Cambria"/>
              </a:rPr>
              <a:t>115</a:t>
            </a:r>
            <a:r>
              <a:rPr lang="en-US" sz="2800" b="1" dirty="0">
                <a:solidFill>
                  <a:srgbClr val="22302A"/>
                </a:solidFill>
                <a:latin typeface="Calibri"/>
                <a:cs typeface="Calibri"/>
              </a:rPr>
              <a:t>  Respondents</a:t>
            </a:r>
          </a:p>
          <a:p>
            <a:pPr marL="0" indent="0" algn="l">
              <a:lnSpc>
                <a:spcPct val="102000"/>
              </a:lnSpc>
              <a:buNone/>
            </a:pPr>
            <a:r>
              <a:rPr lang="en-US" dirty="0">
                <a:solidFill>
                  <a:srgbClr val="3E463F"/>
                </a:solidFill>
                <a:latin typeface="Calibri Light"/>
                <a:cs typeface="Calibri Light"/>
              </a:rPr>
              <a:t>Rural farmers from selected areas of </a:t>
            </a:r>
            <a:r>
              <a:rPr lang="en-US" dirty="0" err="1">
                <a:solidFill>
                  <a:srgbClr val="3E463F"/>
                </a:solidFill>
                <a:latin typeface="Calibri Light"/>
                <a:cs typeface="Calibri Light"/>
              </a:rPr>
              <a:t>Tumakuru</a:t>
            </a:r>
            <a:r>
              <a:rPr lang="en-US" dirty="0">
                <a:solidFill>
                  <a:srgbClr val="3E463F"/>
                </a:solidFill>
                <a:latin typeface="Calibri Light"/>
                <a:cs typeface="Calibri Light"/>
              </a:rPr>
              <a:t> District with diverse demographic and farming backgrounds.</a:t>
            </a:r>
          </a:p>
        </p:txBody>
      </p:sp>
      <p:sp>
        <p:nvSpPr>
          <p:cNvPr id="18" name="phbox"/>
          <p:cNvSpPr/>
          <p:nvPr/>
        </p:nvSpPr>
        <p:spPr>
          <a:xfrm>
            <a:off x="3810000" y="1225296"/>
            <a:ext cx="5181600" cy="4681728"/>
          </a:xfrm>
          <a:prstGeom prst="roundRect">
            <a:avLst>
              <a:gd name="adj" fmla="val 3000"/>
            </a:avLst>
          </a:prstGeom>
          <a:solidFill>
            <a:srgbClr val="ECEDE6"/>
          </a:solidFill>
          <a:ln w="15875">
            <a:solidFill>
              <a:srgbClr val="AFB3A6"/>
            </a:solidFill>
          </a:ln>
        </p:spPr>
        <p:txBody>
          <a:bodyPr wrap="square" lIns="91440" tIns="45720" rIns="91440" bIns="45720" anchor="t">
            <a:normAutofit/>
          </a:bodyPr>
          <a:lstStyle/>
          <a:p>
            <a:endParaRPr lang="en-US"/>
          </a:p>
        </p:txBody>
      </p:sp>
      <p:sp>
        <p:nvSpPr>
          <p:cNvPr id="19" name="phlabel"/>
          <p:cNvSpPr/>
          <p:nvPr/>
        </p:nvSpPr>
        <p:spPr>
          <a:xfrm>
            <a:off x="4041648" y="1325880"/>
            <a:ext cx="4005072" cy="4069080"/>
          </a:xfrm>
          <a:prstGeom prst="rect">
            <a:avLst/>
          </a:prstGeom>
          <a:noFill/>
          <a:ln>
            <a:noFill/>
          </a:ln>
        </p:spPr>
        <p:txBody>
          <a:bodyPr wrap="square" lIns="91440" tIns="45720" rIns="91440" bIns="45720" anchor="ctr">
            <a:normAutofit/>
          </a:bodyPr>
          <a:lstStyle/>
          <a:p>
            <a:pPr marL="0" indent="0" algn="ctr">
              <a:lnSpc>
                <a:spcPct val="100000"/>
              </a:lnSpc>
              <a:spcAft>
                <a:spcPts val="600"/>
              </a:spcAft>
              <a:buNone/>
            </a:pPr>
            <a:endParaRPr lang="en-US" sz="1050" i="1" dirty="0">
              <a:solidFill>
                <a:srgbClr val="6B736A"/>
              </a:solidFill>
              <a:latin typeface="Calibri Light"/>
              <a:cs typeface="Calibri Light"/>
            </a:endParaRP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2" name="Chart 1">
            <a:extLst>
              <a:ext uri="{FF2B5EF4-FFF2-40B4-BE49-F238E27FC236}">
                <a16:creationId xmlns:a16="http://schemas.microsoft.com/office/drawing/2014/main" id="{91F98A26-94DD-7DA8-5375-C16CEE7C1420}"/>
              </a:ext>
            </a:extLst>
          </p:cNvPr>
          <p:cNvGraphicFramePr>
            <a:graphicFrameLocks/>
          </p:cNvGraphicFramePr>
          <p:nvPr>
            <p:extLst>
              <p:ext uri="{D42A27DB-BD31-4B8C-83A1-F6EECF244321}">
                <p14:modId xmlns:p14="http://schemas.microsoft.com/office/powerpoint/2010/main" val="1837153777"/>
              </p:ext>
            </p:extLst>
          </p:nvPr>
        </p:nvGraphicFramePr>
        <p:xfrm>
          <a:off x="3880621" y="1308227"/>
          <a:ext cx="2616499" cy="21207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D70EDF6B-F88C-96C0-ABFD-600B104A9A7A}"/>
              </a:ext>
            </a:extLst>
          </p:cNvPr>
          <p:cNvGraphicFramePr>
            <a:graphicFrameLocks/>
          </p:cNvGraphicFramePr>
          <p:nvPr>
            <p:extLst>
              <p:ext uri="{D42A27DB-BD31-4B8C-83A1-F6EECF244321}">
                <p14:modId xmlns:p14="http://schemas.microsoft.com/office/powerpoint/2010/main" val="143662953"/>
              </p:ext>
            </p:extLst>
          </p:nvPr>
        </p:nvGraphicFramePr>
        <p:xfrm>
          <a:off x="6573320" y="1308227"/>
          <a:ext cx="2342080" cy="212077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DC6F97DD-DF7B-8F3E-3EC4-7F0565291784}"/>
              </a:ext>
            </a:extLst>
          </p:cNvPr>
          <p:cNvGraphicFramePr>
            <a:graphicFrameLocks/>
          </p:cNvGraphicFramePr>
          <p:nvPr>
            <p:extLst>
              <p:ext uri="{D42A27DB-BD31-4B8C-83A1-F6EECF244321}">
                <p14:modId xmlns:p14="http://schemas.microsoft.com/office/powerpoint/2010/main" val="1763618090"/>
              </p:ext>
            </p:extLst>
          </p:nvPr>
        </p:nvGraphicFramePr>
        <p:xfrm>
          <a:off x="3880621" y="3466846"/>
          <a:ext cx="2616499" cy="23682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BF0D3DCF-E9DB-A165-BC70-015DCF52B277}"/>
              </a:ext>
            </a:extLst>
          </p:cNvPr>
          <p:cNvGraphicFramePr>
            <a:graphicFrameLocks/>
          </p:cNvGraphicFramePr>
          <p:nvPr>
            <p:extLst>
              <p:ext uri="{D42A27DB-BD31-4B8C-83A1-F6EECF244321}">
                <p14:modId xmlns:p14="http://schemas.microsoft.com/office/powerpoint/2010/main" val="2950915156"/>
              </p:ext>
            </p:extLst>
          </p:nvPr>
        </p:nvGraphicFramePr>
        <p:xfrm>
          <a:off x="6573837" y="3484499"/>
          <a:ext cx="2341563" cy="2350643"/>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19AA2-42FB-E22C-F739-18E468C6B3BA}"/>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0549BF12-C432-6C9F-895A-CC66B5C65AF0}"/>
              </a:ext>
            </a:extLst>
          </p:cNvPr>
          <p:cNvSpPr/>
          <p:nvPr/>
        </p:nvSpPr>
        <p:spPr>
          <a:xfrm>
            <a:off x="932688" y="274320"/>
            <a:ext cx="7680960" cy="603504"/>
          </a:xfrm>
          <a:prstGeom prst="rect">
            <a:avLst/>
          </a:prstGeom>
          <a:noFill/>
          <a:ln>
            <a:noFill/>
          </a:ln>
        </p:spPr>
        <p:txBody>
          <a:bodyPr wrap="square" lIns="0" tIns="45720" rIns="91440" bIns="18288" anchor="b">
            <a:normAutofit fontScale="92500"/>
          </a:bodyPr>
          <a:lstStyle/>
          <a:p>
            <a:pPr marL="0" indent="0" algn="l">
              <a:lnSpc>
                <a:spcPct val="100000"/>
              </a:lnSpc>
              <a:buNone/>
            </a:pPr>
            <a:r>
              <a:rPr lang="en-US" sz="3200" b="1" dirty="0">
                <a:solidFill>
                  <a:srgbClr val="1E5B3F"/>
                </a:solidFill>
                <a:latin typeface="Cambria"/>
                <a:cs typeface="Cambria"/>
              </a:rPr>
              <a:t>Objective 1 — Existing Marketing Methods</a:t>
            </a:r>
          </a:p>
        </p:txBody>
      </p:sp>
      <p:sp>
        <p:nvSpPr>
          <p:cNvPr id="12" name="titleRule">
            <a:extLst>
              <a:ext uri="{FF2B5EF4-FFF2-40B4-BE49-F238E27FC236}">
                <a16:creationId xmlns:a16="http://schemas.microsoft.com/office/drawing/2014/main" id="{392CF5E1-4B93-0918-EAC7-71E6D082DD0E}"/>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objtag">
            <a:extLst>
              <a:ext uri="{FF2B5EF4-FFF2-40B4-BE49-F238E27FC236}">
                <a16:creationId xmlns:a16="http://schemas.microsoft.com/office/drawing/2014/main" id="{961C0FB3-0BF6-027D-0748-A4F0C6426C60}"/>
              </a:ext>
            </a:extLst>
          </p:cNvPr>
          <p:cNvSpPr/>
          <p:nvPr/>
        </p:nvSpPr>
        <p:spPr>
          <a:xfrm>
            <a:off x="76200" y="1083563"/>
            <a:ext cx="8991600" cy="670983"/>
          </a:xfrm>
          <a:prstGeom prst="roundRect">
            <a:avLst>
              <a:gd name="adj" fmla="val 6000"/>
            </a:avLst>
          </a:prstGeom>
          <a:solidFill>
            <a:srgbClr val="1E5B3F"/>
          </a:solidFill>
          <a:ln>
            <a:noFill/>
          </a:ln>
        </p:spPr>
        <p:txBody>
          <a:bodyPr wrap="square" lIns="146304" tIns="45720" rIns="91440" bIns="45720" anchor="ctr">
            <a:normAutofit fontScale="92500" lnSpcReduction="20000"/>
          </a:bodyPr>
          <a:lstStyle/>
          <a:p>
            <a:pPr marL="0" indent="0" algn="l">
              <a:lnSpc>
                <a:spcPct val="100000"/>
              </a:lnSpc>
              <a:buNone/>
            </a:pPr>
            <a:r>
              <a:rPr lang="en-US" sz="2400" b="1" dirty="0">
                <a:solidFill>
                  <a:srgbClr val="FFFFFF"/>
                </a:solidFill>
                <a:latin typeface="Calibri"/>
                <a:cs typeface="Calibri"/>
              </a:rPr>
              <a:t>To Understand the existing marketing methods used by rural farmers to sell agricultural produce.</a:t>
            </a:r>
          </a:p>
        </p:txBody>
      </p:sp>
      <p:sp>
        <p:nvSpPr>
          <p:cNvPr id="17" name="cardbody">
            <a:extLst>
              <a:ext uri="{FF2B5EF4-FFF2-40B4-BE49-F238E27FC236}">
                <a16:creationId xmlns:a16="http://schemas.microsoft.com/office/drawing/2014/main" id="{E0C2C1A7-FEA5-9B64-43F5-1B876652A766}"/>
              </a:ext>
            </a:extLst>
          </p:cNvPr>
          <p:cNvSpPr/>
          <p:nvPr/>
        </p:nvSpPr>
        <p:spPr>
          <a:xfrm>
            <a:off x="15044" y="2684185"/>
            <a:ext cx="3231076" cy="3324802"/>
          </a:xfrm>
          <a:prstGeom prst="rect">
            <a:avLst/>
          </a:prstGeom>
          <a:noFill/>
          <a:ln>
            <a:noFill/>
          </a:ln>
        </p:spPr>
        <p:txBody>
          <a:bodyPr wrap="square" lIns="109728" tIns="45720" rIns="73152" bIns="45720" anchor="t">
            <a:noAutofit/>
          </a:bodyPr>
          <a:lstStyle/>
          <a:p>
            <a:pPr>
              <a:lnSpc>
                <a:spcPct val="104000"/>
              </a:lnSpc>
              <a:spcAft>
                <a:spcPts val="400"/>
              </a:spcAft>
              <a:buClr>
                <a:schemeClr val="tx1"/>
              </a:buClr>
            </a:pPr>
            <a:endParaRPr lang="en-US" sz="1600" dirty="0">
              <a:solidFill>
                <a:srgbClr val="3E463F"/>
              </a:solidFill>
              <a:latin typeface="Calibri Light"/>
              <a:cs typeface="Calibri Light"/>
            </a:endParaRPr>
          </a:p>
        </p:txBody>
      </p:sp>
      <p:sp>
        <p:nvSpPr>
          <p:cNvPr id="23" name="phlabel">
            <a:extLst>
              <a:ext uri="{FF2B5EF4-FFF2-40B4-BE49-F238E27FC236}">
                <a16:creationId xmlns:a16="http://schemas.microsoft.com/office/drawing/2014/main" id="{8FC32BD0-E9E1-6181-9697-B7B1884795B5}"/>
              </a:ext>
            </a:extLst>
          </p:cNvPr>
          <p:cNvSpPr/>
          <p:nvPr/>
        </p:nvSpPr>
        <p:spPr>
          <a:xfrm>
            <a:off x="4937760" y="1298448"/>
            <a:ext cx="3108960" cy="4096512"/>
          </a:xfrm>
          <a:prstGeom prst="rect">
            <a:avLst/>
          </a:prstGeom>
          <a:noFill/>
          <a:ln>
            <a:noFill/>
          </a:ln>
        </p:spPr>
        <p:txBody>
          <a:bodyPr wrap="square" lIns="91440" tIns="45720" rIns="91440" bIns="45720" anchor="ctr">
            <a:normAutofit/>
          </a:bodyPr>
          <a:lstStyle/>
          <a:p>
            <a:pPr marL="0" indent="0" algn="ctr">
              <a:lnSpc>
                <a:spcPct val="100000"/>
              </a:lnSpc>
              <a:spcAft>
                <a:spcPts val="600"/>
              </a:spcAft>
              <a:buNone/>
            </a:pPr>
            <a:endParaRPr lang="en-US" sz="1250" b="1" dirty="0">
              <a:solidFill>
                <a:srgbClr val="1E5B3F"/>
              </a:solidFill>
              <a:latin typeface="Calibri"/>
              <a:cs typeface="Calibri"/>
            </a:endParaRPr>
          </a:p>
        </p:txBody>
      </p:sp>
      <p:sp>
        <p:nvSpPr>
          <p:cNvPr id="60" name="Date Placeholder">
            <a:extLst>
              <a:ext uri="{FF2B5EF4-FFF2-40B4-BE49-F238E27FC236}">
                <a16:creationId xmlns:a16="http://schemas.microsoft.com/office/drawing/2014/main" id="{E8D5C91F-9DAD-335B-C5B3-7762F1E6CE48}"/>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ACBA30E8-D37F-BAB6-EF71-B69C9D43F168}"/>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D04CAFC2-7BD0-583B-7A32-628B0054B836}"/>
              </a:ext>
            </a:extLst>
          </p:cNvPr>
          <p:cNvSpPr>
            <a:spLocks noGrp="1"/>
          </p:cNvSpPr>
          <p:nvPr>
            <p:ph type="sldNum" sz="quarter" idx="12"/>
          </p:nvPr>
        </p:nvSpPr>
        <p:spPr/>
        <p:txBody>
          <a:bodyPr/>
          <a:lstStyle/>
          <a:p>
            <a:fld id="{B6F15528-21DE-4FAA-801E-634DDDAF4B2B}" type="slidenum">
              <a:rPr lang="en-US" smtClean="0"/>
              <a:pPr/>
              <a:t>10</a:t>
            </a:fld>
            <a:endParaRPr lang="en-US"/>
          </a:p>
        </p:txBody>
      </p:sp>
      <p:graphicFrame>
        <p:nvGraphicFramePr>
          <p:cNvPr id="4" name="Table 3">
            <a:extLst>
              <a:ext uri="{FF2B5EF4-FFF2-40B4-BE49-F238E27FC236}">
                <a16:creationId xmlns:a16="http://schemas.microsoft.com/office/drawing/2014/main" id="{450EB6E3-E730-7AC1-EBB9-10002EF1BA9E}"/>
              </a:ext>
            </a:extLst>
          </p:cNvPr>
          <p:cNvGraphicFramePr>
            <a:graphicFrameLocks noGrp="1"/>
          </p:cNvGraphicFramePr>
          <p:nvPr>
            <p:extLst>
              <p:ext uri="{D42A27DB-BD31-4B8C-83A1-F6EECF244321}">
                <p14:modId xmlns:p14="http://schemas.microsoft.com/office/powerpoint/2010/main" val="1049585851"/>
              </p:ext>
            </p:extLst>
          </p:nvPr>
        </p:nvGraphicFramePr>
        <p:xfrm>
          <a:off x="80158" y="1885122"/>
          <a:ext cx="4644240" cy="4471230"/>
        </p:xfrm>
        <a:graphic>
          <a:graphicData uri="http://schemas.openxmlformats.org/drawingml/2006/table">
            <a:tbl>
              <a:tblPr firstRow="1" firstCol="1" bandRow="1">
                <a:tableStyleId>{5C22544A-7EE6-4342-B048-85BDC9FD1C3A}</a:tableStyleId>
              </a:tblPr>
              <a:tblGrid>
                <a:gridCol w="928848">
                  <a:extLst>
                    <a:ext uri="{9D8B030D-6E8A-4147-A177-3AD203B41FA5}">
                      <a16:colId xmlns:a16="http://schemas.microsoft.com/office/drawing/2014/main" val="78970121"/>
                    </a:ext>
                  </a:extLst>
                </a:gridCol>
                <a:gridCol w="928848">
                  <a:extLst>
                    <a:ext uri="{9D8B030D-6E8A-4147-A177-3AD203B41FA5}">
                      <a16:colId xmlns:a16="http://schemas.microsoft.com/office/drawing/2014/main" val="1249888684"/>
                    </a:ext>
                  </a:extLst>
                </a:gridCol>
                <a:gridCol w="928848">
                  <a:extLst>
                    <a:ext uri="{9D8B030D-6E8A-4147-A177-3AD203B41FA5}">
                      <a16:colId xmlns:a16="http://schemas.microsoft.com/office/drawing/2014/main" val="1924365545"/>
                    </a:ext>
                  </a:extLst>
                </a:gridCol>
                <a:gridCol w="928848">
                  <a:extLst>
                    <a:ext uri="{9D8B030D-6E8A-4147-A177-3AD203B41FA5}">
                      <a16:colId xmlns:a16="http://schemas.microsoft.com/office/drawing/2014/main" val="841626826"/>
                    </a:ext>
                  </a:extLst>
                </a:gridCol>
                <a:gridCol w="928848">
                  <a:extLst>
                    <a:ext uri="{9D8B030D-6E8A-4147-A177-3AD203B41FA5}">
                      <a16:colId xmlns:a16="http://schemas.microsoft.com/office/drawing/2014/main" val="2853071776"/>
                    </a:ext>
                  </a:extLst>
                </a:gridCol>
              </a:tblGrid>
              <a:tr h="523020">
                <a:tc>
                  <a:txBody>
                    <a:bodyPr/>
                    <a:lstStyle/>
                    <a:p>
                      <a:pPr marL="0" marR="0" algn="just">
                        <a:lnSpc>
                          <a:spcPct val="115000"/>
                        </a:lnSpc>
                        <a:buNone/>
                      </a:pPr>
                      <a:r>
                        <a:rPr lang="en-US" sz="1200">
                          <a:effectLst/>
                        </a:rPr>
                        <a:t>Valid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Frequency</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Percent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Valid 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Cumulative Percent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90733075"/>
                  </a:ext>
                </a:extLst>
              </a:tr>
              <a:tr h="523020">
                <a:tc>
                  <a:txBody>
                    <a:bodyPr/>
                    <a:lstStyle/>
                    <a:p>
                      <a:pPr marL="0" marR="0" algn="just">
                        <a:lnSpc>
                          <a:spcPct val="115000"/>
                        </a:lnSpc>
                        <a:buNone/>
                      </a:pPr>
                      <a:r>
                        <a:rPr lang="en-US" sz="1200">
                          <a:effectLst/>
                        </a:rPr>
                        <a:t>APMC market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20.9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20.9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20.9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33951259"/>
                  </a:ext>
                </a:extLst>
              </a:tr>
              <a:tr h="1333109">
                <a:tc>
                  <a:txBody>
                    <a:bodyPr/>
                    <a:lstStyle/>
                    <a:p>
                      <a:pPr marL="0" marR="0" algn="just">
                        <a:lnSpc>
                          <a:spcPct val="115000"/>
                        </a:lnSpc>
                        <a:buNone/>
                      </a:pPr>
                      <a:r>
                        <a:rPr lang="en-US" sz="1200">
                          <a:effectLst/>
                        </a:rPr>
                        <a:t>Digital platforms (WhatsApp, Facebook etc.)</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40.0</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32990877"/>
                  </a:ext>
                </a:extLst>
              </a:tr>
              <a:tr h="523020">
                <a:tc>
                  <a:txBody>
                    <a:bodyPr/>
                    <a:lstStyle/>
                    <a:p>
                      <a:pPr marL="0" marR="0" algn="just">
                        <a:lnSpc>
                          <a:spcPct val="115000"/>
                        </a:lnSpc>
                        <a:buNone/>
                      </a:pPr>
                      <a:r>
                        <a:rPr lang="en-US" sz="1200">
                          <a:effectLst/>
                        </a:rPr>
                        <a:t>Direct to consumers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59.1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63087387"/>
                  </a:ext>
                </a:extLst>
              </a:tr>
              <a:tr h="523020">
                <a:tc>
                  <a:txBody>
                    <a:bodyPr/>
                    <a:lstStyle/>
                    <a:p>
                      <a:pPr marL="0" marR="0" algn="just">
                        <a:lnSpc>
                          <a:spcPct val="115000"/>
                        </a:lnSpc>
                        <a:buNone/>
                      </a:pPr>
                      <a:r>
                        <a:rPr lang="en-US" sz="1200">
                          <a:effectLst/>
                        </a:rPr>
                        <a:t>Retail shops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13.0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13.0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72.1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4899312"/>
                  </a:ext>
                </a:extLst>
              </a:tr>
              <a:tr h="793050">
                <a:tc>
                  <a:txBody>
                    <a:bodyPr/>
                    <a:lstStyle/>
                    <a:p>
                      <a:pPr marL="0" marR="0" algn="just">
                        <a:lnSpc>
                          <a:spcPct val="115000"/>
                        </a:lnSpc>
                        <a:buNone/>
                      </a:pPr>
                      <a:r>
                        <a:rPr lang="en-US" sz="1200">
                          <a:effectLst/>
                        </a:rPr>
                        <a:t>Through middlemen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32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27.9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27.9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27794099"/>
                  </a:ext>
                </a:extLst>
              </a:tr>
              <a:tr h="252991">
                <a:tc>
                  <a:txBody>
                    <a:bodyPr/>
                    <a:lstStyle/>
                    <a:p>
                      <a:pPr marL="0" marR="0" algn="just">
                        <a:lnSpc>
                          <a:spcPct val="115000"/>
                        </a:lnSpc>
                        <a:buNone/>
                      </a:pPr>
                      <a:r>
                        <a:rPr lang="en-US" sz="1200">
                          <a:effectLst/>
                        </a:rPr>
                        <a:t>Total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5739465"/>
                  </a:ext>
                </a:extLst>
              </a:tr>
            </a:tbl>
          </a:graphicData>
        </a:graphic>
      </p:graphicFrame>
      <p:graphicFrame>
        <p:nvGraphicFramePr>
          <p:cNvPr id="5" name="Chart 4">
            <a:extLst>
              <a:ext uri="{FF2B5EF4-FFF2-40B4-BE49-F238E27FC236}">
                <a16:creationId xmlns:a16="http://schemas.microsoft.com/office/drawing/2014/main" id="{7F7E4EF1-1D6D-1F6C-DC4D-FDF29B9E2899}"/>
              </a:ext>
            </a:extLst>
          </p:cNvPr>
          <p:cNvGraphicFramePr/>
          <p:nvPr>
            <p:extLst>
              <p:ext uri="{D42A27DB-BD31-4B8C-83A1-F6EECF244321}">
                <p14:modId xmlns:p14="http://schemas.microsoft.com/office/powerpoint/2010/main" val="882955352"/>
              </p:ext>
            </p:extLst>
          </p:nvPr>
        </p:nvGraphicFramePr>
        <p:xfrm>
          <a:off x="4789512" y="1885122"/>
          <a:ext cx="4274330" cy="230587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ABD7E429-E8E4-041E-E9E0-8E80E8136CE9}"/>
              </a:ext>
            </a:extLst>
          </p:cNvPr>
          <p:cNvGraphicFramePr/>
          <p:nvPr>
            <p:extLst>
              <p:ext uri="{D42A27DB-BD31-4B8C-83A1-F6EECF244321}">
                <p14:modId xmlns:p14="http://schemas.microsoft.com/office/powerpoint/2010/main" val="4167790288"/>
              </p:ext>
            </p:extLst>
          </p:nvPr>
        </p:nvGraphicFramePr>
        <p:xfrm>
          <a:off x="4775657" y="4238245"/>
          <a:ext cx="4288185" cy="21181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53014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AA9E-0186-9DD4-1AB5-AB149548F798}"/>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1C6BC7D4-4DE8-41C7-49DB-29D2CD534E57}"/>
              </a:ext>
            </a:extLst>
          </p:cNvPr>
          <p:cNvSpPr/>
          <p:nvPr/>
        </p:nvSpPr>
        <p:spPr>
          <a:xfrm>
            <a:off x="932688" y="274320"/>
            <a:ext cx="7680960" cy="603504"/>
          </a:xfrm>
          <a:prstGeom prst="rect">
            <a:avLst/>
          </a:prstGeom>
          <a:noFill/>
          <a:ln>
            <a:noFill/>
          </a:ln>
        </p:spPr>
        <p:txBody>
          <a:bodyPr wrap="square" lIns="0" tIns="45720" rIns="91440" bIns="18288" anchor="b">
            <a:normAutofit/>
          </a:bodyPr>
          <a:lstStyle/>
          <a:p>
            <a:r>
              <a:rPr lang="en-US" sz="3200" b="1" dirty="0">
                <a:solidFill>
                  <a:srgbClr val="1E5B3F"/>
                </a:solidFill>
                <a:latin typeface="Cambria"/>
                <a:cs typeface="Cambria"/>
              </a:rPr>
              <a:t>Objective 2 — Marketing Opportunities</a:t>
            </a:r>
          </a:p>
        </p:txBody>
      </p:sp>
      <p:sp>
        <p:nvSpPr>
          <p:cNvPr id="12" name="titleRule">
            <a:extLst>
              <a:ext uri="{FF2B5EF4-FFF2-40B4-BE49-F238E27FC236}">
                <a16:creationId xmlns:a16="http://schemas.microsoft.com/office/drawing/2014/main" id="{EEEA2899-65BF-5BF2-017A-21920AFBFF83}"/>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objtag">
            <a:extLst>
              <a:ext uri="{FF2B5EF4-FFF2-40B4-BE49-F238E27FC236}">
                <a16:creationId xmlns:a16="http://schemas.microsoft.com/office/drawing/2014/main" id="{B7C15F4F-2785-5F7C-F64B-3899B46DB21C}"/>
              </a:ext>
            </a:extLst>
          </p:cNvPr>
          <p:cNvSpPr/>
          <p:nvPr/>
        </p:nvSpPr>
        <p:spPr>
          <a:xfrm>
            <a:off x="76200" y="1083563"/>
            <a:ext cx="8991600" cy="670983"/>
          </a:xfrm>
          <a:prstGeom prst="roundRect">
            <a:avLst>
              <a:gd name="adj" fmla="val 6000"/>
            </a:avLst>
          </a:prstGeom>
          <a:solidFill>
            <a:srgbClr val="1E5B3F"/>
          </a:solidFill>
          <a:ln>
            <a:noFill/>
          </a:ln>
        </p:spPr>
        <p:txBody>
          <a:bodyPr wrap="square" lIns="146304" tIns="45720" rIns="91440" bIns="45720" anchor="ctr">
            <a:normAutofit fontScale="92500" lnSpcReduction="20000"/>
          </a:bodyPr>
          <a:lstStyle/>
          <a:p>
            <a:r>
              <a:rPr lang="en-US" sz="2400" b="1" dirty="0">
                <a:solidFill>
                  <a:srgbClr val="FFFFFF"/>
                </a:solidFill>
                <a:cs typeface="Calibri"/>
              </a:rPr>
              <a:t>To analyze the marketing opportunities available for rural farmers in agricultural marketing practices.</a:t>
            </a:r>
          </a:p>
        </p:txBody>
      </p:sp>
      <p:sp>
        <p:nvSpPr>
          <p:cNvPr id="17" name="cardbody">
            <a:extLst>
              <a:ext uri="{FF2B5EF4-FFF2-40B4-BE49-F238E27FC236}">
                <a16:creationId xmlns:a16="http://schemas.microsoft.com/office/drawing/2014/main" id="{70B71976-8CE0-59F3-21AC-E7C28E82141B}"/>
              </a:ext>
            </a:extLst>
          </p:cNvPr>
          <p:cNvSpPr/>
          <p:nvPr/>
        </p:nvSpPr>
        <p:spPr>
          <a:xfrm>
            <a:off x="15044" y="2684185"/>
            <a:ext cx="3231076" cy="3324802"/>
          </a:xfrm>
          <a:prstGeom prst="rect">
            <a:avLst/>
          </a:prstGeom>
          <a:noFill/>
          <a:ln>
            <a:noFill/>
          </a:ln>
        </p:spPr>
        <p:txBody>
          <a:bodyPr wrap="square" lIns="109728" tIns="45720" rIns="73152" bIns="45720" anchor="t">
            <a:noAutofit/>
          </a:bodyPr>
          <a:lstStyle/>
          <a:p>
            <a:pPr>
              <a:lnSpc>
                <a:spcPct val="104000"/>
              </a:lnSpc>
              <a:spcAft>
                <a:spcPts val="400"/>
              </a:spcAft>
              <a:buClr>
                <a:schemeClr val="tx1"/>
              </a:buClr>
            </a:pPr>
            <a:endParaRPr lang="en-US" sz="1600" dirty="0">
              <a:solidFill>
                <a:srgbClr val="3E463F"/>
              </a:solidFill>
              <a:latin typeface="Calibri Light"/>
              <a:cs typeface="Calibri Light"/>
            </a:endParaRPr>
          </a:p>
        </p:txBody>
      </p:sp>
      <p:sp>
        <p:nvSpPr>
          <p:cNvPr id="23" name="phlabel">
            <a:extLst>
              <a:ext uri="{FF2B5EF4-FFF2-40B4-BE49-F238E27FC236}">
                <a16:creationId xmlns:a16="http://schemas.microsoft.com/office/drawing/2014/main" id="{758389F9-D6E3-A7EE-F195-9DCD3CCE1E17}"/>
              </a:ext>
            </a:extLst>
          </p:cNvPr>
          <p:cNvSpPr/>
          <p:nvPr/>
        </p:nvSpPr>
        <p:spPr>
          <a:xfrm>
            <a:off x="4937760" y="1298448"/>
            <a:ext cx="3108960" cy="4096512"/>
          </a:xfrm>
          <a:prstGeom prst="rect">
            <a:avLst/>
          </a:prstGeom>
          <a:noFill/>
          <a:ln>
            <a:noFill/>
          </a:ln>
        </p:spPr>
        <p:txBody>
          <a:bodyPr wrap="square" lIns="91440" tIns="45720" rIns="91440" bIns="45720" anchor="ctr">
            <a:normAutofit/>
          </a:bodyPr>
          <a:lstStyle/>
          <a:p>
            <a:pPr marL="0" indent="0" algn="ctr">
              <a:lnSpc>
                <a:spcPct val="100000"/>
              </a:lnSpc>
              <a:spcAft>
                <a:spcPts val="600"/>
              </a:spcAft>
              <a:buNone/>
            </a:pPr>
            <a:endParaRPr lang="en-US" sz="1250" b="1" dirty="0">
              <a:solidFill>
                <a:srgbClr val="1E5B3F"/>
              </a:solidFill>
              <a:latin typeface="Calibri"/>
              <a:cs typeface="Calibri"/>
            </a:endParaRPr>
          </a:p>
        </p:txBody>
      </p:sp>
      <p:sp>
        <p:nvSpPr>
          <p:cNvPr id="60" name="Date Placeholder">
            <a:extLst>
              <a:ext uri="{FF2B5EF4-FFF2-40B4-BE49-F238E27FC236}">
                <a16:creationId xmlns:a16="http://schemas.microsoft.com/office/drawing/2014/main" id="{7C355547-4410-14E7-F2AE-EE6E4EC94592}"/>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7E632ABC-7548-1616-1BF0-19C8E622C4C7}"/>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C10F0151-0E88-7F54-FF11-C5B3B8431D26}"/>
              </a:ext>
            </a:extLst>
          </p:cNvPr>
          <p:cNvSpPr>
            <a:spLocks noGrp="1"/>
          </p:cNvSpPr>
          <p:nvPr>
            <p:ph type="sldNum" sz="quarter" idx="12"/>
          </p:nvPr>
        </p:nvSpPr>
        <p:spPr/>
        <p:txBody>
          <a:bodyPr/>
          <a:lstStyle/>
          <a:p>
            <a:fld id="{B6F15528-21DE-4FAA-801E-634DDDAF4B2B}" type="slidenum">
              <a:rPr lang="en-US" smtClean="0"/>
              <a:pPr/>
              <a:t>11</a:t>
            </a:fld>
            <a:endParaRPr lang="en-US"/>
          </a:p>
        </p:txBody>
      </p:sp>
      <p:graphicFrame>
        <p:nvGraphicFramePr>
          <p:cNvPr id="2" name="Table 1">
            <a:extLst>
              <a:ext uri="{FF2B5EF4-FFF2-40B4-BE49-F238E27FC236}">
                <a16:creationId xmlns:a16="http://schemas.microsoft.com/office/drawing/2014/main" id="{55C705FF-2E91-9D02-D389-8E01262F11C3}"/>
              </a:ext>
            </a:extLst>
          </p:cNvPr>
          <p:cNvGraphicFramePr>
            <a:graphicFrameLocks noGrp="1"/>
          </p:cNvGraphicFramePr>
          <p:nvPr>
            <p:extLst>
              <p:ext uri="{D42A27DB-BD31-4B8C-83A1-F6EECF244321}">
                <p14:modId xmlns:p14="http://schemas.microsoft.com/office/powerpoint/2010/main" val="575581739"/>
              </p:ext>
            </p:extLst>
          </p:nvPr>
        </p:nvGraphicFramePr>
        <p:xfrm>
          <a:off x="76200" y="1839215"/>
          <a:ext cx="5638800" cy="4540990"/>
        </p:xfrm>
        <a:graphic>
          <a:graphicData uri="http://schemas.openxmlformats.org/drawingml/2006/table">
            <a:tbl>
              <a:tblPr firstRow="1" firstCol="1" bandRow="1">
                <a:tableStyleId>{5C22544A-7EE6-4342-B048-85BDC9FD1C3A}</a:tableStyleId>
              </a:tblPr>
              <a:tblGrid>
                <a:gridCol w="1127760">
                  <a:extLst>
                    <a:ext uri="{9D8B030D-6E8A-4147-A177-3AD203B41FA5}">
                      <a16:colId xmlns:a16="http://schemas.microsoft.com/office/drawing/2014/main" val="1301715630"/>
                    </a:ext>
                  </a:extLst>
                </a:gridCol>
                <a:gridCol w="1127760">
                  <a:extLst>
                    <a:ext uri="{9D8B030D-6E8A-4147-A177-3AD203B41FA5}">
                      <a16:colId xmlns:a16="http://schemas.microsoft.com/office/drawing/2014/main" val="2210899323"/>
                    </a:ext>
                  </a:extLst>
                </a:gridCol>
                <a:gridCol w="1127760">
                  <a:extLst>
                    <a:ext uri="{9D8B030D-6E8A-4147-A177-3AD203B41FA5}">
                      <a16:colId xmlns:a16="http://schemas.microsoft.com/office/drawing/2014/main" val="391908830"/>
                    </a:ext>
                  </a:extLst>
                </a:gridCol>
                <a:gridCol w="1127760">
                  <a:extLst>
                    <a:ext uri="{9D8B030D-6E8A-4147-A177-3AD203B41FA5}">
                      <a16:colId xmlns:a16="http://schemas.microsoft.com/office/drawing/2014/main" val="3968607523"/>
                    </a:ext>
                  </a:extLst>
                </a:gridCol>
                <a:gridCol w="1127760">
                  <a:extLst>
                    <a:ext uri="{9D8B030D-6E8A-4147-A177-3AD203B41FA5}">
                      <a16:colId xmlns:a16="http://schemas.microsoft.com/office/drawing/2014/main" val="4225659622"/>
                    </a:ext>
                  </a:extLst>
                </a:gridCol>
              </a:tblGrid>
              <a:tr h="236145">
                <a:tc>
                  <a:txBody>
                    <a:bodyPr/>
                    <a:lstStyle/>
                    <a:p>
                      <a:pPr marL="0" marR="0" algn="just">
                        <a:lnSpc>
                          <a:spcPct val="115000"/>
                        </a:lnSpc>
                        <a:buNone/>
                      </a:pPr>
                      <a:r>
                        <a:rPr lang="en-US" sz="900" dirty="0">
                          <a:effectLst/>
                        </a:rPr>
                        <a:t>Valid</a:t>
                      </a:r>
                      <a:endParaRPr lang="en-US"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Frequency</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Percent</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Valid Percent</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Cumulative Percent</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45559635"/>
                  </a:ext>
                </a:extLst>
              </a:tr>
              <a:tr h="114207">
                <a:tc>
                  <a:txBody>
                    <a:bodyPr/>
                    <a:lstStyle/>
                    <a:p>
                      <a:pPr marL="0" marR="0" algn="just">
                        <a:lnSpc>
                          <a:spcPct val="115000"/>
                        </a:lnSpc>
                        <a:buNone/>
                      </a:pPr>
                      <a:r>
                        <a:rPr lang="en-US" sz="900">
                          <a:effectLst/>
                        </a:rPr>
                        <a:t>Better demand</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0.9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0.9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0.9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318728184"/>
                  </a:ext>
                </a:extLst>
              </a:tr>
              <a:tr h="212553">
                <a:tc>
                  <a:txBody>
                    <a:bodyPr/>
                    <a:lstStyle/>
                    <a:p>
                      <a:pPr marL="0" marR="0" algn="just">
                        <a:lnSpc>
                          <a:spcPct val="115000"/>
                        </a:lnSpc>
                        <a:buNone/>
                      </a:pPr>
                      <a:r>
                        <a:rPr lang="en-US" sz="900">
                          <a:effectLst/>
                        </a:rPr>
                        <a:t>Better demand; Higher profit</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15</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13.0</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13.0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13.9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1818194685"/>
                  </a:ext>
                </a:extLst>
              </a:tr>
              <a:tr h="114207">
                <a:tc>
                  <a:txBody>
                    <a:bodyPr/>
                    <a:lstStyle/>
                    <a:p>
                      <a:pPr marL="0" marR="0" algn="just">
                        <a:lnSpc>
                          <a:spcPct val="115000"/>
                        </a:lnSpc>
                        <a:buNone/>
                      </a:pPr>
                      <a:r>
                        <a:rPr lang="en-US" sz="900">
                          <a:effectLst/>
                        </a:rPr>
                        <a:t>Better price control</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15.6</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2187818719"/>
                  </a:ext>
                </a:extLst>
              </a:tr>
              <a:tr h="322297">
                <a:tc>
                  <a:txBody>
                    <a:bodyPr/>
                    <a:lstStyle/>
                    <a:p>
                      <a:pPr marL="0" marR="0" algn="just">
                        <a:lnSpc>
                          <a:spcPct val="115000"/>
                        </a:lnSpc>
                        <a:buNone/>
                      </a:pPr>
                      <a:r>
                        <a:rPr lang="en-US" sz="900" dirty="0">
                          <a:effectLst/>
                        </a:rPr>
                        <a:t>Better price control; Direct customer relationship</a:t>
                      </a:r>
                      <a:endParaRPr lang="en-US"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2</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1.7</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17.3</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342504681"/>
                  </a:ext>
                </a:extLst>
              </a:tr>
              <a:tr h="219313">
                <a:tc>
                  <a:txBody>
                    <a:bodyPr/>
                    <a:lstStyle/>
                    <a:p>
                      <a:pPr marL="0" marR="0" algn="just">
                        <a:lnSpc>
                          <a:spcPct val="115000"/>
                        </a:lnSpc>
                        <a:buNone/>
                      </a:pPr>
                      <a:r>
                        <a:rPr lang="en-US" sz="900">
                          <a:effectLst/>
                        </a:rPr>
                        <a:t>Better price control; Immediate payment</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3</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2.6</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2.6</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19.9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2547541909"/>
                  </a:ext>
                </a:extLst>
              </a:tr>
              <a:tr h="212553">
                <a:tc>
                  <a:txBody>
                    <a:bodyPr/>
                    <a:lstStyle/>
                    <a:p>
                      <a:pPr marL="0" marR="0" algn="just">
                        <a:lnSpc>
                          <a:spcPct val="115000"/>
                        </a:lnSpc>
                        <a:buNone/>
                      </a:pPr>
                      <a:r>
                        <a:rPr lang="en-US" sz="900">
                          <a:effectLst/>
                        </a:rPr>
                        <a:t>Direct customer relationship</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6.1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6.1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26.0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3347945404"/>
                  </a:ext>
                </a:extLst>
              </a:tr>
              <a:tr h="322297">
                <a:tc>
                  <a:txBody>
                    <a:bodyPr/>
                    <a:lstStyle/>
                    <a:p>
                      <a:pPr marL="0" marR="0" algn="just">
                        <a:lnSpc>
                          <a:spcPct val="115000"/>
                        </a:lnSpc>
                        <a:buNone/>
                      </a:pPr>
                      <a:r>
                        <a:rPr lang="en-US" sz="900">
                          <a:effectLst/>
                        </a:rPr>
                        <a:t>Direct customer relationship; Immediate payment</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16</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13.9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13.9</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39.9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3232106676"/>
                  </a:ext>
                </a:extLst>
              </a:tr>
              <a:tr h="212553">
                <a:tc>
                  <a:txBody>
                    <a:bodyPr/>
                    <a:lstStyle/>
                    <a:p>
                      <a:pPr marL="0" marR="0" algn="just">
                        <a:lnSpc>
                          <a:spcPct val="115000"/>
                        </a:lnSpc>
                        <a:buNone/>
                      </a:pPr>
                      <a:r>
                        <a:rPr lang="en-US" sz="900">
                          <a:effectLst/>
                        </a:rPr>
                        <a:t>Higher profit; Better demand</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13</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11.3</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11.3</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51.2</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2427634495"/>
                  </a:ext>
                </a:extLst>
              </a:tr>
              <a:tr h="212553">
                <a:tc>
                  <a:txBody>
                    <a:bodyPr/>
                    <a:lstStyle/>
                    <a:p>
                      <a:pPr marL="0" marR="0" algn="just">
                        <a:lnSpc>
                          <a:spcPct val="115000"/>
                        </a:lnSpc>
                        <a:buNone/>
                      </a:pPr>
                      <a:r>
                        <a:rPr lang="en-US" sz="900">
                          <a:effectLst/>
                        </a:rPr>
                        <a:t>Higher profit; Better price control</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8</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7.0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7.0</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58.2</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1047096273"/>
                  </a:ext>
                </a:extLst>
              </a:tr>
              <a:tr h="322297">
                <a:tc>
                  <a:txBody>
                    <a:bodyPr/>
                    <a:lstStyle/>
                    <a:p>
                      <a:pPr marL="0" marR="0" algn="just">
                        <a:lnSpc>
                          <a:spcPct val="115000"/>
                        </a:lnSpc>
                        <a:buNone/>
                      </a:pPr>
                      <a:r>
                        <a:rPr lang="en-US" sz="900">
                          <a:effectLst/>
                        </a:rPr>
                        <a:t>Higher profit; Direct customer relationship</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8</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7.0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7.0</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65.2</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1914666614"/>
                  </a:ext>
                </a:extLst>
              </a:tr>
              <a:tr h="212553">
                <a:tc>
                  <a:txBody>
                    <a:bodyPr/>
                    <a:lstStyle/>
                    <a:p>
                      <a:pPr marL="0" marR="0" algn="just">
                        <a:lnSpc>
                          <a:spcPct val="115000"/>
                        </a:lnSpc>
                        <a:buNone/>
                      </a:pPr>
                      <a:r>
                        <a:rPr lang="en-US" sz="900">
                          <a:effectLst/>
                        </a:rPr>
                        <a:t>Higher profit; Immediate payment</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6.1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6.1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71.3</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2294497590"/>
                  </a:ext>
                </a:extLst>
              </a:tr>
              <a:tr h="114207">
                <a:tc>
                  <a:txBody>
                    <a:bodyPr/>
                    <a:lstStyle/>
                    <a:p>
                      <a:pPr marL="0" marR="0" algn="just">
                        <a:lnSpc>
                          <a:spcPct val="115000"/>
                        </a:lnSpc>
                        <a:buNone/>
                      </a:pPr>
                      <a:r>
                        <a:rPr lang="en-US" sz="900">
                          <a:effectLst/>
                        </a:rPr>
                        <a:t>Immediate payment</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27</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23.5</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23.5</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94.8</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98432709"/>
                  </a:ext>
                </a:extLst>
              </a:tr>
              <a:tr h="322297">
                <a:tc>
                  <a:txBody>
                    <a:bodyPr/>
                    <a:lstStyle/>
                    <a:p>
                      <a:pPr marL="0" marR="0" algn="just">
                        <a:lnSpc>
                          <a:spcPct val="115000"/>
                        </a:lnSpc>
                        <a:buNone/>
                      </a:pPr>
                      <a:r>
                        <a:rPr lang="en-US" sz="900">
                          <a:effectLst/>
                        </a:rPr>
                        <a:t>Immediate payment; Better demand</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6</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5.2</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5.2</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100.0</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270529177"/>
                  </a:ext>
                </a:extLst>
              </a:tr>
              <a:tr h="114207">
                <a:tc>
                  <a:txBody>
                    <a:bodyPr/>
                    <a:lstStyle/>
                    <a:p>
                      <a:pPr marL="0" marR="0" algn="just">
                        <a:lnSpc>
                          <a:spcPct val="115000"/>
                        </a:lnSpc>
                        <a:buNone/>
                      </a:pPr>
                      <a:r>
                        <a:rPr lang="en-US" sz="900">
                          <a:effectLst/>
                        </a:rPr>
                        <a:t>Total</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115</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100.0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a:effectLst/>
                        </a:rPr>
                        <a:t>100.0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tc>
                  <a:txBody>
                    <a:bodyPr/>
                    <a:lstStyle/>
                    <a:p>
                      <a:pPr marL="0" marR="0" algn="just">
                        <a:lnSpc>
                          <a:spcPct val="115000"/>
                        </a:lnSpc>
                        <a:buNone/>
                      </a:pPr>
                      <a:r>
                        <a:rPr lang="en-US" sz="1000" dirty="0">
                          <a:effectLst/>
                        </a:rPr>
                        <a:t>—</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204" marR="57204" marT="0" marB="0"/>
                </a:tc>
                <a:extLst>
                  <a:ext uri="{0D108BD9-81ED-4DB2-BD59-A6C34878D82A}">
                    <a16:rowId xmlns:a16="http://schemas.microsoft.com/office/drawing/2014/main" val="454201354"/>
                  </a:ext>
                </a:extLst>
              </a:tr>
            </a:tbl>
          </a:graphicData>
        </a:graphic>
      </p:graphicFrame>
      <p:graphicFrame>
        <p:nvGraphicFramePr>
          <p:cNvPr id="3" name="Chart 2">
            <a:extLst>
              <a:ext uri="{FF2B5EF4-FFF2-40B4-BE49-F238E27FC236}">
                <a16:creationId xmlns:a16="http://schemas.microsoft.com/office/drawing/2014/main" id="{38E979EB-FD3F-7828-55AA-9D70B6C4072F}"/>
              </a:ext>
            </a:extLst>
          </p:cNvPr>
          <p:cNvGraphicFramePr/>
          <p:nvPr>
            <p:extLst>
              <p:ext uri="{D42A27DB-BD31-4B8C-83A1-F6EECF244321}">
                <p14:modId xmlns:p14="http://schemas.microsoft.com/office/powerpoint/2010/main" val="3151974531"/>
              </p:ext>
            </p:extLst>
          </p:nvPr>
        </p:nvGraphicFramePr>
        <p:xfrm>
          <a:off x="5815820" y="1862808"/>
          <a:ext cx="3251980" cy="20995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A1A8283-270F-599D-4A26-737ADB9091B4}"/>
              </a:ext>
            </a:extLst>
          </p:cNvPr>
          <p:cNvGraphicFramePr/>
          <p:nvPr>
            <p:extLst>
              <p:ext uri="{D42A27DB-BD31-4B8C-83A1-F6EECF244321}">
                <p14:modId xmlns:p14="http://schemas.microsoft.com/office/powerpoint/2010/main" val="3983371554"/>
              </p:ext>
            </p:extLst>
          </p:nvPr>
        </p:nvGraphicFramePr>
        <p:xfrm>
          <a:off x="5815820" y="4023360"/>
          <a:ext cx="3251980" cy="23568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56721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E2C9D-1687-E16E-BAE4-B13B5C1B3DCC}"/>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589D904F-40FF-3D21-C7CB-8AE3DDC8B460}"/>
              </a:ext>
            </a:extLst>
          </p:cNvPr>
          <p:cNvSpPr/>
          <p:nvPr/>
        </p:nvSpPr>
        <p:spPr>
          <a:xfrm>
            <a:off x="932688" y="274320"/>
            <a:ext cx="7680960" cy="603504"/>
          </a:xfrm>
          <a:prstGeom prst="rect">
            <a:avLst/>
          </a:prstGeom>
          <a:noFill/>
          <a:ln>
            <a:noFill/>
          </a:ln>
        </p:spPr>
        <p:txBody>
          <a:bodyPr wrap="square" lIns="0" tIns="45720" rIns="91440" bIns="18288" anchor="b">
            <a:normAutofit/>
          </a:bodyPr>
          <a:lstStyle/>
          <a:p>
            <a:r>
              <a:rPr lang="en-US" sz="3200" b="1" dirty="0">
                <a:solidFill>
                  <a:srgbClr val="1E5B3F"/>
                </a:solidFill>
                <a:latin typeface="Cambria"/>
                <a:cs typeface="Cambria"/>
              </a:rPr>
              <a:t>Objective 3 — Role of Digital Marketing</a:t>
            </a:r>
          </a:p>
        </p:txBody>
      </p:sp>
      <p:sp>
        <p:nvSpPr>
          <p:cNvPr id="12" name="titleRule">
            <a:extLst>
              <a:ext uri="{FF2B5EF4-FFF2-40B4-BE49-F238E27FC236}">
                <a16:creationId xmlns:a16="http://schemas.microsoft.com/office/drawing/2014/main" id="{0162BEFB-C6D1-9374-D136-8A447F280DFA}"/>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objtag">
            <a:extLst>
              <a:ext uri="{FF2B5EF4-FFF2-40B4-BE49-F238E27FC236}">
                <a16:creationId xmlns:a16="http://schemas.microsoft.com/office/drawing/2014/main" id="{DB585B51-C61B-B760-CB9C-A9E0A52646B2}"/>
              </a:ext>
            </a:extLst>
          </p:cNvPr>
          <p:cNvSpPr/>
          <p:nvPr/>
        </p:nvSpPr>
        <p:spPr>
          <a:xfrm>
            <a:off x="76200" y="1083563"/>
            <a:ext cx="8991600" cy="670983"/>
          </a:xfrm>
          <a:prstGeom prst="roundRect">
            <a:avLst>
              <a:gd name="adj" fmla="val 6000"/>
            </a:avLst>
          </a:prstGeom>
          <a:solidFill>
            <a:srgbClr val="1E5B3F"/>
          </a:solidFill>
          <a:ln>
            <a:noFill/>
          </a:ln>
        </p:spPr>
        <p:txBody>
          <a:bodyPr wrap="square" lIns="146304" tIns="45720" rIns="91440" bIns="45720" anchor="ctr">
            <a:normAutofit fontScale="92500"/>
          </a:bodyPr>
          <a:lstStyle/>
          <a:p>
            <a:r>
              <a:rPr lang="en-US" sz="2400" b="1" dirty="0">
                <a:solidFill>
                  <a:srgbClr val="FFFFFF"/>
                </a:solidFill>
                <a:cs typeface="Calibri"/>
              </a:rPr>
              <a:t>To analyze the role of digital marketing in promoting agricultural products.</a:t>
            </a:r>
          </a:p>
        </p:txBody>
      </p:sp>
      <p:sp>
        <p:nvSpPr>
          <p:cNvPr id="17" name="cardbody">
            <a:extLst>
              <a:ext uri="{FF2B5EF4-FFF2-40B4-BE49-F238E27FC236}">
                <a16:creationId xmlns:a16="http://schemas.microsoft.com/office/drawing/2014/main" id="{1B1B777B-2E8C-E447-F36C-0A32B7147932}"/>
              </a:ext>
            </a:extLst>
          </p:cNvPr>
          <p:cNvSpPr/>
          <p:nvPr/>
        </p:nvSpPr>
        <p:spPr>
          <a:xfrm>
            <a:off x="15044" y="2684185"/>
            <a:ext cx="3231076" cy="3324802"/>
          </a:xfrm>
          <a:prstGeom prst="rect">
            <a:avLst/>
          </a:prstGeom>
          <a:noFill/>
          <a:ln>
            <a:noFill/>
          </a:ln>
        </p:spPr>
        <p:txBody>
          <a:bodyPr wrap="square" lIns="109728" tIns="45720" rIns="73152" bIns="45720" anchor="t">
            <a:noAutofit/>
          </a:bodyPr>
          <a:lstStyle/>
          <a:p>
            <a:pPr>
              <a:lnSpc>
                <a:spcPct val="104000"/>
              </a:lnSpc>
              <a:spcAft>
                <a:spcPts val="400"/>
              </a:spcAft>
              <a:buClr>
                <a:schemeClr val="tx1"/>
              </a:buClr>
            </a:pPr>
            <a:endParaRPr lang="en-US" sz="1600" dirty="0">
              <a:solidFill>
                <a:srgbClr val="3E463F"/>
              </a:solidFill>
              <a:latin typeface="Calibri Light"/>
              <a:cs typeface="Calibri Light"/>
            </a:endParaRPr>
          </a:p>
        </p:txBody>
      </p:sp>
      <p:sp>
        <p:nvSpPr>
          <p:cNvPr id="23" name="phlabel">
            <a:extLst>
              <a:ext uri="{FF2B5EF4-FFF2-40B4-BE49-F238E27FC236}">
                <a16:creationId xmlns:a16="http://schemas.microsoft.com/office/drawing/2014/main" id="{DDA98491-D0D9-358B-2EF9-7D07D59CD476}"/>
              </a:ext>
            </a:extLst>
          </p:cNvPr>
          <p:cNvSpPr/>
          <p:nvPr/>
        </p:nvSpPr>
        <p:spPr>
          <a:xfrm>
            <a:off x="4937760" y="1298448"/>
            <a:ext cx="3108960" cy="4096512"/>
          </a:xfrm>
          <a:prstGeom prst="rect">
            <a:avLst/>
          </a:prstGeom>
          <a:noFill/>
          <a:ln>
            <a:noFill/>
          </a:ln>
        </p:spPr>
        <p:txBody>
          <a:bodyPr wrap="square" lIns="91440" tIns="45720" rIns="91440" bIns="45720" anchor="ctr">
            <a:normAutofit/>
          </a:bodyPr>
          <a:lstStyle/>
          <a:p>
            <a:pPr marL="0" indent="0" algn="ctr">
              <a:lnSpc>
                <a:spcPct val="100000"/>
              </a:lnSpc>
              <a:spcAft>
                <a:spcPts val="600"/>
              </a:spcAft>
              <a:buNone/>
            </a:pPr>
            <a:endParaRPr lang="en-US" sz="1250" b="1" dirty="0">
              <a:solidFill>
                <a:srgbClr val="1E5B3F"/>
              </a:solidFill>
              <a:latin typeface="Calibri"/>
              <a:cs typeface="Calibri"/>
            </a:endParaRPr>
          </a:p>
        </p:txBody>
      </p:sp>
      <p:sp>
        <p:nvSpPr>
          <p:cNvPr id="60" name="Date Placeholder">
            <a:extLst>
              <a:ext uri="{FF2B5EF4-FFF2-40B4-BE49-F238E27FC236}">
                <a16:creationId xmlns:a16="http://schemas.microsoft.com/office/drawing/2014/main" id="{A86ADE1D-CF5C-C6AB-CA36-6E24719B2594}"/>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BB0B0135-D695-B1AB-E9EB-AB44B32CB0A5}"/>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0F5B8970-90A1-B349-C3A7-3C0979E5F809}"/>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4" name="Table 3">
            <a:extLst>
              <a:ext uri="{FF2B5EF4-FFF2-40B4-BE49-F238E27FC236}">
                <a16:creationId xmlns:a16="http://schemas.microsoft.com/office/drawing/2014/main" id="{DF348512-1104-CF4A-48B7-A80C417C4027}"/>
              </a:ext>
            </a:extLst>
          </p:cNvPr>
          <p:cNvGraphicFramePr>
            <a:graphicFrameLocks noGrp="1"/>
          </p:cNvGraphicFramePr>
          <p:nvPr>
            <p:extLst>
              <p:ext uri="{D42A27DB-BD31-4B8C-83A1-F6EECF244321}">
                <p14:modId xmlns:p14="http://schemas.microsoft.com/office/powerpoint/2010/main" val="1224520944"/>
              </p:ext>
            </p:extLst>
          </p:nvPr>
        </p:nvGraphicFramePr>
        <p:xfrm>
          <a:off x="88076" y="1863816"/>
          <a:ext cx="4694710" cy="2089524"/>
        </p:xfrm>
        <a:graphic>
          <a:graphicData uri="http://schemas.openxmlformats.org/drawingml/2006/table">
            <a:tbl>
              <a:tblPr firstRow="1" firstCol="1" bandRow="1">
                <a:tableStyleId>{5C22544A-7EE6-4342-B048-85BDC9FD1C3A}</a:tableStyleId>
              </a:tblPr>
              <a:tblGrid>
                <a:gridCol w="938942">
                  <a:extLst>
                    <a:ext uri="{9D8B030D-6E8A-4147-A177-3AD203B41FA5}">
                      <a16:colId xmlns:a16="http://schemas.microsoft.com/office/drawing/2014/main" val="2057886889"/>
                    </a:ext>
                  </a:extLst>
                </a:gridCol>
                <a:gridCol w="938942">
                  <a:extLst>
                    <a:ext uri="{9D8B030D-6E8A-4147-A177-3AD203B41FA5}">
                      <a16:colId xmlns:a16="http://schemas.microsoft.com/office/drawing/2014/main" val="3997439239"/>
                    </a:ext>
                  </a:extLst>
                </a:gridCol>
                <a:gridCol w="938942">
                  <a:extLst>
                    <a:ext uri="{9D8B030D-6E8A-4147-A177-3AD203B41FA5}">
                      <a16:colId xmlns:a16="http://schemas.microsoft.com/office/drawing/2014/main" val="2339139931"/>
                    </a:ext>
                  </a:extLst>
                </a:gridCol>
                <a:gridCol w="938942">
                  <a:extLst>
                    <a:ext uri="{9D8B030D-6E8A-4147-A177-3AD203B41FA5}">
                      <a16:colId xmlns:a16="http://schemas.microsoft.com/office/drawing/2014/main" val="4221462130"/>
                    </a:ext>
                  </a:extLst>
                </a:gridCol>
                <a:gridCol w="938942">
                  <a:extLst>
                    <a:ext uri="{9D8B030D-6E8A-4147-A177-3AD203B41FA5}">
                      <a16:colId xmlns:a16="http://schemas.microsoft.com/office/drawing/2014/main" val="985478870"/>
                    </a:ext>
                  </a:extLst>
                </a:gridCol>
              </a:tblGrid>
              <a:tr h="763455">
                <a:tc>
                  <a:txBody>
                    <a:bodyPr/>
                    <a:lstStyle/>
                    <a:p>
                      <a:pPr marL="0" marR="0" algn="just">
                        <a:lnSpc>
                          <a:spcPct val="115000"/>
                        </a:lnSpc>
                        <a:buNone/>
                      </a:pPr>
                      <a:r>
                        <a:rPr lang="en-US" sz="1200">
                          <a:effectLst/>
                        </a:rPr>
                        <a:t>Valid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Frequency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Valid 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Cumulative Percent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3874825"/>
                  </a:ext>
                </a:extLst>
              </a:tr>
              <a:tr h="442023">
                <a:tc>
                  <a:txBody>
                    <a:bodyPr/>
                    <a:lstStyle/>
                    <a:p>
                      <a:pPr marL="0" marR="0" algn="just">
                        <a:lnSpc>
                          <a:spcPct val="115000"/>
                        </a:lnSpc>
                        <a:buNone/>
                      </a:pPr>
                      <a:r>
                        <a:rPr lang="en-US" sz="1200">
                          <a:effectLst/>
                        </a:rPr>
                        <a:t>No</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34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27456932"/>
                  </a:ext>
                </a:extLst>
              </a:tr>
              <a:tr h="442023">
                <a:tc>
                  <a:txBody>
                    <a:bodyPr/>
                    <a:lstStyle/>
                    <a:p>
                      <a:pPr marL="0" marR="0" algn="just">
                        <a:lnSpc>
                          <a:spcPct val="115000"/>
                        </a:lnSpc>
                        <a:buNone/>
                      </a:pPr>
                      <a:r>
                        <a:rPr lang="en-US" sz="1200">
                          <a:effectLst/>
                        </a:rPr>
                        <a:t>Yes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81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70.4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70.4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100.0</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95323414"/>
                  </a:ext>
                </a:extLst>
              </a:tr>
              <a:tr h="442023">
                <a:tc>
                  <a:txBody>
                    <a:bodyPr/>
                    <a:lstStyle/>
                    <a:p>
                      <a:pPr marL="0" marR="0" algn="just">
                        <a:lnSpc>
                          <a:spcPct val="115000"/>
                        </a:lnSpc>
                        <a:buNone/>
                      </a:pPr>
                      <a:r>
                        <a:rPr lang="en-US" sz="1200">
                          <a:effectLst/>
                        </a:rPr>
                        <a:t>Total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16366049"/>
                  </a:ext>
                </a:extLst>
              </a:tr>
            </a:tbl>
          </a:graphicData>
        </a:graphic>
      </p:graphicFrame>
      <p:graphicFrame>
        <p:nvGraphicFramePr>
          <p:cNvPr id="5" name="Chart 4">
            <a:extLst>
              <a:ext uri="{FF2B5EF4-FFF2-40B4-BE49-F238E27FC236}">
                <a16:creationId xmlns:a16="http://schemas.microsoft.com/office/drawing/2014/main" id="{A6E86935-5E16-456D-9879-725542B390CC}"/>
              </a:ext>
            </a:extLst>
          </p:cNvPr>
          <p:cNvGraphicFramePr/>
          <p:nvPr>
            <p:extLst>
              <p:ext uri="{D42A27DB-BD31-4B8C-83A1-F6EECF244321}">
                <p14:modId xmlns:p14="http://schemas.microsoft.com/office/powerpoint/2010/main" val="3925109217"/>
              </p:ext>
            </p:extLst>
          </p:nvPr>
        </p:nvGraphicFramePr>
        <p:xfrm>
          <a:off x="4958542" y="1824566"/>
          <a:ext cx="4097382" cy="21287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a:extLst>
              <a:ext uri="{FF2B5EF4-FFF2-40B4-BE49-F238E27FC236}">
                <a16:creationId xmlns:a16="http://schemas.microsoft.com/office/drawing/2014/main" id="{41958FEE-9F8F-D61C-B6BA-1602DF5A9AE4}"/>
              </a:ext>
            </a:extLst>
          </p:cNvPr>
          <p:cNvGraphicFramePr>
            <a:graphicFrameLocks noGrp="1"/>
          </p:cNvGraphicFramePr>
          <p:nvPr>
            <p:extLst>
              <p:ext uri="{D42A27DB-BD31-4B8C-83A1-F6EECF244321}">
                <p14:modId xmlns:p14="http://schemas.microsoft.com/office/powerpoint/2010/main" val="4198079109"/>
              </p:ext>
            </p:extLst>
          </p:nvPr>
        </p:nvGraphicFramePr>
        <p:xfrm>
          <a:off x="88076" y="4090240"/>
          <a:ext cx="4694710" cy="2099861"/>
        </p:xfrm>
        <a:graphic>
          <a:graphicData uri="http://schemas.openxmlformats.org/drawingml/2006/table">
            <a:tbl>
              <a:tblPr firstRow="1" firstCol="1" bandRow="1">
                <a:tableStyleId>{5C22544A-7EE6-4342-B048-85BDC9FD1C3A}</a:tableStyleId>
              </a:tblPr>
              <a:tblGrid>
                <a:gridCol w="938942">
                  <a:extLst>
                    <a:ext uri="{9D8B030D-6E8A-4147-A177-3AD203B41FA5}">
                      <a16:colId xmlns:a16="http://schemas.microsoft.com/office/drawing/2014/main" val="3995875904"/>
                    </a:ext>
                  </a:extLst>
                </a:gridCol>
                <a:gridCol w="938942">
                  <a:extLst>
                    <a:ext uri="{9D8B030D-6E8A-4147-A177-3AD203B41FA5}">
                      <a16:colId xmlns:a16="http://schemas.microsoft.com/office/drawing/2014/main" val="3635227317"/>
                    </a:ext>
                  </a:extLst>
                </a:gridCol>
                <a:gridCol w="938942">
                  <a:extLst>
                    <a:ext uri="{9D8B030D-6E8A-4147-A177-3AD203B41FA5}">
                      <a16:colId xmlns:a16="http://schemas.microsoft.com/office/drawing/2014/main" val="411656484"/>
                    </a:ext>
                  </a:extLst>
                </a:gridCol>
                <a:gridCol w="938942">
                  <a:extLst>
                    <a:ext uri="{9D8B030D-6E8A-4147-A177-3AD203B41FA5}">
                      <a16:colId xmlns:a16="http://schemas.microsoft.com/office/drawing/2014/main" val="3207793365"/>
                    </a:ext>
                  </a:extLst>
                </a:gridCol>
                <a:gridCol w="938942">
                  <a:extLst>
                    <a:ext uri="{9D8B030D-6E8A-4147-A177-3AD203B41FA5}">
                      <a16:colId xmlns:a16="http://schemas.microsoft.com/office/drawing/2014/main" val="2949246534"/>
                    </a:ext>
                  </a:extLst>
                </a:gridCol>
              </a:tblGrid>
              <a:tr h="370773">
                <a:tc>
                  <a:txBody>
                    <a:bodyPr/>
                    <a:lstStyle/>
                    <a:p>
                      <a:pPr marL="0" marR="0" algn="just">
                        <a:lnSpc>
                          <a:spcPct val="115000"/>
                        </a:lnSpc>
                        <a:buNone/>
                      </a:pPr>
                      <a:r>
                        <a:rPr lang="en-US" sz="1200">
                          <a:effectLst/>
                        </a:rPr>
                        <a:t>Valid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Frequency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Valid 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Cumulative Percent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34752111"/>
                  </a:ext>
                </a:extLst>
              </a:tr>
              <a:tr h="257031">
                <a:tc>
                  <a:txBody>
                    <a:bodyPr/>
                    <a:lstStyle/>
                    <a:p>
                      <a:pPr marL="0" marR="0" algn="just">
                        <a:lnSpc>
                          <a:spcPct val="115000"/>
                        </a:lnSpc>
                        <a:buNone/>
                      </a:pPr>
                      <a:r>
                        <a:rPr lang="en-US" sz="1200">
                          <a:effectLst/>
                        </a:rPr>
                        <a:t>Facebook</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75715142"/>
                  </a:ext>
                </a:extLst>
              </a:tr>
              <a:tr h="257031">
                <a:tc>
                  <a:txBody>
                    <a:bodyPr/>
                    <a:lstStyle/>
                    <a:p>
                      <a:pPr marL="0" marR="0" algn="just">
                        <a:lnSpc>
                          <a:spcPct val="115000"/>
                        </a:lnSpc>
                        <a:buNone/>
                      </a:pPr>
                      <a:r>
                        <a:rPr lang="en-US" sz="1200">
                          <a:effectLst/>
                        </a:rPr>
                        <a:t>Instagram</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23.5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23.5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34.8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76216211"/>
                  </a:ext>
                </a:extLst>
              </a:tr>
              <a:tr h="257031">
                <a:tc>
                  <a:txBody>
                    <a:bodyPr/>
                    <a:lstStyle/>
                    <a:p>
                      <a:pPr marL="0" marR="0" algn="just">
                        <a:lnSpc>
                          <a:spcPct val="115000"/>
                        </a:lnSpc>
                        <a:buNone/>
                      </a:pPr>
                      <a:r>
                        <a:rPr lang="en-US" sz="1200">
                          <a:effectLst/>
                        </a:rPr>
                        <a:t>Others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34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29.6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64.4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25985521"/>
                  </a:ext>
                </a:extLst>
              </a:tr>
              <a:tr h="370773">
                <a:tc>
                  <a:txBody>
                    <a:bodyPr/>
                    <a:lstStyle/>
                    <a:p>
                      <a:pPr marL="0" marR="0" algn="just">
                        <a:lnSpc>
                          <a:spcPct val="115000"/>
                        </a:lnSpc>
                        <a:buNone/>
                      </a:pPr>
                      <a:r>
                        <a:rPr lang="en-US" sz="1200">
                          <a:effectLst/>
                        </a:rPr>
                        <a:t>UPI/PhonePe/GPay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75.7</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3884626"/>
                  </a:ext>
                </a:extLst>
              </a:tr>
              <a:tr h="257031">
                <a:tc>
                  <a:txBody>
                    <a:bodyPr/>
                    <a:lstStyle/>
                    <a:p>
                      <a:pPr marL="0" marR="0" algn="just">
                        <a:lnSpc>
                          <a:spcPct val="115000"/>
                        </a:lnSpc>
                        <a:buNone/>
                      </a:pPr>
                      <a:r>
                        <a:rPr lang="en-US" sz="1200">
                          <a:effectLst/>
                        </a:rPr>
                        <a:t>WhatsApp</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24.3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24.3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5754501"/>
                  </a:ext>
                </a:extLst>
              </a:tr>
              <a:tr h="257031">
                <a:tc>
                  <a:txBody>
                    <a:bodyPr/>
                    <a:lstStyle/>
                    <a:p>
                      <a:pPr marL="0" marR="0" algn="just">
                        <a:lnSpc>
                          <a:spcPct val="115000"/>
                        </a:lnSpc>
                        <a:buNone/>
                      </a:pPr>
                      <a:r>
                        <a:rPr lang="en-US" sz="1200">
                          <a:effectLst/>
                        </a:rPr>
                        <a:t>Total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a:effectLst/>
                        </a:rPr>
                        <a:t>100.0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100.0</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buNone/>
                      </a:pPr>
                      <a:r>
                        <a:rPr lang="en-US" sz="1200" dirty="0">
                          <a:effectLst/>
                        </a:rPr>
                        <a: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9168676"/>
                  </a:ext>
                </a:extLst>
              </a:tr>
            </a:tbl>
          </a:graphicData>
        </a:graphic>
      </p:graphicFrame>
      <p:graphicFrame>
        <p:nvGraphicFramePr>
          <p:cNvPr id="13" name="Chart 12">
            <a:extLst>
              <a:ext uri="{FF2B5EF4-FFF2-40B4-BE49-F238E27FC236}">
                <a16:creationId xmlns:a16="http://schemas.microsoft.com/office/drawing/2014/main" id="{6518F011-4417-9BD5-0E93-02CD460CF7F0}"/>
              </a:ext>
            </a:extLst>
          </p:cNvPr>
          <p:cNvGraphicFramePr/>
          <p:nvPr>
            <p:extLst>
              <p:ext uri="{D42A27DB-BD31-4B8C-83A1-F6EECF244321}">
                <p14:modId xmlns:p14="http://schemas.microsoft.com/office/powerpoint/2010/main" val="3406343429"/>
              </p:ext>
            </p:extLst>
          </p:nvPr>
        </p:nvGraphicFramePr>
        <p:xfrm>
          <a:off x="4937760" y="4102768"/>
          <a:ext cx="4118164" cy="20873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1297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203E-0FD9-5E84-C480-2A176355DDFE}"/>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9C5FCDC7-FD0F-8928-3A59-0A9F982CA475}"/>
              </a:ext>
            </a:extLst>
          </p:cNvPr>
          <p:cNvSpPr/>
          <p:nvPr/>
        </p:nvSpPr>
        <p:spPr>
          <a:xfrm>
            <a:off x="932688" y="274320"/>
            <a:ext cx="7680960" cy="603504"/>
          </a:xfrm>
          <a:prstGeom prst="rect">
            <a:avLst/>
          </a:prstGeom>
          <a:noFill/>
          <a:ln>
            <a:noFill/>
          </a:ln>
        </p:spPr>
        <p:txBody>
          <a:bodyPr wrap="square" lIns="0" tIns="45720" rIns="91440" bIns="18288" anchor="b">
            <a:normAutofit/>
          </a:bodyPr>
          <a:lstStyle/>
          <a:p>
            <a:r>
              <a:rPr lang="en-US" sz="3200" b="1" dirty="0">
                <a:solidFill>
                  <a:srgbClr val="1E5B3F"/>
                </a:solidFill>
                <a:latin typeface="Cambria"/>
                <a:cs typeface="Cambria"/>
              </a:rPr>
              <a:t>Objective 4 — Challenges Faced</a:t>
            </a:r>
          </a:p>
        </p:txBody>
      </p:sp>
      <p:sp>
        <p:nvSpPr>
          <p:cNvPr id="12" name="titleRule">
            <a:extLst>
              <a:ext uri="{FF2B5EF4-FFF2-40B4-BE49-F238E27FC236}">
                <a16:creationId xmlns:a16="http://schemas.microsoft.com/office/drawing/2014/main" id="{9519F899-E93A-7204-B113-C0E677C50D12}"/>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objtag">
            <a:extLst>
              <a:ext uri="{FF2B5EF4-FFF2-40B4-BE49-F238E27FC236}">
                <a16:creationId xmlns:a16="http://schemas.microsoft.com/office/drawing/2014/main" id="{A8A4F643-FEB3-D48D-A2F1-472A3C37F1F6}"/>
              </a:ext>
            </a:extLst>
          </p:cNvPr>
          <p:cNvSpPr/>
          <p:nvPr/>
        </p:nvSpPr>
        <p:spPr>
          <a:xfrm>
            <a:off x="76200" y="1083563"/>
            <a:ext cx="8991600" cy="670983"/>
          </a:xfrm>
          <a:prstGeom prst="roundRect">
            <a:avLst>
              <a:gd name="adj" fmla="val 6000"/>
            </a:avLst>
          </a:prstGeom>
          <a:solidFill>
            <a:srgbClr val="1E5B3F"/>
          </a:solidFill>
          <a:ln>
            <a:noFill/>
          </a:ln>
        </p:spPr>
        <p:txBody>
          <a:bodyPr wrap="square" lIns="146304" tIns="45720" rIns="91440" bIns="45720" anchor="ctr">
            <a:normAutofit fontScale="92500" lnSpcReduction="20000"/>
          </a:bodyPr>
          <a:lstStyle/>
          <a:p>
            <a:r>
              <a:rPr lang="en-US" sz="2400" b="1" dirty="0">
                <a:solidFill>
                  <a:srgbClr val="FFFFFF"/>
                </a:solidFill>
                <a:cs typeface="Calibri"/>
              </a:rPr>
              <a:t>To identify the challenges faced by rural farmers in marketing agricultural products.</a:t>
            </a:r>
          </a:p>
        </p:txBody>
      </p:sp>
      <p:sp>
        <p:nvSpPr>
          <p:cNvPr id="17" name="cardbody">
            <a:extLst>
              <a:ext uri="{FF2B5EF4-FFF2-40B4-BE49-F238E27FC236}">
                <a16:creationId xmlns:a16="http://schemas.microsoft.com/office/drawing/2014/main" id="{522C0614-7DAA-8346-4EC6-3AE488698BC1}"/>
              </a:ext>
            </a:extLst>
          </p:cNvPr>
          <p:cNvSpPr/>
          <p:nvPr/>
        </p:nvSpPr>
        <p:spPr>
          <a:xfrm>
            <a:off x="15044" y="2684185"/>
            <a:ext cx="3231076" cy="3324802"/>
          </a:xfrm>
          <a:prstGeom prst="rect">
            <a:avLst/>
          </a:prstGeom>
          <a:noFill/>
          <a:ln>
            <a:noFill/>
          </a:ln>
        </p:spPr>
        <p:txBody>
          <a:bodyPr wrap="square" lIns="109728" tIns="45720" rIns="73152" bIns="45720" anchor="t">
            <a:noAutofit/>
          </a:bodyPr>
          <a:lstStyle/>
          <a:p>
            <a:pPr>
              <a:lnSpc>
                <a:spcPct val="104000"/>
              </a:lnSpc>
              <a:spcAft>
                <a:spcPts val="400"/>
              </a:spcAft>
              <a:buClr>
                <a:schemeClr val="tx1"/>
              </a:buClr>
            </a:pPr>
            <a:endParaRPr lang="en-US" sz="160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75FC5703-22BF-DF98-D4C6-5CFE93255658}"/>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41F8B663-FCB5-7D65-62F4-BF54073DDB0A}"/>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E232639A-D83E-8404-DAC1-20866DCE4FD4}"/>
              </a:ext>
            </a:extLst>
          </p:cNvPr>
          <p:cNvSpPr>
            <a:spLocks noGrp="1"/>
          </p:cNvSpPr>
          <p:nvPr>
            <p:ph type="sldNum" sz="quarter" idx="12"/>
          </p:nvPr>
        </p:nvSpPr>
        <p:spPr/>
        <p:txBody>
          <a:bodyPr/>
          <a:lstStyle/>
          <a:p>
            <a:fld id="{B6F15528-21DE-4FAA-801E-634DDDAF4B2B}" type="slidenum">
              <a:rPr lang="en-US" smtClean="0"/>
              <a:pPr/>
              <a:t>13</a:t>
            </a:fld>
            <a:endParaRPr lang="en-US"/>
          </a:p>
        </p:txBody>
      </p:sp>
      <p:graphicFrame>
        <p:nvGraphicFramePr>
          <p:cNvPr id="2" name="Table 1">
            <a:extLst>
              <a:ext uri="{FF2B5EF4-FFF2-40B4-BE49-F238E27FC236}">
                <a16:creationId xmlns:a16="http://schemas.microsoft.com/office/drawing/2014/main" id="{BCA0A55D-BAA7-372B-2BC9-37BC99D96C9C}"/>
              </a:ext>
            </a:extLst>
          </p:cNvPr>
          <p:cNvGraphicFramePr>
            <a:graphicFrameLocks noGrp="1"/>
          </p:cNvGraphicFramePr>
          <p:nvPr>
            <p:extLst>
              <p:ext uri="{D42A27DB-BD31-4B8C-83A1-F6EECF244321}">
                <p14:modId xmlns:p14="http://schemas.microsoft.com/office/powerpoint/2010/main" val="3162456921"/>
              </p:ext>
            </p:extLst>
          </p:nvPr>
        </p:nvGraphicFramePr>
        <p:xfrm>
          <a:off x="76200" y="1789184"/>
          <a:ext cx="5455920" cy="4629891"/>
        </p:xfrm>
        <a:graphic>
          <a:graphicData uri="http://schemas.openxmlformats.org/drawingml/2006/table">
            <a:tbl>
              <a:tblPr firstRow="1" firstCol="1" bandRow="1">
                <a:tableStyleId>{5C22544A-7EE6-4342-B048-85BDC9FD1C3A}</a:tableStyleId>
              </a:tblPr>
              <a:tblGrid>
                <a:gridCol w="1091184">
                  <a:extLst>
                    <a:ext uri="{9D8B030D-6E8A-4147-A177-3AD203B41FA5}">
                      <a16:colId xmlns:a16="http://schemas.microsoft.com/office/drawing/2014/main" val="1806072221"/>
                    </a:ext>
                  </a:extLst>
                </a:gridCol>
                <a:gridCol w="1091184">
                  <a:extLst>
                    <a:ext uri="{9D8B030D-6E8A-4147-A177-3AD203B41FA5}">
                      <a16:colId xmlns:a16="http://schemas.microsoft.com/office/drawing/2014/main" val="3902837804"/>
                    </a:ext>
                  </a:extLst>
                </a:gridCol>
                <a:gridCol w="1091184">
                  <a:extLst>
                    <a:ext uri="{9D8B030D-6E8A-4147-A177-3AD203B41FA5}">
                      <a16:colId xmlns:a16="http://schemas.microsoft.com/office/drawing/2014/main" val="1215284288"/>
                    </a:ext>
                  </a:extLst>
                </a:gridCol>
                <a:gridCol w="1091184">
                  <a:extLst>
                    <a:ext uri="{9D8B030D-6E8A-4147-A177-3AD203B41FA5}">
                      <a16:colId xmlns:a16="http://schemas.microsoft.com/office/drawing/2014/main" val="806082994"/>
                    </a:ext>
                  </a:extLst>
                </a:gridCol>
                <a:gridCol w="1091184">
                  <a:extLst>
                    <a:ext uri="{9D8B030D-6E8A-4147-A177-3AD203B41FA5}">
                      <a16:colId xmlns:a16="http://schemas.microsoft.com/office/drawing/2014/main" val="590987148"/>
                    </a:ext>
                  </a:extLst>
                </a:gridCol>
              </a:tblGrid>
              <a:tr h="92663">
                <a:tc>
                  <a:txBody>
                    <a:bodyPr/>
                    <a:lstStyle/>
                    <a:p>
                      <a:pPr marL="0" marR="0" algn="just">
                        <a:lnSpc>
                          <a:spcPct val="115000"/>
                        </a:lnSpc>
                        <a:buNone/>
                      </a:pPr>
                      <a:r>
                        <a:rPr lang="en-US" sz="700">
                          <a:effectLst/>
                        </a:rPr>
                        <a:t>Valid</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Frequency</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Percent</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Valid Percent</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Cumulative Percent</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962251199"/>
                  </a:ext>
                </a:extLst>
              </a:tr>
              <a:tr h="191572">
                <a:tc>
                  <a:txBody>
                    <a:bodyPr/>
                    <a:lstStyle/>
                    <a:p>
                      <a:pPr marL="0" marR="0" algn="just">
                        <a:lnSpc>
                          <a:spcPct val="115000"/>
                        </a:lnSpc>
                        <a:buNone/>
                      </a:pPr>
                      <a:r>
                        <a:rPr lang="en-US" sz="700">
                          <a:effectLst/>
                        </a:rPr>
                        <a:t>Delayed payments; Storage problems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663235463"/>
                  </a:ext>
                </a:extLst>
              </a:tr>
              <a:tr h="191572">
                <a:tc>
                  <a:txBody>
                    <a:bodyPr/>
                    <a:lstStyle/>
                    <a:p>
                      <a:pPr marL="0" marR="0" algn="just">
                        <a:lnSpc>
                          <a:spcPct val="115000"/>
                        </a:lnSpc>
                        <a:buNone/>
                      </a:pPr>
                      <a:r>
                        <a:rPr lang="en-US" sz="700">
                          <a:effectLst/>
                        </a:rPr>
                        <a:t>Delayed payments; Transport issues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597195833"/>
                  </a:ext>
                </a:extLst>
              </a:tr>
              <a:tr h="191572">
                <a:tc>
                  <a:txBody>
                    <a:bodyPr/>
                    <a:lstStyle/>
                    <a:p>
                      <a:pPr marL="0" marR="0" algn="just">
                        <a:lnSpc>
                          <a:spcPct val="115000"/>
                        </a:lnSpc>
                        <a:buNone/>
                      </a:pPr>
                      <a:r>
                        <a:rPr lang="en-US" sz="700">
                          <a:effectLst/>
                        </a:rPr>
                        <a:t>Lack of awareness; Transport issues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8.7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8.7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14.7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999956570"/>
                  </a:ext>
                </a:extLst>
              </a:tr>
              <a:tr h="290480">
                <a:tc>
                  <a:txBody>
                    <a:bodyPr/>
                    <a:lstStyle/>
                    <a:p>
                      <a:pPr marL="0" marR="0" algn="just">
                        <a:lnSpc>
                          <a:spcPct val="115000"/>
                        </a:lnSpc>
                        <a:buNone/>
                      </a:pPr>
                      <a:r>
                        <a:rPr lang="en-US" sz="700">
                          <a:effectLst/>
                        </a:rPr>
                        <a:t>Lack of market information; Transport issues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19.9</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93678442"/>
                  </a:ext>
                </a:extLst>
              </a:tr>
              <a:tr h="191572">
                <a:tc>
                  <a:txBody>
                    <a:bodyPr/>
                    <a:lstStyle/>
                    <a:p>
                      <a:pPr marL="0" marR="0" algn="just">
                        <a:lnSpc>
                          <a:spcPct val="115000"/>
                        </a:lnSpc>
                        <a:buNone/>
                      </a:pPr>
                      <a:r>
                        <a:rPr lang="en-US" sz="700">
                          <a:effectLst/>
                        </a:rPr>
                        <a:t>Low price; Delayed payments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23.4</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216043552"/>
                  </a:ext>
                </a:extLst>
              </a:tr>
              <a:tr h="290480">
                <a:tc>
                  <a:txBody>
                    <a:bodyPr/>
                    <a:lstStyle/>
                    <a:p>
                      <a:pPr marL="0" marR="0" algn="just">
                        <a:lnSpc>
                          <a:spcPct val="115000"/>
                        </a:lnSpc>
                        <a:buNone/>
                      </a:pPr>
                      <a:r>
                        <a:rPr lang="en-US" sz="700">
                          <a:effectLst/>
                        </a:rPr>
                        <a:t>Low price; Delayed payments; Storage problems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0.9</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dirty="0">
                          <a:effectLst/>
                        </a:rPr>
                        <a:t>0.9</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890327249"/>
                  </a:ext>
                </a:extLst>
              </a:tr>
              <a:tr h="191572">
                <a:tc>
                  <a:txBody>
                    <a:bodyPr/>
                    <a:lstStyle/>
                    <a:p>
                      <a:pPr marL="0" marR="0" algn="just">
                        <a:lnSpc>
                          <a:spcPct val="115000"/>
                        </a:lnSpc>
                        <a:buNone/>
                      </a:pPr>
                      <a:r>
                        <a:rPr lang="en-US" sz="700">
                          <a:effectLst/>
                        </a:rPr>
                        <a:t>Low price; Storage problems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11.3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11.3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35.6</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066870552"/>
                  </a:ext>
                </a:extLst>
              </a:tr>
              <a:tr h="190947">
                <a:tc>
                  <a:txBody>
                    <a:bodyPr/>
                    <a:lstStyle/>
                    <a:p>
                      <a:pPr marL="0" marR="0" algn="just">
                        <a:lnSpc>
                          <a:spcPct val="115000"/>
                        </a:lnSpc>
                        <a:buNone/>
                      </a:pPr>
                      <a:r>
                        <a:rPr lang="en-US" sz="700">
                          <a:effectLst/>
                        </a:rPr>
                        <a:t>Low price; Transport issues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37.3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685786577"/>
                  </a:ext>
                </a:extLst>
              </a:tr>
              <a:tr h="191572">
                <a:tc>
                  <a:txBody>
                    <a:bodyPr/>
                    <a:lstStyle/>
                    <a:p>
                      <a:pPr marL="0" marR="0" algn="just">
                        <a:lnSpc>
                          <a:spcPct val="115000"/>
                        </a:lnSpc>
                        <a:buNone/>
                      </a:pPr>
                      <a:r>
                        <a:rPr lang="en-US" sz="700">
                          <a:effectLst/>
                        </a:rPr>
                        <a:t>Middlemen control; Delayed payments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3.5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40.8</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453207152"/>
                  </a:ext>
                </a:extLst>
              </a:tr>
              <a:tr h="191572">
                <a:tc>
                  <a:txBody>
                    <a:bodyPr/>
                    <a:lstStyle/>
                    <a:p>
                      <a:pPr marL="0" marR="0" algn="just">
                        <a:lnSpc>
                          <a:spcPct val="115000"/>
                        </a:lnSpc>
                        <a:buNone/>
                      </a:pPr>
                      <a:r>
                        <a:rPr lang="en-US" sz="700">
                          <a:effectLst/>
                        </a:rPr>
                        <a:t>Middlemen control; Low price</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dirty="0">
                          <a:effectLst/>
                        </a:rPr>
                        <a:t>11.3</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11.3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52.1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4103328054"/>
                  </a:ext>
                </a:extLst>
              </a:tr>
              <a:tr h="289533">
                <a:tc>
                  <a:txBody>
                    <a:bodyPr/>
                    <a:lstStyle/>
                    <a:p>
                      <a:pPr marL="0" marR="0" algn="just">
                        <a:lnSpc>
                          <a:spcPct val="115000"/>
                        </a:lnSpc>
                        <a:buNone/>
                      </a:pPr>
                      <a:r>
                        <a:rPr lang="en-US" sz="700">
                          <a:effectLst/>
                        </a:rPr>
                        <a:t>Middlemen control; Low price; Delayed payments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dirty="0">
                          <a:effectLst/>
                        </a:rPr>
                        <a:t>1.7</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53.8</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07923539"/>
                  </a:ext>
                </a:extLst>
              </a:tr>
              <a:tr h="289533">
                <a:tc>
                  <a:txBody>
                    <a:bodyPr/>
                    <a:lstStyle/>
                    <a:p>
                      <a:pPr marL="0" marR="0" algn="just">
                        <a:lnSpc>
                          <a:spcPct val="115000"/>
                        </a:lnSpc>
                        <a:buNone/>
                      </a:pPr>
                      <a:r>
                        <a:rPr lang="en-US" sz="700">
                          <a:effectLst/>
                        </a:rPr>
                        <a:t>Middlemen control; Low price; Storage problems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59.0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870719011"/>
                  </a:ext>
                </a:extLst>
              </a:tr>
              <a:tr h="289533">
                <a:tc>
                  <a:txBody>
                    <a:bodyPr/>
                    <a:lstStyle/>
                    <a:p>
                      <a:pPr marL="0" marR="0" algn="just">
                        <a:lnSpc>
                          <a:spcPct val="115000"/>
                        </a:lnSpc>
                        <a:buNone/>
                      </a:pPr>
                      <a:r>
                        <a:rPr lang="en-US" sz="700">
                          <a:effectLst/>
                        </a:rPr>
                        <a:t>Middlemen control; Low price; Transport issues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65.1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229857669"/>
                  </a:ext>
                </a:extLst>
              </a:tr>
              <a:tr h="191572">
                <a:tc>
                  <a:txBody>
                    <a:bodyPr/>
                    <a:lstStyle/>
                    <a:p>
                      <a:pPr marL="0" marR="0" algn="just">
                        <a:lnSpc>
                          <a:spcPct val="115000"/>
                        </a:lnSpc>
                        <a:buNone/>
                      </a:pPr>
                      <a:r>
                        <a:rPr lang="en-US" sz="700">
                          <a:effectLst/>
                        </a:rPr>
                        <a:t>Storage problems; Delayed payments</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71.2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1297748064"/>
                  </a:ext>
                </a:extLst>
              </a:tr>
              <a:tr h="191572">
                <a:tc>
                  <a:txBody>
                    <a:bodyPr/>
                    <a:lstStyle/>
                    <a:p>
                      <a:pPr marL="0" marR="0" algn="just">
                        <a:lnSpc>
                          <a:spcPct val="115000"/>
                        </a:lnSpc>
                        <a:buNone/>
                      </a:pPr>
                      <a:r>
                        <a:rPr lang="en-US" sz="700">
                          <a:effectLst/>
                        </a:rPr>
                        <a:t>Storage problems; Low price</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4.3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75.5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876293293"/>
                  </a:ext>
                </a:extLst>
              </a:tr>
              <a:tr h="191572">
                <a:tc>
                  <a:txBody>
                    <a:bodyPr/>
                    <a:lstStyle/>
                    <a:p>
                      <a:pPr marL="0" marR="0" algn="just">
                        <a:lnSpc>
                          <a:spcPct val="115000"/>
                        </a:lnSpc>
                        <a:buNone/>
                      </a:pPr>
                      <a:r>
                        <a:rPr lang="en-US" sz="700" dirty="0">
                          <a:effectLst/>
                        </a:rPr>
                        <a:t>Transport issues; Lack of awareness</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21</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18.3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18.3</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93.8</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3429553578"/>
                  </a:ext>
                </a:extLst>
              </a:tr>
              <a:tr h="243707">
                <a:tc>
                  <a:txBody>
                    <a:bodyPr/>
                    <a:lstStyle/>
                    <a:p>
                      <a:pPr marL="0" marR="0" algn="just">
                        <a:lnSpc>
                          <a:spcPct val="115000"/>
                        </a:lnSpc>
                        <a:buNone/>
                      </a:pPr>
                      <a:r>
                        <a:rPr lang="en-US" sz="700">
                          <a:effectLst/>
                        </a:rPr>
                        <a:t>Transport issues; Lack of market information</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7</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6.2</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100.0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2332595560"/>
                  </a:ext>
                </a:extLst>
              </a:tr>
              <a:tr h="92663">
                <a:tc>
                  <a:txBody>
                    <a:bodyPr/>
                    <a:lstStyle/>
                    <a:p>
                      <a:pPr marL="0" marR="0" algn="just">
                        <a:lnSpc>
                          <a:spcPct val="115000"/>
                        </a:lnSpc>
                        <a:buNone/>
                      </a:pPr>
                      <a:r>
                        <a:rPr lang="en-US" sz="700">
                          <a:effectLst/>
                        </a:rPr>
                        <a:t>Total</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115</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100.0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a:effectLst/>
                        </a:rPr>
                        <a:t>100.0</a:t>
                      </a:r>
                      <a:endParaRPr lang="en-US" sz="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tc>
                  <a:txBody>
                    <a:bodyPr/>
                    <a:lstStyle/>
                    <a:p>
                      <a:pPr marL="0" marR="0" algn="just">
                        <a:lnSpc>
                          <a:spcPct val="115000"/>
                        </a:lnSpc>
                        <a:buNone/>
                      </a:pPr>
                      <a:r>
                        <a:rPr lang="en-US" sz="700" dirty="0">
                          <a:effectLst/>
                        </a:rPr>
                        <a:t>—</a:t>
                      </a:r>
                      <a:endParaRPr lang="en-US" sz="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83" marR="37383" marT="0" marB="0"/>
                </a:tc>
                <a:extLst>
                  <a:ext uri="{0D108BD9-81ED-4DB2-BD59-A6C34878D82A}">
                    <a16:rowId xmlns:a16="http://schemas.microsoft.com/office/drawing/2014/main" val="906496840"/>
                  </a:ext>
                </a:extLst>
              </a:tr>
            </a:tbl>
          </a:graphicData>
        </a:graphic>
      </p:graphicFrame>
      <p:graphicFrame>
        <p:nvGraphicFramePr>
          <p:cNvPr id="3" name="Chart 2">
            <a:extLst>
              <a:ext uri="{FF2B5EF4-FFF2-40B4-BE49-F238E27FC236}">
                <a16:creationId xmlns:a16="http://schemas.microsoft.com/office/drawing/2014/main" id="{D7AE51DB-347F-3AD8-EE1D-30F008F71116}"/>
              </a:ext>
            </a:extLst>
          </p:cNvPr>
          <p:cNvGraphicFramePr/>
          <p:nvPr>
            <p:extLst>
              <p:ext uri="{D42A27DB-BD31-4B8C-83A1-F6EECF244321}">
                <p14:modId xmlns:p14="http://schemas.microsoft.com/office/powerpoint/2010/main" val="2209920234"/>
              </p:ext>
            </p:extLst>
          </p:nvPr>
        </p:nvGraphicFramePr>
        <p:xfrm>
          <a:off x="5605151" y="1807126"/>
          <a:ext cx="3462649"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0E5F267-DFAE-7697-3745-EA4560849C81}"/>
              </a:ext>
            </a:extLst>
          </p:cNvPr>
          <p:cNvGraphicFramePr/>
          <p:nvPr>
            <p:extLst>
              <p:ext uri="{D42A27DB-BD31-4B8C-83A1-F6EECF244321}">
                <p14:modId xmlns:p14="http://schemas.microsoft.com/office/powerpoint/2010/main" val="2297186517"/>
              </p:ext>
            </p:extLst>
          </p:nvPr>
        </p:nvGraphicFramePr>
        <p:xfrm>
          <a:off x="5605151" y="4602906"/>
          <a:ext cx="3462649" cy="18161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59285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86860" y="263980"/>
            <a:ext cx="8058912" cy="557374"/>
          </a:xfrm>
          <a:prstGeom prst="rect">
            <a:avLst/>
          </a:prstGeom>
          <a:noFill/>
          <a:ln>
            <a:noFill/>
          </a:ln>
        </p:spPr>
        <p:txBody>
          <a:bodyPr wrap="square" lIns="0" tIns="45720" rIns="91440" bIns="18288" anchor="b">
            <a:normAutofit fontScale="85000" lnSpcReduction="10000"/>
          </a:bodyPr>
          <a:lstStyle/>
          <a:p>
            <a:pPr marL="0" indent="0" algn="l">
              <a:lnSpc>
                <a:spcPct val="100000"/>
              </a:lnSpc>
              <a:buNone/>
            </a:pPr>
            <a:r>
              <a:rPr lang="en-US" sz="2800" b="1" dirty="0">
                <a:solidFill>
                  <a:srgbClr val="1E5B3F"/>
                </a:solidFill>
                <a:latin typeface="Cambria"/>
                <a:cs typeface="Cambria"/>
              </a:rPr>
              <a:t>Chi-Square Test of Independence – Hypothesis Testing</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purp"/>
          <p:cNvSpPr/>
          <p:nvPr/>
        </p:nvSpPr>
        <p:spPr>
          <a:xfrm>
            <a:off x="105156" y="1084454"/>
            <a:ext cx="3628644" cy="5271896"/>
          </a:xfrm>
          <a:prstGeom prst="roundRect">
            <a:avLst>
              <a:gd name="adj" fmla="val 6000"/>
            </a:avLst>
          </a:prstGeom>
          <a:solidFill>
            <a:srgbClr val="E9F0EA"/>
          </a:solidFill>
          <a:ln w="12700">
            <a:solidFill>
              <a:srgbClr val="D9DCD1"/>
            </a:solidFill>
          </a:ln>
        </p:spPr>
        <p:txBody>
          <a:bodyPr wrap="square" lIns="146304" tIns="91440" rIns="91440" bIns="45720" anchor="t">
            <a:normAutofit fontScale="92500" lnSpcReduction="20000"/>
          </a:bodyPr>
          <a:lstStyle/>
          <a:p>
            <a:endParaRPr lang="en-US" sz="1600" b="1" dirty="0"/>
          </a:p>
          <a:p>
            <a:endParaRPr lang="en-US" sz="1600" b="1" dirty="0"/>
          </a:p>
          <a:p>
            <a:endParaRPr lang="en-US" b="1" dirty="0"/>
          </a:p>
          <a:p>
            <a:r>
              <a:rPr lang="en-US" sz="2200" b="1" dirty="0"/>
              <a:t>Variables:</a:t>
            </a:r>
            <a:endParaRPr lang="en-US" sz="2200" dirty="0"/>
          </a:p>
          <a:p>
            <a:pPr marL="285750" indent="-285750">
              <a:buFont typeface="Arial" panose="020B0604020202020204" pitchFamily="34" charset="0"/>
              <a:buChar char="•"/>
            </a:pPr>
            <a:r>
              <a:rPr lang="en-US" sz="2000" dirty="0"/>
              <a:t>Middlemen Influence on Pricing</a:t>
            </a:r>
          </a:p>
          <a:p>
            <a:pPr marL="285750" indent="-285750">
              <a:buFont typeface="Arial" panose="020B0604020202020204" pitchFamily="34" charset="0"/>
              <a:buChar char="•"/>
            </a:pPr>
            <a:r>
              <a:rPr lang="en-US" sz="2000" dirty="0"/>
              <a:t>Receiving a Fair Price for Agricultural Products</a:t>
            </a:r>
          </a:p>
          <a:p>
            <a:endParaRPr lang="en-US" sz="2000" b="1" dirty="0"/>
          </a:p>
          <a:p>
            <a:r>
              <a:rPr lang="en-US" sz="2200" b="1" dirty="0"/>
              <a:t>Null Hypothesis (H₀)</a:t>
            </a:r>
          </a:p>
          <a:p>
            <a:r>
              <a:rPr lang="en-US" sz="2000" dirty="0"/>
              <a:t>There is no significant association between middlemen influence on pricing and receiving a fair price for agricultural products.</a:t>
            </a:r>
          </a:p>
          <a:p>
            <a:endParaRPr lang="en-US" sz="2000" b="1" dirty="0"/>
          </a:p>
          <a:p>
            <a:r>
              <a:rPr lang="en-US" sz="2200" b="1" dirty="0"/>
              <a:t>Alternative Hypothesis (H₁)</a:t>
            </a:r>
          </a:p>
          <a:p>
            <a:r>
              <a:rPr lang="en-US" sz="2000" dirty="0"/>
              <a:t>There is a significant association between middlemen influence on pricing and receiving a fair price for agricultural products.</a:t>
            </a:r>
          </a:p>
        </p:txBody>
      </p:sp>
      <p:sp>
        <p:nvSpPr>
          <p:cNvPr id="17" name="cardbody"/>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14</a:t>
            </a:fld>
            <a:endParaRPr lang="en-US"/>
          </a:p>
        </p:txBody>
      </p:sp>
      <p:graphicFrame>
        <p:nvGraphicFramePr>
          <p:cNvPr id="2" name="Table 1">
            <a:extLst>
              <a:ext uri="{FF2B5EF4-FFF2-40B4-BE49-F238E27FC236}">
                <a16:creationId xmlns:a16="http://schemas.microsoft.com/office/drawing/2014/main" id="{C4CE0CAB-1A93-84A6-15A4-37A4DBBBE9DE}"/>
              </a:ext>
            </a:extLst>
          </p:cNvPr>
          <p:cNvGraphicFramePr>
            <a:graphicFrameLocks noGrp="1"/>
          </p:cNvGraphicFramePr>
          <p:nvPr>
            <p:extLst>
              <p:ext uri="{D42A27DB-BD31-4B8C-83A1-F6EECF244321}">
                <p14:modId xmlns:p14="http://schemas.microsoft.com/office/powerpoint/2010/main" val="524586333"/>
              </p:ext>
            </p:extLst>
          </p:nvPr>
        </p:nvGraphicFramePr>
        <p:xfrm>
          <a:off x="3902885" y="1060703"/>
          <a:ext cx="5135960" cy="2384173"/>
        </p:xfrm>
        <a:graphic>
          <a:graphicData uri="http://schemas.openxmlformats.org/drawingml/2006/table">
            <a:tbl>
              <a:tblPr firstRow="1" firstCol="1" bandRow="1">
                <a:tableStyleId>{5C22544A-7EE6-4342-B048-85BDC9FD1C3A}</a:tableStyleId>
              </a:tblPr>
              <a:tblGrid>
                <a:gridCol w="1283990">
                  <a:extLst>
                    <a:ext uri="{9D8B030D-6E8A-4147-A177-3AD203B41FA5}">
                      <a16:colId xmlns:a16="http://schemas.microsoft.com/office/drawing/2014/main" val="1870888901"/>
                    </a:ext>
                  </a:extLst>
                </a:gridCol>
                <a:gridCol w="1283990">
                  <a:extLst>
                    <a:ext uri="{9D8B030D-6E8A-4147-A177-3AD203B41FA5}">
                      <a16:colId xmlns:a16="http://schemas.microsoft.com/office/drawing/2014/main" val="145810056"/>
                    </a:ext>
                  </a:extLst>
                </a:gridCol>
                <a:gridCol w="1283990">
                  <a:extLst>
                    <a:ext uri="{9D8B030D-6E8A-4147-A177-3AD203B41FA5}">
                      <a16:colId xmlns:a16="http://schemas.microsoft.com/office/drawing/2014/main" val="1019389744"/>
                    </a:ext>
                  </a:extLst>
                </a:gridCol>
                <a:gridCol w="1283990">
                  <a:extLst>
                    <a:ext uri="{9D8B030D-6E8A-4147-A177-3AD203B41FA5}">
                      <a16:colId xmlns:a16="http://schemas.microsoft.com/office/drawing/2014/main" val="1627895964"/>
                    </a:ext>
                  </a:extLst>
                </a:gridCol>
              </a:tblGrid>
              <a:tr h="972682">
                <a:tc>
                  <a:txBody>
                    <a:bodyPr/>
                    <a:lstStyle/>
                    <a:p>
                      <a:pPr marL="0" marR="0" algn="ctr">
                        <a:lnSpc>
                          <a:spcPct val="115000"/>
                        </a:lnSpc>
                        <a:buNone/>
                      </a:pPr>
                      <a:r>
                        <a:rPr lang="en-US" sz="1800" dirty="0">
                          <a:effectLst/>
                        </a:rPr>
                        <a:t>Middlemen Influence on Pricing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Fair Price (No)</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Fair Price (Yes)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Total</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97315695"/>
                  </a:ext>
                </a:extLst>
              </a:tr>
              <a:tr h="470497">
                <a:tc>
                  <a:txBody>
                    <a:bodyPr/>
                    <a:lstStyle/>
                    <a:p>
                      <a:pPr marL="0" marR="0">
                        <a:lnSpc>
                          <a:spcPct val="115000"/>
                        </a:lnSpc>
                        <a:buNone/>
                      </a:pPr>
                      <a:r>
                        <a:rPr lang="en-US" sz="1800">
                          <a:effectLst/>
                        </a:rPr>
                        <a:t>No</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0</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44</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44</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76194512"/>
                  </a:ext>
                </a:extLst>
              </a:tr>
              <a:tr h="470497">
                <a:tc>
                  <a:txBody>
                    <a:bodyPr/>
                    <a:lstStyle/>
                    <a:p>
                      <a:pPr marL="0" marR="0">
                        <a:lnSpc>
                          <a:spcPct val="115000"/>
                        </a:lnSpc>
                        <a:buNone/>
                      </a:pPr>
                      <a:r>
                        <a:rPr lang="en-US" sz="1800">
                          <a:effectLst/>
                        </a:rPr>
                        <a:t>Yes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71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0</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71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92611536"/>
                  </a:ext>
                </a:extLst>
              </a:tr>
              <a:tr h="470497">
                <a:tc>
                  <a:txBody>
                    <a:bodyPr/>
                    <a:lstStyle/>
                    <a:p>
                      <a:pPr marL="0" marR="0">
                        <a:lnSpc>
                          <a:spcPct val="115000"/>
                        </a:lnSpc>
                        <a:buNone/>
                      </a:pPr>
                      <a:r>
                        <a:rPr lang="en-US" sz="1800">
                          <a:effectLst/>
                        </a:rPr>
                        <a:t>Total</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71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44</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115</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78366593"/>
                  </a:ext>
                </a:extLst>
              </a:tr>
            </a:tbl>
          </a:graphicData>
        </a:graphic>
      </p:graphicFrame>
      <p:graphicFrame>
        <p:nvGraphicFramePr>
          <p:cNvPr id="3" name="Table 2">
            <a:extLst>
              <a:ext uri="{FF2B5EF4-FFF2-40B4-BE49-F238E27FC236}">
                <a16:creationId xmlns:a16="http://schemas.microsoft.com/office/drawing/2014/main" id="{9A8BD7F0-522E-42BE-3907-7D0A0D7188D9}"/>
              </a:ext>
            </a:extLst>
          </p:cNvPr>
          <p:cNvGraphicFramePr>
            <a:graphicFrameLocks noGrp="1"/>
          </p:cNvGraphicFramePr>
          <p:nvPr>
            <p:extLst>
              <p:ext uri="{D42A27DB-BD31-4B8C-83A1-F6EECF244321}">
                <p14:modId xmlns:p14="http://schemas.microsoft.com/office/powerpoint/2010/main" val="3516476694"/>
              </p:ext>
            </p:extLst>
          </p:nvPr>
        </p:nvGraphicFramePr>
        <p:xfrm>
          <a:off x="3902885" y="3507212"/>
          <a:ext cx="5135960" cy="2884764"/>
        </p:xfrm>
        <a:graphic>
          <a:graphicData uri="http://schemas.openxmlformats.org/drawingml/2006/table">
            <a:tbl>
              <a:tblPr firstRow="1" firstCol="1" bandRow="1">
                <a:tableStyleId>{5C22544A-7EE6-4342-B048-85BDC9FD1C3A}</a:tableStyleId>
              </a:tblPr>
              <a:tblGrid>
                <a:gridCol w="2567980">
                  <a:extLst>
                    <a:ext uri="{9D8B030D-6E8A-4147-A177-3AD203B41FA5}">
                      <a16:colId xmlns:a16="http://schemas.microsoft.com/office/drawing/2014/main" val="3004788032"/>
                    </a:ext>
                  </a:extLst>
                </a:gridCol>
                <a:gridCol w="2567980">
                  <a:extLst>
                    <a:ext uri="{9D8B030D-6E8A-4147-A177-3AD203B41FA5}">
                      <a16:colId xmlns:a16="http://schemas.microsoft.com/office/drawing/2014/main" val="1497957238"/>
                    </a:ext>
                  </a:extLst>
                </a:gridCol>
              </a:tblGrid>
              <a:tr h="454766">
                <a:tc>
                  <a:txBody>
                    <a:bodyPr/>
                    <a:lstStyle/>
                    <a:p>
                      <a:pPr marL="0" marR="0" algn="ctr">
                        <a:lnSpc>
                          <a:spcPct val="115000"/>
                        </a:lnSpc>
                        <a:buNone/>
                      </a:pPr>
                      <a:r>
                        <a:rPr lang="en-US" sz="1800">
                          <a:effectLst/>
                        </a:rPr>
                        <a:t>Statistical Measure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Value</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26422734"/>
                  </a:ext>
                </a:extLst>
              </a:tr>
              <a:tr h="454766">
                <a:tc>
                  <a:txBody>
                    <a:bodyPr/>
                    <a:lstStyle/>
                    <a:p>
                      <a:pPr marL="0" marR="0">
                        <a:lnSpc>
                          <a:spcPct val="115000"/>
                        </a:lnSpc>
                        <a:buNone/>
                      </a:pPr>
                      <a:r>
                        <a:rPr lang="en-US" sz="1800" dirty="0">
                          <a:effectLst/>
                        </a:rPr>
                        <a:t>Chi-Square Statistic (χ²)</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110.806</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72712147"/>
                  </a:ext>
                </a:extLst>
              </a:tr>
              <a:tr h="454766">
                <a:tc>
                  <a:txBody>
                    <a:bodyPr/>
                    <a:lstStyle/>
                    <a:p>
                      <a:pPr marL="0" marR="0">
                        <a:lnSpc>
                          <a:spcPct val="115000"/>
                        </a:lnSpc>
                        <a:buNone/>
                      </a:pPr>
                      <a:r>
                        <a:rPr lang="en-US" sz="1800">
                          <a:effectLst/>
                        </a:rPr>
                        <a:t>Degrees of Freedom (df)</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08229905"/>
                  </a:ext>
                </a:extLst>
              </a:tr>
              <a:tr h="454766">
                <a:tc>
                  <a:txBody>
                    <a:bodyPr/>
                    <a:lstStyle/>
                    <a:p>
                      <a:pPr marL="0" marR="0">
                        <a:lnSpc>
                          <a:spcPct val="115000"/>
                        </a:lnSpc>
                        <a:buNone/>
                      </a:pPr>
                      <a:r>
                        <a:rPr lang="en-US" sz="1800">
                          <a:effectLst/>
                        </a:rPr>
                        <a:t>p-value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&lt; 0.001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77158906"/>
                  </a:ext>
                </a:extLst>
              </a:tr>
              <a:tr h="454766">
                <a:tc>
                  <a:txBody>
                    <a:bodyPr/>
                    <a:lstStyle/>
                    <a:p>
                      <a:pPr marL="0" marR="0">
                        <a:lnSpc>
                          <a:spcPct val="115000"/>
                        </a:lnSpc>
                        <a:buNone/>
                      </a:pPr>
                      <a:r>
                        <a:rPr lang="en-US" sz="1800">
                          <a:effectLst/>
                        </a:rPr>
                        <a:t>Sample Size (N)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a:effectLst/>
                        </a:rPr>
                        <a:t>115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7556909"/>
                  </a:ext>
                </a:extLst>
              </a:tr>
              <a:tr h="454766">
                <a:tc>
                  <a:txBody>
                    <a:bodyPr/>
                    <a:lstStyle/>
                    <a:p>
                      <a:pPr marL="0" marR="0">
                        <a:lnSpc>
                          <a:spcPct val="115000"/>
                        </a:lnSpc>
                        <a:buNone/>
                      </a:pPr>
                      <a:r>
                        <a:rPr lang="en-US" sz="1800">
                          <a:effectLst/>
                        </a:rPr>
                        <a:t>Decision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800" dirty="0">
                          <a:effectLst/>
                        </a:rPr>
                        <a:t>Reject the Null Hypothesis (H₀)</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6761564"/>
                  </a:ext>
                </a:extLst>
              </a:tr>
            </a:tbl>
          </a:graphicData>
        </a:graphic>
      </p:graphicFrame>
      <p:sp>
        <p:nvSpPr>
          <p:cNvPr id="4" name="cardhead">
            <a:extLst>
              <a:ext uri="{FF2B5EF4-FFF2-40B4-BE49-F238E27FC236}">
                <a16:creationId xmlns:a16="http://schemas.microsoft.com/office/drawing/2014/main" id="{25D4FD1B-F7DF-87DA-3323-AA5BEF2C57FE}"/>
              </a:ext>
            </a:extLst>
          </p:cNvPr>
          <p:cNvSpPr/>
          <p:nvPr/>
        </p:nvSpPr>
        <p:spPr>
          <a:xfrm>
            <a:off x="87630" y="1054862"/>
            <a:ext cx="3646170" cy="562356"/>
          </a:xfrm>
          <a:prstGeom prst="roundRect">
            <a:avLst>
              <a:gd name="adj" fmla="val 8000"/>
            </a:avLst>
          </a:prstGeom>
          <a:solidFill>
            <a:srgbClr val="1E5B3F"/>
          </a:solidFill>
          <a:ln>
            <a:noFill/>
          </a:ln>
        </p:spPr>
        <p:txBody>
          <a:bodyPr wrap="square" lIns="164592" tIns="45720" rIns="91440" bIns="45720" anchor="ctr">
            <a:normAutofit/>
          </a:bodyPr>
          <a:lstStyle/>
          <a:p>
            <a:r>
              <a:rPr lang="en-US" sz="2400" b="1" dirty="0">
                <a:solidFill>
                  <a:schemeClr val="bg1"/>
                </a:solidFill>
              </a:rPr>
              <a:t>Hypothesis (H₄)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BDA63-8703-5F74-DD86-E26399A8381E}"/>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331BDA6-3109-1A68-805D-8F9A1092CC26}"/>
              </a:ext>
            </a:extLst>
          </p:cNvPr>
          <p:cNvSpPr/>
          <p:nvPr/>
        </p:nvSpPr>
        <p:spPr>
          <a:xfrm>
            <a:off x="986860" y="263980"/>
            <a:ext cx="8058912" cy="557374"/>
          </a:xfrm>
          <a:prstGeom prst="rect">
            <a:avLst/>
          </a:prstGeom>
          <a:noFill/>
          <a:ln>
            <a:noFill/>
          </a:ln>
        </p:spPr>
        <p:txBody>
          <a:bodyPr wrap="square" lIns="0" tIns="45720" rIns="91440" bIns="18288" anchor="b">
            <a:normAutofit fontScale="92500" lnSpcReduction="10000"/>
          </a:bodyPr>
          <a:lstStyle/>
          <a:p>
            <a:r>
              <a:rPr lang="en-US" sz="3600" b="1" dirty="0">
                <a:solidFill>
                  <a:srgbClr val="1E5B3F"/>
                </a:solidFill>
                <a:latin typeface="Cambria"/>
                <a:cs typeface="Cambria"/>
              </a:rPr>
              <a:t>Pearson Correlation Analysis</a:t>
            </a:r>
          </a:p>
        </p:txBody>
      </p:sp>
      <p:sp>
        <p:nvSpPr>
          <p:cNvPr id="12" name="titleRule">
            <a:extLst>
              <a:ext uri="{FF2B5EF4-FFF2-40B4-BE49-F238E27FC236}">
                <a16:creationId xmlns:a16="http://schemas.microsoft.com/office/drawing/2014/main" id="{BA2F2F8F-DF5E-71EC-2426-DDD9A34F7FE2}"/>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7" name="cardbody">
            <a:extLst>
              <a:ext uri="{FF2B5EF4-FFF2-40B4-BE49-F238E27FC236}">
                <a16:creationId xmlns:a16="http://schemas.microsoft.com/office/drawing/2014/main" id="{9A49C641-E81B-8686-878B-BCAB6FE65444}"/>
              </a:ext>
            </a:extLst>
          </p:cNvPr>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3D42FA79-A9C4-8162-176D-E03BC204B60B}"/>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AD0B715D-4624-FC67-01B6-3A3F7C928BC2}"/>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EF8DA997-B216-0308-ED54-969709BEED39}"/>
              </a:ext>
            </a:extLst>
          </p:cNvPr>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5" name="Table 4">
            <a:extLst>
              <a:ext uri="{FF2B5EF4-FFF2-40B4-BE49-F238E27FC236}">
                <a16:creationId xmlns:a16="http://schemas.microsoft.com/office/drawing/2014/main" id="{EFA13B1F-484C-FA8B-4318-8A1166DFA6B2}"/>
              </a:ext>
            </a:extLst>
          </p:cNvPr>
          <p:cNvGraphicFramePr>
            <a:graphicFrameLocks noGrp="1"/>
          </p:cNvGraphicFramePr>
          <p:nvPr>
            <p:extLst>
              <p:ext uri="{D42A27DB-BD31-4B8C-83A1-F6EECF244321}">
                <p14:modId xmlns:p14="http://schemas.microsoft.com/office/powerpoint/2010/main" val="1097881027"/>
              </p:ext>
            </p:extLst>
          </p:nvPr>
        </p:nvGraphicFramePr>
        <p:xfrm>
          <a:off x="152400" y="1121746"/>
          <a:ext cx="4572000" cy="5234604"/>
        </p:xfrm>
        <a:graphic>
          <a:graphicData uri="http://schemas.openxmlformats.org/drawingml/2006/table">
            <a:tbl>
              <a:tblPr firstRow="1" firstCol="1" bandRow="1">
                <a:tableStyleId>{5C22544A-7EE6-4342-B048-85BDC9FD1C3A}</a:tableStyleId>
              </a:tblPr>
              <a:tblGrid>
                <a:gridCol w="867104">
                  <a:extLst>
                    <a:ext uri="{9D8B030D-6E8A-4147-A177-3AD203B41FA5}">
                      <a16:colId xmlns:a16="http://schemas.microsoft.com/office/drawing/2014/main" val="1531028866"/>
                    </a:ext>
                  </a:extLst>
                </a:gridCol>
                <a:gridCol w="656896">
                  <a:extLst>
                    <a:ext uri="{9D8B030D-6E8A-4147-A177-3AD203B41FA5}">
                      <a16:colId xmlns:a16="http://schemas.microsoft.com/office/drawing/2014/main" val="1687876420"/>
                    </a:ext>
                  </a:extLst>
                </a:gridCol>
                <a:gridCol w="762000">
                  <a:extLst>
                    <a:ext uri="{9D8B030D-6E8A-4147-A177-3AD203B41FA5}">
                      <a16:colId xmlns:a16="http://schemas.microsoft.com/office/drawing/2014/main" val="3630658083"/>
                    </a:ext>
                  </a:extLst>
                </a:gridCol>
                <a:gridCol w="762000">
                  <a:extLst>
                    <a:ext uri="{9D8B030D-6E8A-4147-A177-3AD203B41FA5}">
                      <a16:colId xmlns:a16="http://schemas.microsoft.com/office/drawing/2014/main" val="4140152317"/>
                    </a:ext>
                  </a:extLst>
                </a:gridCol>
                <a:gridCol w="762000">
                  <a:extLst>
                    <a:ext uri="{9D8B030D-6E8A-4147-A177-3AD203B41FA5}">
                      <a16:colId xmlns:a16="http://schemas.microsoft.com/office/drawing/2014/main" val="1331000021"/>
                    </a:ext>
                  </a:extLst>
                </a:gridCol>
                <a:gridCol w="762000">
                  <a:extLst>
                    <a:ext uri="{9D8B030D-6E8A-4147-A177-3AD203B41FA5}">
                      <a16:colId xmlns:a16="http://schemas.microsoft.com/office/drawing/2014/main" val="2447874292"/>
                    </a:ext>
                  </a:extLst>
                </a:gridCol>
              </a:tblGrid>
              <a:tr h="1045050">
                <a:tc>
                  <a:txBody>
                    <a:bodyPr/>
                    <a:lstStyle/>
                    <a:p>
                      <a:pPr marL="0" marR="0" algn="ctr">
                        <a:lnSpc>
                          <a:spcPct val="115000"/>
                        </a:lnSpc>
                        <a:buNone/>
                      </a:pPr>
                      <a:r>
                        <a:rPr lang="en-US" sz="1100" dirty="0">
                          <a:effectLst/>
                        </a:rPr>
                        <a:t>Variables</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Direct Marketing Awareness</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Digital Platform Usage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Market Price Information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Fair Price Received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Storage Facilities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3926379850"/>
                  </a:ext>
                </a:extLst>
              </a:tr>
              <a:tr h="1027833">
                <a:tc>
                  <a:txBody>
                    <a:bodyPr/>
                    <a:lstStyle/>
                    <a:p>
                      <a:pPr marL="0" marR="0">
                        <a:lnSpc>
                          <a:spcPct val="115000"/>
                        </a:lnSpc>
                        <a:buNone/>
                      </a:pPr>
                      <a:r>
                        <a:rPr lang="en-US" sz="1100">
                          <a:effectLst/>
                        </a:rPr>
                        <a:t>Direct Marketing Awareness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0.938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0.958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0.478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0.361</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1267135900"/>
                  </a:ext>
                </a:extLst>
              </a:tr>
              <a:tr h="1045050">
                <a:tc>
                  <a:txBody>
                    <a:bodyPr/>
                    <a:lstStyle/>
                    <a:p>
                      <a:pPr marL="0" marR="0">
                        <a:lnSpc>
                          <a:spcPct val="115000"/>
                        </a:lnSpc>
                        <a:buNone/>
                      </a:pPr>
                      <a:r>
                        <a:rPr lang="en-US" sz="1100">
                          <a:effectLst/>
                        </a:rPr>
                        <a:t>Digital Platform Usage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0.938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0.895</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0.510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0.385</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47435248"/>
                  </a:ext>
                </a:extLst>
              </a:tr>
              <a:tr h="745079">
                <a:tc>
                  <a:txBody>
                    <a:bodyPr/>
                    <a:lstStyle/>
                    <a:p>
                      <a:pPr marL="0" marR="0">
                        <a:lnSpc>
                          <a:spcPct val="115000"/>
                        </a:lnSpc>
                        <a:buNone/>
                      </a:pPr>
                      <a:r>
                        <a:rPr lang="en-US" sz="1100">
                          <a:effectLst/>
                        </a:rPr>
                        <a:t>Market Price Information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0.958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0.895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0.460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0.377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861693047"/>
                  </a:ext>
                </a:extLst>
              </a:tr>
              <a:tr h="685796">
                <a:tc>
                  <a:txBody>
                    <a:bodyPr/>
                    <a:lstStyle/>
                    <a:p>
                      <a:pPr marL="0" marR="0">
                        <a:lnSpc>
                          <a:spcPct val="115000"/>
                        </a:lnSpc>
                        <a:buNone/>
                      </a:pPr>
                      <a:r>
                        <a:rPr lang="en-US" sz="1100">
                          <a:effectLst/>
                        </a:rPr>
                        <a:t>Fair Price Received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0.478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0.510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0.460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0.755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4065324429"/>
                  </a:ext>
                </a:extLst>
              </a:tr>
              <a:tr h="685796">
                <a:tc>
                  <a:txBody>
                    <a:bodyPr/>
                    <a:lstStyle/>
                    <a:p>
                      <a:pPr marL="0" marR="0">
                        <a:lnSpc>
                          <a:spcPct val="115000"/>
                        </a:lnSpc>
                        <a:buNone/>
                      </a:pPr>
                      <a:r>
                        <a:rPr lang="en-US" sz="1100">
                          <a:effectLst/>
                        </a:rPr>
                        <a:t>Storage Facilities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0.361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0.385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a:effectLst/>
                        </a:rPr>
                        <a:t>0.377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0.755</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tc>
                  <a:txBody>
                    <a:bodyPr/>
                    <a:lstStyle/>
                    <a:p>
                      <a:pPr marL="0" marR="0" algn="ctr">
                        <a:lnSpc>
                          <a:spcPct val="115000"/>
                        </a:lnSpc>
                        <a:buNone/>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589" marR="53589" marT="0" marB="0"/>
                </a:tc>
                <a:extLst>
                  <a:ext uri="{0D108BD9-81ED-4DB2-BD59-A6C34878D82A}">
                    <a16:rowId xmlns:a16="http://schemas.microsoft.com/office/drawing/2014/main" val="4048630998"/>
                  </a:ext>
                </a:extLst>
              </a:tr>
            </a:tbl>
          </a:graphicData>
        </a:graphic>
      </p:graphicFrame>
      <p:pic>
        <p:nvPicPr>
          <p:cNvPr id="6" name="Picture 5">
            <a:extLst>
              <a:ext uri="{FF2B5EF4-FFF2-40B4-BE49-F238E27FC236}">
                <a16:creationId xmlns:a16="http://schemas.microsoft.com/office/drawing/2014/main" id="{EFFBB8A2-00DF-DF26-78C6-B924542BD8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49714" y="1413002"/>
            <a:ext cx="4141886" cy="4544060"/>
          </a:xfrm>
          <a:prstGeom prst="rect">
            <a:avLst/>
          </a:prstGeom>
          <a:noFill/>
          <a:ln>
            <a:noFill/>
          </a:ln>
        </p:spPr>
      </p:pic>
    </p:spTree>
    <p:extLst>
      <p:ext uri="{BB962C8B-B14F-4D97-AF65-F5344CB8AC3E}">
        <p14:creationId xmlns:p14="http://schemas.microsoft.com/office/powerpoint/2010/main" val="3785600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5BB78-18CE-BF04-6382-634145DD2505}"/>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CC015229-FADD-2C04-9EC9-CFF039B0D621}"/>
              </a:ext>
            </a:extLst>
          </p:cNvPr>
          <p:cNvSpPr/>
          <p:nvPr/>
        </p:nvSpPr>
        <p:spPr>
          <a:xfrm>
            <a:off x="986860" y="1"/>
            <a:ext cx="8058912" cy="888238"/>
          </a:xfrm>
          <a:prstGeom prst="rect">
            <a:avLst/>
          </a:prstGeom>
          <a:noFill/>
          <a:ln>
            <a:noFill/>
          </a:ln>
        </p:spPr>
        <p:txBody>
          <a:bodyPr wrap="square" lIns="0" tIns="45720" rIns="91440" bIns="18288" anchor="b">
            <a:normAutofit/>
          </a:bodyPr>
          <a:lstStyle/>
          <a:p>
            <a:r>
              <a:rPr lang="en-US" sz="2400" b="1" dirty="0">
                <a:solidFill>
                  <a:srgbClr val="1E5B3F"/>
                </a:solidFill>
                <a:latin typeface="Cambria"/>
                <a:cs typeface="Cambria"/>
              </a:rPr>
              <a:t>Multicollinearity Assessment (VIF) &amp; Binary Logistic Regression</a:t>
            </a:r>
          </a:p>
        </p:txBody>
      </p:sp>
      <p:sp>
        <p:nvSpPr>
          <p:cNvPr id="12" name="titleRule">
            <a:extLst>
              <a:ext uri="{FF2B5EF4-FFF2-40B4-BE49-F238E27FC236}">
                <a16:creationId xmlns:a16="http://schemas.microsoft.com/office/drawing/2014/main" id="{20A27239-ECD7-076A-62AD-578C3331C6D6}"/>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3" name="purp">
            <a:extLst>
              <a:ext uri="{FF2B5EF4-FFF2-40B4-BE49-F238E27FC236}">
                <a16:creationId xmlns:a16="http://schemas.microsoft.com/office/drawing/2014/main" id="{01A43802-5344-4170-6DE1-1153D31B3FAC}"/>
              </a:ext>
            </a:extLst>
          </p:cNvPr>
          <p:cNvSpPr/>
          <p:nvPr/>
        </p:nvSpPr>
        <p:spPr>
          <a:xfrm>
            <a:off x="105156" y="1084454"/>
            <a:ext cx="3628644" cy="3563746"/>
          </a:xfrm>
          <a:prstGeom prst="roundRect">
            <a:avLst>
              <a:gd name="adj" fmla="val 6000"/>
            </a:avLst>
          </a:prstGeom>
          <a:solidFill>
            <a:srgbClr val="E9F0EA"/>
          </a:solidFill>
          <a:ln w="12700">
            <a:solidFill>
              <a:srgbClr val="D9DCD1"/>
            </a:solidFill>
          </a:ln>
        </p:spPr>
        <p:txBody>
          <a:bodyPr wrap="square" lIns="146304" tIns="91440" rIns="91440" bIns="45720" anchor="t">
            <a:normAutofit lnSpcReduction="10000"/>
          </a:bodyPr>
          <a:lstStyle/>
          <a:p>
            <a:endParaRPr lang="en-US" sz="1600" b="1" dirty="0"/>
          </a:p>
          <a:p>
            <a:endParaRPr lang="en-US" b="1" dirty="0"/>
          </a:p>
          <a:p>
            <a:r>
              <a:rPr lang="en-US" sz="2000" b="1" dirty="0"/>
              <a:t>Dependent Variable:</a:t>
            </a:r>
            <a:endParaRPr lang="en-US" sz="2000" dirty="0"/>
          </a:p>
          <a:p>
            <a:pPr marL="285750" indent="-285750">
              <a:buFont typeface="Arial" panose="020B0604020202020204" pitchFamily="34" charset="0"/>
              <a:buChar char="•"/>
            </a:pPr>
            <a:r>
              <a:rPr lang="en-US" dirty="0"/>
              <a:t>Fair Price Realization</a:t>
            </a:r>
          </a:p>
          <a:p>
            <a:endParaRPr lang="en-US" dirty="0"/>
          </a:p>
          <a:p>
            <a:r>
              <a:rPr lang="en-US" sz="2000" b="1" dirty="0"/>
              <a:t>Independent Variables:</a:t>
            </a:r>
            <a:endParaRPr lang="en-US" sz="2000" dirty="0"/>
          </a:p>
          <a:p>
            <a:pPr marL="285750" indent="-285750">
              <a:buFont typeface="Arial" panose="020B0604020202020204" pitchFamily="34" charset="0"/>
              <a:buChar char="•"/>
            </a:pPr>
            <a:r>
              <a:rPr lang="en-US" dirty="0"/>
              <a:t>Direct Marketing Awareness</a:t>
            </a:r>
          </a:p>
          <a:p>
            <a:pPr marL="285750" indent="-285750">
              <a:buFont typeface="Arial" panose="020B0604020202020204" pitchFamily="34" charset="0"/>
              <a:buChar char="•"/>
            </a:pPr>
            <a:r>
              <a:rPr lang="en-US" dirty="0"/>
              <a:t>Digital Platform Usage</a:t>
            </a:r>
          </a:p>
          <a:p>
            <a:pPr marL="285750" indent="-285750">
              <a:buFont typeface="Arial" panose="020B0604020202020204" pitchFamily="34" charset="0"/>
              <a:buChar char="•"/>
            </a:pPr>
            <a:r>
              <a:rPr lang="en-US" dirty="0"/>
              <a:t>Market Price Information</a:t>
            </a:r>
          </a:p>
          <a:p>
            <a:pPr marL="285750" indent="-285750">
              <a:buFont typeface="Arial" panose="020B0604020202020204" pitchFamily="34" charset="0"/>
              <a:buChar char="•"/>
            </a:pPr>
            <a:r>
              <a:rPr lang="en-US" dirty="0"/>
              <a:t>Storage Facilities</a:t>
            </a:r>
          </a:p>
          <a:p>
            <a:pPr marL="285750" indent="-285750">
              <a:buFont typeface="Arial" panose="020B0604020202020204" pitchFamily="34" charset="0"/>
              <a:buChar char="•"/>
            </a:pPr>
            <a:r>
              <a:rPr lang="en-US" dirty="0"/>
              <a:t>Middlemen Influence</a:t>
            </a:r>
          </a:p>
          <a:p>
            <a:pPr marL="285750" indent="-285750">
              <a:buFont typeface="Arial" panose="020B0604020202020204" pitchFamily="34" charset="0"/>
              <a:buChar char="•"/>
            </a:pPr>
            <a:r>
              <a:rPr lang="en-US" dirty="0"/>
              <a:t>Customer Interest</a:t>
            </a:r>
          </a:p>
          <a:p>
            <a:pPr marL="285750" indent="-285750">
              <a:buFont typeface="Arial" panose="020B0604020202020204" pitchFamily="34" charset="0"/>
              <a:buChar char="•"/>
            </a:pPr>
            <a:r>
              <a:rPr lang="en-US" dirty="0"/>
              <a:t>Preference for Digital Platforms </a:t>
            </a:r>
          </a:p>
        </p:txBody>
      </p:sp>
      <p:sp>
        <p:nvSpPr>
          <p:cNvPr id="17" name="cardbody">
            <a:extLst>
              <a:ext uri="{FF2B5EF4-FFF2-40B4-BE49-F238E27FC236}">
                <a16:creationId xmlns:a16="http://schemas.microsoft.com/office/drawing/2014/main" id="{A04C0462-6CC9-9249-BB05-E006B0E1AE72}"/>
              </a:ext>
            </a:extLst>
          </p:cNvPr>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6CD98824-91B9-4323-45E9-AB76587A427E}"/>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EF551EC1-7EEA-C056-6E82-C53B11A82FA1}"/>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859679C7-FE26-3E61-93A5-0568290B451D}"/>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cardhead">
            <a:extLst>
              <a:ext uri="{FF2B5EF4-FFF2-40B4-BE49-F238E27FC236}">
                <a16:creationId xmlns:a16="http://schemas.microsoft.com/office/drawing/2014/main" id="{CEB676AF-E100-5CF8-8B39-ACC565AC99F6}"/>
              </a:ext>
            </a:extLst>
          </p:cNvPr>
          <p:cNvSpPr/>
          <p:nvPr/>
        </p:nvSpPr>
        <p:spPr>
          <a:xfrm>
            <a:off x="87630" y="1054862"/>
            <a:ext cx="3646170" cy="562356"/>
          </a:xfrm>
          <a:prstGeom prst="roundRect">
            <a:avLst>
              <a:gd name="adj" fmla="val 8000"/>
            </a:avLst>
          </a:prstGeom>
          <a:solidFill>
            <a:srgbClr val="1E5B3F"/>
          </a:solidFill>
          <a:ln>
            <a:noFill/>
          </a:ln>
        </p:spPr>
        <p:txBody>
          <a:bodyPr wrap="square" lIns="164592" tIns="45720" rIns="91440" bIns="45720" anchor="ctr">
            <a:normAutofit/>
          </a:bodyPr>
          <a:lstStyle/>
          <a:p>
            <a:r>
              <a:rPr lang="en-US" sz="2400" b="1" dirty="0">
                <a:solidFill>
                  <a:schemeClr val="bg1"/>
                </a:solidFill>
              </a:rPr>
              <a:t>Model Variables</a:t>
            </a:r>
            <a:endParaRPr lang="en-US" sz="3200" b="1" dirty="0">
              <a:solidFill>
                <a:schemeClr val="bg1"/>
              </a:solidFill>
            </a:endParaRPr>
          </a:p>
        </p:txBody>
      </p:sp>
      <p:graphicFrame>
        <p:nvGraphicFramePr>
          <p:cNvPr id="5" name="Table 4">
            <a:extLst>
              <a:ext uri="{FF2B5EF4-FFF2-40B4-BE49-F238E27FC236}">
                <a16:creationId xmlns:a16="http://schemas.microsoft.com/office/drawing/2014/main" id="{7D248F36-648E-14CA-5425-97595AEBCDDD}"/>
              </a:ext>
            </a:extLst>
          </p:cNvPr>
          <p:cNvGraphicFramePr>
            <a:graphicFrameLocks noGrp="1"/>
          </p:cNvGraphicFramePr>
          <p:nvPr>
            <p:extLst>
              <p:ext uri="{D42A27DB-BD31-4B8C-83A1-F6EECF244321}">
                <p14:modId xmlns:p14="http://schemas.microsoft.com/office/powerpoint/2010/main" val="903932988"/>
              </p:ext>
            </p:extLst>
          </p:nvPr>
        </p:nvGraphicFramePr>
        <p:xfrm>
          <a:off x="3846121" y="1054861"/>
          <a:ext cx="5135961" cy="1667002"/>
        </p:xfrm>
        <a:graphic>
          <a:graphicData uri="http://schemas.openxmlformats.org/drawingml/2006/table">
            <a:tbl>
              <a:tblPr firstRow="1" firstCol="1" bandRow="1">
                <a:tableStyleId>{5C22544A-7EE6-4342-B048-85BDC9FD1C3A}</a:tableStyleId>
              </a:tblPr>
              <a:tblGrid>
                <a:gridCol w="1711987">
                  <a:extLst>
                    <a:ext uri="{9D8B030D-6E8A-4147-A177-3AD203B41FA5}">
                      <a16:colId xmlns:a16="http://schemas.microsoft.com/office/drawing/2014/main" val="486423285"/>
                    </a:ext>
                  </a:extLst>
                </a:gridCol>
                <a:gridCol w="1711987">
                  <a:extLst>
                    <a:ext uri="{9D8B030D-6E8A-4147-A177-3AD203B41FA5}">
                      <a16:colId xmlns:a16="http://schemas.microsoft.com/office/drawing/2014/main" val="1844064396"/>
                    </a:ext>
                  </a:extLst>
                </a:gridCol>
                <a:gridCol w="1711987">
                  <a:extLst>
                    <a:ext uri="{9D8B030D-6E8A-4147-A177-3AD203B41FA5}">
                      <a16:colId xmlns:a16="http://schemas.microsoft.com/office/drawing/2014/main" val="2198030506"/>
                    </a:ext>
                  </a:extLst>
                </a:gridCol>
              </a:tblGrid>
              <a:tr h="312066">
                <a:tc>
                  <a:txBody>
                    <a:bodyPr/>
                    <a:lstStyle/>
                    <a:p>
                      <a:pPr marL="0" marR="0" algn="ctr">
                        <a:lnSpc>
                          <a:spcPct val="115000"/>
                        </a:lnSpc>
                        <a:buNone/>
                      </a:pPr>
                      <a:r>
                        <a:rPr lang="en-US" sz="1200" dirty="0">
                          <a:effectLst/>
                        </a:rPr>
                        <a:t>Variable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VIF Value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buNone/>
                      </a:pPr>
                      <a:r>
                        <a:rPr lang="en-US" sz="1200">
                          <a:effectLst/>
                        </a:rPr>
                        <a:t>Interpretation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34400170"/>
                  </a:ext>
                </a:extLst>
              </a:tr>
              <a:tr h="312066">
                <a:tc>
                  <a:txBody>
                    <a:bodyPr/>
                    <a:lstStyle/>
                    <a:p>
                      <a:pPr marL="0" marR="0">
                        <a:lnSpc>
                          <a:spcPct val="115000"/>
                        </a:lnSpc>
                        <a:buNone/>
                      </a:pPr>
                      <a:r>
                        <a:rPr lang="en-US" sz="1200">
                          <a:effectLst/>
                        </a:rPr>
                        <a:t>Direct Marketing</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20.06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200">
                          <a:effectLst/>
                        </a:rPr>
                        <a:t>Severe Multicollinearity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6342784"/>
                  </a:ext>
                </a:extLst>
              </a:tr>
              <a:tr h="312066">
                <a:tc>
                  <a:txBody>
                    <a:bodyPr/>
                    <a:lstStyle/>
                    <a:p>
                      <a:pPr marL="0" marR="0">
                        <a:lnSpc>
                          <a:spcPct val="115000"/>
                        </a:lnSpc>
                        <a:buNone/>
                      </a:pPr>
                      <a:r>
                        <a:rPr lang="en-US" sz="1200">
                          <a:effectLst/>
                        </a:rPr>
                        <a:t>Digital Platform</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dirty="0">
                          <a:effectLst/>
                        </a:rPr>
                        <a:t>8.47</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200">
                          <a:effectLst/>
                        </a:rPr>
                        <a:t>High Multicollinearity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1783809"/>
                  </a:ext>
                </a:extLst>
              </a:tr>
              <a:tr h="418738">
                <a:tc>
                  <a:txBody>
                    <a:bodyPr/>
                    <a:lstStyle/>
                    <a:p>
                      <a:pPr marL="0" marR="0">
                        <a:lnSpc>
                          <a:spcPct val="115000"/>
                        </a:lnSpc>
                        <a:buNone/>
                      </a:pPr>
                      <a:r>
                        <a:rPr lang="en-US" sz="1200">
                          <a:effectLst/>
                        </a:rPr>
                        <a:t>Market Price Information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dirty="0">
                          <a:effectLst/>
                        </a:rPr>
                        <a:t>12.25</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200">
                          <a:effectLst/>
                        </a:rPr>
                        <a:t>Severe Multicollinearity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15401043"/>
                  </a:ext>
                </a:extLst>
              </a:tr>
              <a:tr h="312066">
                <a:tc>
                  <a:txBody>
                    <a:bodyPr/>
                    <a:lstStyle/>
                    <a:p>
                      <a:pPr marL="0" marR="0">
                        <a:lnSpc>
                          <a:spcPct val="115000"/>
                        </a:lnSpc>
                        <a:buNone/>
                      </a:pPr>
                      <a:r>
                        <a:rPr lang="en-US" sz="1200" dirty="0">
                          <a:effectLst/>
                        </a:rPr>
                        <a:t>Storage Facilities</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1.19</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200" dirty="0">
                          <a:effectLst/>
                        </a:rPr>
                        <a:t>No Multicollinearity</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5101511"/>
                  </a:ext>
                </a:extLst>
              </a:tr>
            </a:tbl>
          </a:graphicData>
        </a:graphic>
      </p:graphicFrame>
      <p:graphicFrame>
        <p:nvGraphicFramePr>
          <p:cNvPr id="6" name="Table 5">
            <a:extLst>
              <a:ext uri="{FF2B5EF4-FFF2-40B4-BE49-F238E27FC236}">
                <a16:creationId xmlns:a16="http://schemas.microsoft.com/office/drawing/2014/main" id="{230EA820-61FD-8386-D3AA-002F35A6D38D}"/>
              </a:ext>
            </a:extLst>
          </p:cNvPr>
          <p:cNvGraphicFramePr>
            <a:graphicFrameLocks noGrp="1"/>
          </p:cNvGraphicFramePr>
          <p:nvPr>
            <p:extLst>
              <p:ext uri="{D42A27DB-BD31-4B8C-83A1-F6EECF244321}">
                <p14:modId xmlns:p14="http://schemas.microsoft.com/office/powerpoint/2010/main" val="3201960374"/>
              </p:ext>
            </p:extLst>
          </p:nvPr>
        </p:nvGraphicFramePr>
        <p:xfrm>
          <a:off x="3846121" y="2795014"/>
          <a:ext cx="5135962" cy="1853181"/>
        </p:xfrm>
        <a:graphic>
          <a:graphicData uri="http://schemas.openxmlformats.org/drawingml/2006/table">
            <a:tbl>
              <a:tblPr firstRow="1" firstCol="1" bandRow="1">
                <a:tableStyleId>{5C22544A-7EE6-4342-B048-85BDC9FD1C3A}</a:tableStyleId>
              </a:tblPr>
              <a:tblGrid>
                <a:gridCol w="2567981">
                  <a:extLst>
                    <a:ext uri="{9D8B030D-6E8A-4147-A177-3AD203B41FA5}">
                      <a16:colId xmlns:a16="http://schemas.microsoft.com/office/drawing/2014/main" val="220874718"/>
                    </a:ext>
                  </a:extLst>
                </a:gridCol>
                <a:gridCol w="2567981">
                  <a:extLst>
                    <a:ext uri="{9D8B030D-6E8A-4147-A177-3AD203B41FA5}">
                      <a16:colId xmlns:a16="http://schemas.microsoft.com/office/drawing/2014/main" val="573868905"/>
                    </a:ext>
                  </a:extLst>
                </a:gridCol>
              </a:tblGrid>
              <a:tr h="205909">
                <a:tc>
                  <a:txBody>
                    <a:bodyPr/>
                    <a:lstStyle/>
                    <a:p>
                      <a:pPr marL="0" marR="0" algn="ctr">
                        <a:lnSpc>
                          <a:spcPct val="115000"/>
                        </a:lnSpc>
                        <a:buNone/>
                      </a:pPr>
                      <a:r>
                        <a:rPr lang="en-US" sz="1200" dirty="0">
                          <a:effectLst/>
                        </a:rPr>
                        <a:t>Model Statistic</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dirty="0">
                          <a:effectLst/>
                        </a:rPr>
                        <a:t>Value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0014093"/>
                  </a:ext>
                </a:extLst>
              </a:tr>
              <a:tr h="205909">
                <a:tc>
                  <a:txBody>
                    <a:bodyPr/>
                    <a:lstStyle/>
                    <a:p>
                      <a:pPr marL="0" marR="0">
                        <a:lnSpc>
                          <a:spcPct val="115000"/>
                        </a:lnSpc>
                        <a:buNone/>
                      </a:pPr>
                      <a:r>
                        <a:rPr lang="en-US" sz="1200">
                          <a:effectLst/>
                        </a:rPr>
                        <a:t>Number of Observations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115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9003403"/>
                  </a:ext>
                </a:extLst>
              </a:tr>
              <a:tr h="205909">
                <a:tc>
                  <a:txBody>
                    <a:bodyPr/>
                    <a:lstStyle/>
                    <a:p>
                      <a:pPr marL="0" marR="0">
                        <a:lnSpc>
                          <a:spcPct val="115000"/>
                        </a:lnSpc>
                        <a:buNone/>
                      </a:pPr>
                      <a:r>
                        <a:rPr lang="en-US" sz="1200">
                          <a:effectLst/>
                        </a:rPr>
                        <a:t>Dependent Variable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Fair Price Received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84889639"/>
                  </a:ext>
                </a:extLst>
              </a:tr>
              <a:tr h="205909">
                <a:tc>
                  <a:txBody>
                    <a:bodyPr/>
                    <a:lstStyle/>
                    <a:p>
                      <a:pPr marL="0" marR="0">
                        <a:lnSpc>
                          <a:spcPct val="115000"/>
                        </a:lnSpc>
                        <a:buNone/>
                      </a:pPr>
                      <a:r>
                        <a:rPr lang="en-US" sz="1200">
                          <a:effectLst/>
                        </a:rPr>
                        <a:t>Independent Variable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Market Price Information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0534251"/>
                  </a:ext>
                </a:extLst>
              </a:tr>
              <a:tr h="205909">
                <a:tc>
                  <a:txBody>
                    <a:bodyPr/>
                    <a:lstStyle/>
                    <a:p>
                      <a:pPr marL="0" marR="0">
                        <a:lnSpc>
                          <a:spcPct val="115000"/>
                        </a:lnSpc>
                        <a:buNone/>
                      </a:pPr>
                      <a:r>
                        <a:rPr lang="en-US" sz="1200">
                          <a:effectLst/>
                        </a:rPr>
                        <a:t>Method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Maximum Likelihood Estimation (MLE)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8499281"/>
                  </a:ext>
                </a:extLst>
              </a:tr>
              <a:tr h="205909">
                <a:tc>
                  <a:txBody>
                    <a:bodyPr/>
                    <a:lstStyle/>
                    <a:p>
                      <a:pPr marL="0" marR="0">
                        <a:lnSpc>
                          <a:spcPct val="115000"/>
                        </a:lnSpc>
                        <a:buNone/>
                      </a:pPr>
                      <a:r>
                        <a:rPr lang="en-US" sz="1200">
                          <a:effectLst/>
                        </a:rPr>
                        <a:t>Log-Likelihood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dirty="0">
                          <a:effectLst/>
                        </a:rPr>
                        <a:t>-61.222</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9469709"/>
                  </a:ext>
                </a:extLst>
              </a:tr>
              <a:tr h="205909">
                <a:tc>
                  <a:txBody>
                    <a:bodyPr/>
                    <a:lstStyle/>
                    <a:p>
                      <a:pPr marL="0" marR="0">
                        <a:lnSpc>
                          <a:spcPct val="115000"/>
                        </a:lnSpc>
                        <a:buNone/>
                      </a:pPr>
                      <a:r>
                        <a:rPr lang="en-US" sz="1200">
                          <a:effectLst/>
                        </a:rPr>
                        <a:t>Pseudo R²</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0.1998</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8194042"/>
                  </a:ext>
                </a:extLst>
              </a:tr>
              <a:tr h="205909">
                <a:tc>
                  <a:txBody>
                    <a:bodyPr/>
                    <a:lstStyle/>
                    <a:p>
                      <a:pPr marL="0" marR="0">
                        <a:lnSpc>
                          <a:spcPct val="115000"/>
                        </a:lnSpc>
                        <a:buNone/>
                      </a:pPr>
                      <a:r>
                        <a:rPr lang="en-US" sz="1200">
                          <a:effectLst/>
                        </a:rPr>
                        <a:t>Likelihood Ratio (LLR) p-value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a:effectLst/>
                        </a:rPr>
                        <a:t>3.201 × 10⁻⁸</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4980348"/>
                  </a:ext>
                </a:extLst>
              </a:tr>
              <a:tr h="205909">
                <a:tc>
                  <a:txBody>
                    <a:bodyPr/>
                    <a:lstStyle/>
                    <a:p>
                      <a:pPr marL="0" marR="0">
                        <a:lnSpc>
                          <a:spcPct val="115000"/>
                        </a:lnSpc>
                        <a:buNone/>
                      </a:pPr>
                      <a:r>
                        <a:rPr lang="en-US" sz="1200">
                          <a:effectLst/>
                        </a:rPr>
                        <a:t>Model Convergence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200" dirty="0">
                          <a:effectLst/>
                        </a:rPr>
                        <a:t>Converged Successfully</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1484535"/>
                  </a:ext>
                </a:extLst>
              </a:tr>
            </a:tbl>
          </a:graphicData>
        </a:graphic>
      </p:graphicFrame>
      <p:graphicFrame>
        <p:nvGraphicFramePr>
          <p:cNvPr id="7" name="Table 6">
            <a:extLst>
              <a:ext uri="{FF2B5EF4-FFF2-40B4-BE49-F238E27FC236}">
                <a16:creationId xmlns:a16="http://schemas.microsoft.com/office/drawing/2014/main" id="{ADDD421A-6055-12D8-DC27-B8B4F40F8038}"/>
              </a:ext>
            </a:extLst>
          </p:cNvPr>
          <p:cNvGraphicFramePr>
            <a:graphicFrameLocks noGrp="1"/>
          </p:cNvGraphicFramePr>
          <p:nvPr>
            <p:extLst>
              <p:ext uri="{D42A27DB-BD31-4B8C-83A1-F6EECF244321}">
                <p14:modId xmlns:p14="http://schemas.microsoft.com/office/powerpoint/2010/main" val="3404263535"/>
              </p:ext>
            </p:extLst>
          </p:nvPr>
        </p:nvGraphicFramePr>
        <p:xfrm>
          <a:off x="118020" y="4768318"/>
          <a:ext cx="8864064" cy="1517292"/>
        </p:xfrm>
        <a:graphic>
          <a:graphicData uri="http://schemas.openxmlformats.org/drawingml/2006/table">
            <a:tbl>
              <a:tblPr firstRow="1" firstCol="1" bandRow="1">
                <a:tableStyleId>{5C22544A-7EE6-4342-B048-85BDC9FD1C3A}</a:tableStyleId>
              </a:tblPr>
              <a:tblGrid>
                <a:gridCol w="1477344">
                  <a:extLst>
                    <a:ext uri="{9D8B030D-6E8A-4147-A177-3AD203B41FA5}">
                      <a16:colId xmlns:a16="http://schemas.microsoft.com/office/drawing/2014/main" val="3847077875"/>
                    </a:ext>
                  </a:extLst>
                </a:gridCol>
                <a:gridCol w="1477344">
                  <a:extLst>
                    <a:ext uri="{9D8B030D-6E8A-4147-A177-3AD203B41FA5}">
                      <a16:colId xmlns:a16="http://schemas.microsoft.com/office/drawing/2014/main" val="2962188541"/>
                    </a:ext>
                  </a:extLst>
                </a:gridCol>
                <a:gridCol w="1477344">
                  <a:extLst>
                    <a:ext uri="{9D8B030D-6E8A-4147-A177-3AD203B41FA5}">
                      <a16:colId xmlns:a16="http://schemas.microsoft.com/office/drawing/2014/main" val="2772524112"/>
                    </a:ext>
                  </a:extLst>
                </a:gridCol>
                <a:gridCol w="1477344">
                  <a:extLst>
                    <a:ext uri="{9D8B030D-6E8A-4147-A177-3AD203B41FA5}">
                      <a16:colId xmlns:a16="http://schemas.microsoft.com/office/drawing/2014/main" val="1841642417"/>
                    </a:ext>
                  </a:extLst>
                </a:gridCol>
                <a:gridCol w="1477344">
                  <a:extLst>
                    <a:ext uri="{9D8B030D-6E8A-4147-A177-3AD203B41FA5}">
                      <a16:colId xmlns:a16="http://schemas.microsoft.com/office/drawing/2014/main" val="3814307330"/>
                    </a:ext>
                  </a:extLst>
                </a:gridCol>
                <a:gridCol w="1477344">
                  <a:extLst>
                    <a:ext uri="{9D8B030D-6E8A-4147-A177-3AD203B41FA5}">
                      <a16:colId xmlns:a16="http://schemas.microsoft.com/office/drawing/2014/main" val="2638575617"/>
                    </a:ext>
                  </a:extLst>
                </a:gridCol>
              </a:tblGrid>
              <a:tr h="610897">
                <a:tc>
                  <a:txBody>
                    <a:bodyPr/>
                    <a:lstStyle/>
                    <a:p>
                      <a:pPr marL="0" marR="0" algn="ctr">
                        <a:lnSpc>
                          <a:spcPct val="115000"/>
                        </a:lnSpc>
                        <a:buNone/>
                      </a:pPr>
                      <a:r>
                        <a:rPr lang="en-US" sz="1400">
                          <a:effectLst/>
                        </a:rPr>
                        <a:t>Variable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Coefficient (β)</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Standard Error</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z-value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p-value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buNone/>
                      </a:pPr>
                      <a:r>
                        <a:rPr lang="en-US" sz="1400">
                          <a:effectLst/>
                        </a:rPr>
                        <a:t>95% Confidence Interval</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7655411"/>
                  </a:ext>
                </a:extLst>
              </a:tr>
              <a:tr h="295498">
                <a:tc>
                  <a:txBody>
                    <a:bodyPr/>
                    <a:lstStyle/>
                    <a:p>
                      <a:pPr marL="0" marR="0">
                        <a:lnSpc>
                          <a:spcPct val="115000"/>
                        </a:lnSpc>
                        <a:buNone/>
                      </a:pPr>
                      <a:r>
                        <a:rPr lang="en-US" sz="1400">
                          <a:effectLst/>
                        </a:rPr>
                        <a:t>Constant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-3.466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1.016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-3.413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0.001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400">
                          <a:effectLst/>
                        </a:rPr>
                        <a:t>-5.456 to -1.475</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72827954"/>
                  </a:ext>
                </a:extLst>
              </a:tr>
              <a:tr h="610897">
                <a:tc>
                  <a:txBody>
                    <a:bodyPr/>
                    <a:lstStyle/>
                    <a:p>
                      <a:pPr marL="0" marR="0">
                        <a:lnSpc>
                          <a:spcPct val="115000"/>
                        </a:lnSpc>
                        <a:buNone/>
                      </a:pPr>
                      <a:r>
                        <a:rPr lang="en-US" sz="1400">
                          <a:effectLst/>
                        </a:rPr>
                        <a:t>Market Price Information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3.563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1.039</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3.429</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0.001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buNone/>
                      </a:pPr>
                      <a:r>
                        <a:rPr lang="en-US" sz="1400" dirty="0">
                          <a:effectLst/>
                        </a:rPr>
                        <a:t>1.526 to 5.600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1593013"/>
                  </a:ext>
                </a:extLst>
              </a:tr>
            </a:tbl>
          </a:graphicData>
        </a:graphic>
      </p:graphicFrame>
    </p:spTree>
    <p:extLst>
      <p:ext uri="{BB962C8B-B14F-4D97-AF65-F5344CB8AC3E}">
        <p14:creationId xmlns:p14="http://schemas.microsoft.com/office/powerpoint/2010/main" val="169288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05AFB-14C9-FD1B-8985-141FF1FF2878}"/>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FF545977-5EA2-4EFE-1C41-2F8CA113395D}"/>
              </a:ext>
            </a:extLst>
          </p:cNvPr>
          <p:cNvSpPr/>
          <p:nvPr/>
        </p:nvSpPr>
        <p:spPr>
          <a:xfrm>
            <a:off x="1013860" y="0"/>
            <a:ext cx="7977739" cy="844917"/>
          </a:xfrm>
          <a:prstGeom prst="rect">
            <a:avLst/>
          </a:prstGeom>
          <a:noFill/>
          <a:ln>
            <a:noFill/>
          </a:ln>
        </p:spPr>
        <p:txBody>
          <a:bodyPr wrap="square" lIns="0" tIns="45720" rIns="91440" bIns="18288" anchor="b">
            <a:normAutofit fontScale="92500"/>
          </a:bodyPr>
          <a:lstStyle/>
          <a:p>
            <a:r>
              <a:rPr lang="en-US" sz="3200" b="1" dirty="0">
                <a:solidFill>
                  <a:srgbClr val="1E5B3F"/>
                </a:solidFill>
                <a:latin typeface="Cambria"/>
                <a:cs typeface="Cambria"/>
              </a:rPr>
              <a:t>Objective 5 — Predictive Model Development</a:t>
            </a:r>
          </a:p>
        </p:txBody>
      </p:sp>
      <p:sp>
        <p:nvSpPr>
          <p:cNvPr id="12" name="titleRule">
            <a:extLst>
              <a:ext uri="{FF2B5EF4-FFF2-40B4-BE49-F238E27FC236}">
                <a16:creationId xmlns:a16="http://schemas.microsoft.com/office/drawing/2014/main" id="{3DF558FA-5B32-47C1-5AA0-F2BD47929441}"/>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objtag">
            <a:extLst>
              <a:ext uri="{FF2B5EF4-FFF2-40B4-BE49-F238E27FC236}">
                <a16:creationId xmlns:a16="http://schemas.microsoft.com/office/drawing/2014/main" id="{81967526-4460-ED88-6F88-64FB6AA0BEA8}"/>
              </a:ext>
            </a:extLst>
          </p:cNvPr>
          <p:cNvSpPr/>
          <p:nvPr/>
        </p:nvSpPr>
        <p:spPr>
          <a:xfrm>
            <a:off x="76200" y="1083563"/>
            <a:ext cx="8991600" cy="670983"/>
          </a:xfrm>
          <a:prstGeom prst="roundRect">
            <a:avLst>
              <a:gd name="adj" fmla="val 6000"/>
            </a:avLst>
          </a:prstGeom>
          <a:solidFill>
            <a:srgbClr val="1E5B3F"/>
          </a:solidFill>
          <a:ln>
            <a:noFill/>
          </a:ln>
        </p:spPr>
        <p:txBody>
          <a:bodyPr wrap="square" lIns="146304" tIns="45720" rIns="91440" bIns="45720" anchor="ctr">
            <a:normAutofit fontScale="85000" lnSpcReduction="20000"/>
          </a:bodyPr>
          <a:lstStyle/>
          <a:p>
            <a:r>
              <a:rPr lang="en-US" sz="2600" b="1" dirty="0">
                <a:solidFill>
                  <a:schemeClr val="bg1"/>
                </a:solidFill>
              </a:rPr>
              <a:t>To develop and evaluate a predictive model for fair price realization using machine learning techniques</a:t>
            </a:r>
            <a:r>
              <a:rPr lang="en-US" dirty="0"/>
              <a:t>. </a:t>
            </a:r>
            <a:endParaRPr lang="en-US" sz="2400" b="1" dirty="0">
              <a:solidFill>
                <a:srgbClr val="FFFFFF"/>
              </a:solidFill>
              <a:cs typeface="Calibri"/>
            </a:endParaRPr>
          </a:p>
        </p:txBody>
      </p:sp>
      <p:sp>
        <p:nvSpPr>
          <p:cNvPr id="17" name="cardbody">
            <a:extLst>
              <a:ext uri="{FF2B5EF4-FFF2-40B4-BE49-F238E27FC236}">
                <a16:creationId xmlns:a16="http://schemas.microsoft.com/office/drawing/2014/main" id="{1EB1E920-1965-BF20-49C2-EF341914FD3E}"/>
              </a:ext>
            </a:extLst>
          </p:cNvPr>
          <p:cNvSpPr/>
          <p:nvPr/>
        </p:nvSpPr>
        <p:spPr>
          <a:xfrm>
            <a:off x="15044" y="2684185"/>
            <a:ext cx="3231076" cy="3324802"/>
          </a:xfrm>
          <a:prstGeom prst="rect">
            <a:avLst/>
          </a:prstGeom>
          <a:noFill/>
          <a:ln>
            <a:noFill/>
          </a:ln>
        </p:spPr>
        <p:txBody>
          <a:bodyPr wrap="square" lIns="109728" tIns="45720" rIns="73152" bIns="45720" anchor="t">
            <a:noAutofit/>
          </a:bodyPr>
          <a:lstStyle/>
          <a:p>
            <a:pPr>
              <a:lnSpc>
                <a:spcPct val="104000"/>
              </a:lnSpc>
              <a:spcAft>
                <a:spcPts val="400"/>
              </a:spcAft>
              <a:buClr>
                <a:schemeClr val="tx1"/>
              </a:buClr>
            </a:pPr>
            <a:endParaRPr lang="en-US" sz="160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2C14B79B-C5DD-CB0A-DD84-E58028F8D088}"/>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2F654C63-E614-C340-F97C-FF42C6937122}"/>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266C08DE-919A-A101-03F3-E9E4A2B163E6}"/>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4" name="purp">
            <a:extLst>
              <a:ext uri="{FF2B5EF4-FFF2-40B4-BE49-F238E27FC236}">
                <a16:creationId xmlns:a16="http://schemas.microsoft.com/office/drawing/2014/main" id="{2D476742-2250-6BD2-1D8E-E6E25955D4CB}"/>
              </a:ext>
            </a:extLst>
          </p:cNvPr>
          <p:cNvSpPr/>
          <p:nvPr/>
        </p:nvSpPr>
        <p:spPr>
          <a:xfrm>
            <a:off x="76200" y="1810371"/>
            <a:ext cx="3628644" cy="3293084"/>
          </a:xfrm>
          <a:prstGeom prst="roundRect">
            <a:avLst>
              <a:gd name="adj" fmla="val 6000"/>
            </a:avLst>
          </a:prstGeom>
          <a:solidFill>
            <a:srgbClr val="E9F0EA"/>
          </a:solidFill>
          <a:ln w="12700">
            <a:solidFill>
              <a:srgbClr val="D9DCD1"/>
            </a:solidFill>
          </a:ln>
        </p:spPr>
        <p:txBody>
          <a:bodyPr wrap="square" lIns="146304" tIns="91440" rIns="91440" bIns="45720" anchor="t">
            <a:normAutofit lnSpcReduction="10000"/>
          </a:bodyPr>
          <a:lstStyle/>
          <a:p>
            <a:endParaRPr lang="en-US" sz="1600" b="1" dirty="0"/>
          </a:p>
          <a:p>
            <a:endParaRPr lang="en-US" b="1" dirty="0"/>
          </a:p>
          <a:p>
            <a:r>
              <a:rPr lang="en-US" sz="1700" b="1" dirty="0"/>
              <a:t>Dependent Variable:</a:t>
            </a:r>
            <a:endParaRPr lang="en-US" sz="1700" dirty="0"/>
          </a:p>
          <a:p>
            <a:pPr marL="285750" indent="-285750">
              <a:buFont typeface="Arial" panose="020B0604020202020204" pitchFamily="34" charset="0"/>
              <a:buChar char="•"/>
            </a:pPr>
            <a:r>
              <a:rPr lang="en-US" sz="1700" dirty="0"/>
              <a:t>Fair Price Realization</a:t>
            </a:r>
          </a:p>
          <a:p>
            <a:endParaRPr lang="en-US" sz="1700" dirty="0"/>
          </a:p>
          <a:p>
            <a:r>
              <a:rPr lang="en-US" sz="1700" b="1" dirty="0"/>
              <a:t>Independent Variables:</a:t>
            </a:r>
            <a:endParaRPr lang="en-US" sz="1700" dirty="0"/>
          </a:p>
          <a:p>
            <a:pPr marL="285750" indent="-285750">
              <a:buFont typeface="Arial" panose="020B0604020202020204" pitchFamily="34" charset="0"/>
              <a:buChar char="•"/>
            </a:pPr>
            <a:r>
              <a:rPr lang="en-US" sz="1700" dirty="0"/>
              <a:t>Direct Marketing Awareness</a:t>
            </a:r>
          </a:p>
          <a:p>
            <a:pPr marL="285750" indent="-285750">
              <a:buFont typeface="Arial" panose="020B0604020202020204" pitchFamily="34" charset="0"/>
              <a:buChar char="•"/>
            </a:pPr>
            <a:r>
              <a:rPr lang="en-US" sz="1700" dirty="0"/>
              <a:t>Digital Platform Usage</a:t>
            </a:r>
          </a:p>
          <a:p>
            <a:pPr marL="285750" indent="-285750">
              <a:buFont typeface="Arial" panose="020B0604020202020204" pitchFamily="34" charset="0"/>
              <a:buChar char="•"/>
            </a:pPr>
            <a:r>
              <a:rPr lang="en-US" sz="1700" dirty="0"/>
              <a:t>Market Price Information</a:t>
            </a:r>
          </a:p>
          <a:p>
            <a:pPr marL="285750" indent="-285750">
              <a:buFont typeface="Arial" panose="020B0604020202020204" pitchFamily="34" charset="0"/>
              <a:buChar char="•"/>
            </a:pPr>
            <a:r>
              <a:rPr lang="en-US" sz="1700" dirty="0"/>
              <a:t>Storage Facilities</a:t>
            </a:r>
          </a:p>
          <a:p>
            <a:pPr marL="285750" indent="-285750">
              <a:buFont typeface="Arial" panose="020B0604020202020204" pitchFamily="34" charset="0"/>
              <a:buChar char="•"/>
            </a:pPr>
            <a:r>
              <a:rPr lang="en-US" sz="1700" dirty="0"/>
              <a:t>Middlemen Influence</a:t>
            </a:r>
          </a:p>
          <a:p>
            <a:pPr marL="285750" indent="-285750">
              <a:buFont typeface="Arial" panose="020B0604020202020204" pitchFamily="34" charset="0"/>
              <a:buChar char="•"/>
            </a:pPr>
            <a:r>
              <a:rPr lang="en-US" sz="1700" dirty="0"/>
              <a:t>Customer Interest</a:t>
            </a:r>
          </a:p>
          <a:p>
            <a:pPr marL="285750" indent="-285750">
              <a:buFont typeface="Arial" panose="020B0604020202020204" pitchFamily="34" charset="0"/>
              <a:buChar char="•"/>
            </a:pPr>
            <a:r>
              <a:rPr lang="en-US" sz="1700" dirty="0"/>
              <a:t>Preference for Digital Platforms </a:t>
            </a:r>
          </a:p>
        </p:txBody>
      </p:sp>
      <p:sp>
        <p:nvSpPr>
          <p:cNvPr id="5" name="cardhead">
            <a:extLst>
              <a:ext uri="{FF2B5EF4-FFF2-40B4-BE49-F238E27FC236}">
                <a16:creationId xmlns:a16="http://schemas.microsoft.com/office/drawing/2014/main" id="{2852BE85-B0BE-5A8F-C2DE-2431B253C7FC}"/>
              </a:ext>
            </a:extLst>
          </p:cNvPr>
          <p:cNvSpPr/>
          <p:nvPr/>
        </p:nvSpPr>
        <p:spPr>
          <a:xfrm>
            <a:off x="76200" y="1812739"/>
            <a:ext cx="3646170" cy="562356"/>
          </a:xfrm>
          <a:prstGeom prst="roundRect">
            <a:avLst>
              <a:gd name="adj" fmla="val 8000"/>
            </a:avLst>
          </a:prstGeom>
          <a:solidFill>
            <a:srgbClr val="1E5B3F"/>
          </a:solidFill>
          <a:ln>
            <a:noFill/>
          </a:ln>
        </p:spPr>
        <p:txBody>
          <a:bodyPr wrap="square" lIns="164592" tIns="45720" rIns="91440" bIns="45720" anchor="ctr">
            <a:normAutofit/>
          </a:bodyPr>
          <a:lstStyle/>
          <a:p>
            <a:r>
              <a:rPr lang="en-US" sz="2400" b="1" dirty="0">
                <a:solidFill>
                  <a:schemeClr val="bg1"/>
                </a:solidFill>
              </a:rPr>
              <a:t>Model Variables</a:t>
            </a:r>
            <a:endParaRPr lang="en-US" sz="3200" b="1" dirty="0">
              <a:solidFill>
                <a:schemeClr val="bg1"/>
              </a:solidFill>
            </a:endParaRPr>
          </a:p>
        </p:txBody>
      </p:sp>
      <p:graphicFrame>
        <p:nvGraphicFramePr>
          <p:cNvPr id="6" name="Table 5">
            <a:extLst>
              <a:ext uri="{FF2B5EF4-FFF2-40B4-BE49-F238E27FC236}">
                <a16:creationId xmlns:a16="http://schemas.microsoft.com/office/drawing/2014/main" id="{81352FB1-9BF8-07F7-D199-B8CDFA23265D}"/>
              </a:ext>
            </a:extLst>
          </p:cNvPr>
          <p:cNvGraphicFramePr>
            <a:graphicFrameLocks noGrp="1"/>
          </p:cNvGraphicFramePr>
          <p:nvPr>
            <p:extLst>
              <p:ext uri="{D42A27DB-BD31-4B8C-83A1-F6EECF244321}">
                <p14:modId xmlns:p14="http://schemas.microsoft.com/office/powerpoint/2010/main" val="2382821226"/>
              </p:ext>
            </p:extLst>
          </p:nvPr>
        </p:nvGraphicFramePr>
        <p:xfrm>
          <a:off x="3766000" y="1810370"/>
          <a:ext cx="5301800" cy="1694832"/>
        </p:xfrm>
        <a:graphic>
          <a:graphicData uri="http://schemas.openxmlformats.org/drawingml/2006/table">
            <a:tbl>
              <a:tblPr firstRow="1" firstCol="1" bandRow="1">
                <a:tableStyleId>{5C22544A-7EE6-4342-B048-85BDC9FD1C3A}</a:tableStyleId>
              </a:tblPr>
              <a:tblGrid>
                <a:gridCol w="2650900">
                  <a:extLst>
                    <a:ext uri="{9D8B030D-6E8A-4147-A177-3AD203B41FA5}">
                      <a16:colId xmlns:a16="http://schemas.microsoft.com/office/drawing/2014/main" val="1930932605"/>
                    </a:ext>
                  </a:extLst>
                </a:gridCol>
                <a:gridCol w="2650900">
                  <a:extLst>
                    <a:ext uri="{9D8B030D-6E8A-4147-A177-3AD203B41FA5}">
                      <a16:colId xmlns:a16="http://schemas.microsoft.com/office/drawing/2014/main" val="2164368972"/>
                    </a:ext>
                  </a:extLst>
                </a:gridCol>
              </a:tblGrid>
              <a:tr h="423708">
                <a:tc>
                  <a:txBody>
                    <a:bodyPr/>
                    <a:lstStyle/>
                    <a:p>
                      <a:pPr marL="0" marR="0" algn="ctr">
                        <a:lnSpc>
                          <a:spcPct val="115000"/>
                        </a:lnSpc>
                        <a:buNone/>
                      </a:pPr>
                      <a:r>
                        <a:rPr lang="en-US" sz="1600">
                          <a:effectLst/>
                        </a:rPr>
                        <a:t>Performance Measure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Value</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0484163"/>
                  </a:ext>
                </a:extLst>
              </a:tr>
              <a:tr h="423708">
                <a:tc>
                  <a:txBody>
                    <a:bodyPr/>
                    <a:lstStyle/>
                    <a:p>
                      <a:pPr marL="0" marR="0">
                        <a:lnSpc>
                          <a:spcPct val="115000"/>
                        </a:lnSpc>
                        <a:buNone/>
                      </a:pPr>
                      <a:r>
                        <a:rPr lang="en-US" sz="1600">
                          <a:effectLst/>
                        </a:rPr>
                        <a:t>Training Accuracy</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87.0%</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0122323"/>
                  </a:ext>
                </a:extLst>
              </a:tr>
              <a:tr h="423708">
                <a:tc>
                  <a:txBody>
                    <a:bodyPr/>
                    <a:lstStyle/>
                    <a:p>
                      <a:pPr marL="0" marR="0">
                        <a:lnSpc>
                          <a:spcPct val="115000"/>
                        </a:lnSpc>
                        <a:buNone/>
                      </a:pPr>
                      <a:r>
                        <a:rPr lang="en-US" sz="1600" dirty="0">
                          <a:effectLst/>
                        </a:rPr>
                        <a:t>Testing Accuracy</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91.3%</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828819"/>
                  </a:ext>
                </a:extLst>
              </a:tr>
              <a:tr h="423708">
                <a:tc>
                  <a:txBody>
                    <a:bodyPr/>
                    <a:lstStyle/>
                    <a:p>
                      <a:pPr marL="0" marR="0">
                        <a:lnSpc>
                          <a:spcPct val="115000"/>
                        </a:lnSpc>
                        <a:buNone/>
                      </a:pPr>
                      <a:r>
                        <a:rPr lang="en-US" sz="1600" dirty="0">
                          <a:effectLst/>
                        </a:rPr>
                        <a:t>Overall Accuracy</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91.3%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8662240"/>
                  </a:ext>
                </a:extLst>
              </a:tr>
            </a:tbl>
          </a:graphicData>
        </a:graphic>
      </p:graphicFrame>
      <p:graphicFrame>
        <p:nvGraphicFramePr>
          <p:cNvPr id="7" name="Table 6">
            <a:extLst>
              <a:ext uri="{FF2B5EF4-FFF2-40B4-BE49-F238E27FC236}">
                <a16:creationId xmlns:a16="http://schemas.microsoft.com/office/drawing/2014/main" id="{97197493-0164-01C6-80BA-2E99B700F76F}"/>
              </a:ext>
            </a:extLst>
          </p:cNvPr>
          <p:cNvGraphicFramePr>
            <a:graphicFrameLocks noGrp="1"/>
          </p:cNvGraphicFramePr>
          <p:nvPr>
            <p:extLst>
              <p:ext uri="{D42A27DB-BD31-4B8C-83A1-F6EECF244321}">
                <p14:modId xmlns:p14="http://schemas.microsoft.com/office/powerpoint/2010/main" val="3853952355"/>
              </p:ext>
            </p:extLst>
          </p:nvPr>
        </p:nvGraphicFramePr>
        <p:xfrm>
          <a:off x="3766000" y="3592745"/>
          <a:ext cx="5301800" cy="1529511"/>
        </p:xfrm>
        <a:graphic>
          <a:graphicData uri="http://schemas.openxmlformats.org/drawingml/2006/table">
            <a:tbl>
              <a:tblPr firstRow="1" firstCol="1" bandRow="1">
                <a:tableStyleId>{5C22544A-7EE6-4342-B048-85BDC9FD1C3A}</a:tableStyleId>
              </a:tblPr>
              <a:tblGrid>
                <a:gridCol w="1325450">
                  <a:extLst>
                    <a:ext uri="{9D8B030D-6E8A-4147-A177-3AD203B41FA5}">
                      <a16:colId xmlns:a16="http://schemas.microsoft.com/office/drawing/2014/main" val="1249818369"/>
                    </a:ext>
                  </a:extLst>
                </a:gridCol>
                <a:gridCol w="1325450">
                  <a:extLst>
                    <a:ext uri="{9D8B030D-6E8A-4147-A177-3AD203B41FA5}">
                      <a16:colId xmlns:a16="http://schemas.microsoft.com/office/drawing/2014/main" val="2656725553"/>
                    </a:ext>
                  </a:extLst>
                </a:gridCol>
                <a:gridCol w="1325450">
                  <a:extLst>
                    <a:ext uri="{9D8B030D-6E8A-4147-A177-3AD203B41FA5}">
                      <a16:colId xmlns:a16="http://schemas.microsoft.com/office/drawing/2014/main" val="2798280476"/>
                    </a:ext>
                  </a:extLst>
                </a:gridCol>
                <a:gridCol w="1325450">
                  <a:extLst>
                    <a:ext uri="{9D8B030D-6E8A-4147-A177-3AD203B41FA5}">
                      <a16:colId xmlns:a16="http://schemas.microsoft.com/office/drawing/2014/main" val="3920955748"/>
                    </a:ext>
                  </a:extLst>
                </a:gridCol>
              </a:tblGrid>
              <a:tr h="509837">
                <a:tc>
                  <a:txBody>
                    <a:bodyPr/>
                    <a:lstStyle/>
                    <a:p>
                      <a:pPr marL="0" marR="0" algn="ctr">
                        <a:lnSpc>
                          <a:spcPct val="115000"/>
                        </a:lnSpc>
                        <a:buNone/>
                      </a:pPr>
                      <a:r>
                        <a:rPr lang="en-US" sz="1600" dirty="0">
                          <a:effectLst/>
                        </a:rPr>
                        <a:t>Class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Precision</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Recall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F1-Score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0208252"/>
                  </a:ext>
                </a:extLst>
              </a:tr>
              <a:tr h="509837">
                <a:tc>
                  <a:txBody>
                    <a:bodyPr/>
                    <a:lstStyle/>
                    <a:p>
                      <a:pPr marL="0" marR="0">
                        <a:lnSpc>
                          <a:spcPct val="115000"/>
                        </a:lnSpc>
                        <a:buNone/>
                      </a:pPr>
                      <a:r>
                        <a:rPr lang="en-US" sz="1600">
                          <a:effectLst/>
                        </a:rPr>
                        <a:t>No Fair Price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0.95</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0.95</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0.95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34527390"/>
                  </a:ext>
                </a:extLst>
              </a:tr>
              <a:tr h="509837">
                <a:tc>
                  <a:txBody>
                    <a:bodyPr/>
                    <a:lstStyle/>
                    <a:p>
                      <a:pPr marL="0" marR="0">
                        <a:lnSpc>
                          <a:spcPct val="115000"/>
                        </a:lnSpc>
                        <a:buNone/>
                      </a:pPr>
                      <a:r>
                        <a:rPr lang="en-US" sz="1600">
                          <a:effectLst/>
                        </a:rPr>
                        <a:t>Fair Price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0.75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a:effectLst/>
                        </a:rPr>
                        <a:t>0.75</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600" dirty="0">
                          <a:effectLst/>
                        </a:rPr>
                        <a:t>0.75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8676054"/>
                  </a:ext>
                </a:extLst>
              </a:tr>
            </a:tbl>
          </a:graphicData>
        </a:graphic>
      </p:graphicFrame>
      <p:graphicFrame>
        <p:nvGraphicFramePr>
          <p:cNvPr id="9" name="Table 8">
            <a:extLst>
              <a:ext uri="{FF2B5EF4-FFF2-40B4-BE49-F238E27FC236}">
                <a16:creationId xmlns:a16="http://schemas.microsoft.com/office/drawing/2014/main" id="{51E0192A-7948-FD36-F450-D611BC1F3FE8}"/>
              </a:ext>
            </a:extLst>
          </p:cNvPr>
          <p:cNvGraphicFramePr>
            <a:graphicFrameLocks noGrp="1"/>
          </p:cNvGraphicFramePr>
          <p:nvPr>
            <p:extLst>
              <p:ext uri="{D42A27DB-BD31-4B8C-83A1-F6EECF244321}">
                <p14:modId xmlns:p14="http://schemas.microsoft.com/office/powerpoint/2010/main" val="2381421589"/>
              </p:ext>
            </p:extLst>
          </p:nvPr>
        </p:nvGraphicFramePr>
        <p:xfrm>
          <a:off x="76200" y="5190998"/>
          <a:ext cx="8991600" cy="1165350"/>
        </p:xfrm>
        <a:graphic>
          <a:graphicData uri="http://schemas.openxmlformats.org/drawingml/2006/table">
            <a:tbl>
              <a:tblPr firstRow="1" firstCol="1" bandRow="1">
                <a:tableStyleId>{5C22544A-7EE6-4342-B048-85BDC9FD1C3A}</a:tableStyleId>
              </a:tblPr>
              <a:tblGrid>
                <a:gridCol w="2997200">
                  <a:extLst>
                    <a:ext uri="{9D8B030D-6E8A-4147-A177-3AD203B41FA5}">
                      <a16:colId xmlns:a16="http://schemas.microsoft.com/office/drawing/2014/main" val="2787775685"/>
                    </a:ext>
                  </a:extLst>
                </a:gridCol>
                <a:gridCol w="2997200">
                  <a:extLst>
                    <a:ext uri="{9D8B030D-6E8A-4147-A177-3AD203B41FA5}">
                      <a16:colId xmlns:a16="http://schemas.microsoft.com/office/drawing/2014/main" val="1211641349"/>
                    </a:ext>
                  </a:extLst>
                </a:gridCol>
                <a:gridCol w="2997200">
                  <a:extLst>
                    <a:ext uri="{9D8B030D-6E8A-4147-A177-3AD203B41FA5}">
                      <a16:colId xmlns:a16="http://schemas.microsoft.com/office/drawing/2014/main" val="228604899"/>
                    </a:ext>
                  </a:extLst>
                </a:gridCol>
              </a:tblGrid>
              <a:tr h="233070">
                <a:tc>
                  <a:txBody>
                    <a:bodyPr/>
                    <a:lstStyle/>
                    <a:p>
                      <a:pPr marL="0" marR="0" algn="ctr">
                        <a:lnSpc>
                          <a:spcPct val="115000"/>
                        </a:lnSpc>
                        <a:buNone/>
                      </a:pPr>
                      <a:r>
                        <a:rPr lang="en-US" sz="1400">
                          <a:effectLst/>
                        </a:rPr>
                        <a:t>Variable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Importance Score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Rank</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91456229"/>
                  </a:ext>
                </a:extLst>
              </a:tr>
              <a:tr h="233070">
                <a:tc>
                  <a:txBody>
                    <a:bodyPr/>
                    <a:lstStyle/>
                    <a:p>
                      <a:pPr marL="0" marR="0">
                        <a:lnSpc>
                          <a:spcPct val="115000"/>
                        </a:lnSpc>
                        <a:buNone/>
                      </a:pPr>
                      <a:r>
                        <a:rPr lang="en-US" sz="1400">
                          <a:effectLst/>
                        </a:rPr>
                        <a:t>Storage Facilities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dirty="0">
                          <a:effectLst/>
                        </a:rPr>
                        <a:t>0.775</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94483998"/>
                  </a:ext>
                </a:extLst>
              </a:tr>
              <a:tr h="233070">
                <a:tc>
                  <a:txBody>
                    <a:bodyPr/>
                    <a:lstStyle/>
                    <a:p>
                      <a:pPr marL="0" marR="0">
                        <a:lnSpc>
                          <a:spcPct val="115000"/>
                        </a:lnSpc>
                        <a:buNone/>
                      </a:pPr>
                      <a:r>
                        <a:rPr lang="en-US" sz="1400">
                          <a:effectLst/>
                        </a:rPr>
                        <a:t>Digital Platform Usage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0.196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73130839"/>
                  </a:ext>
                </a:extLst>
              </a:tr>
              <a:tr h="233070">
                <a:tc>
                  <a:txBody>
                    <a:bodyPr/>
                    <a:lstStyle/>
                    <a:p>
                      <a:pPr marL="0" marR="0">
                        <a:lnSpc>
                          <a:spcPct val="115000"/>
                        </a:lnSpc>
                        <a:buNone/>
                      </a:pPr>
                      <a:r>
                        <a:rPr lang="en-US" sz="1400">
                          <a:effectLst/>
                        </a:rPr>
                        <a:t>Market Price Information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dirty="0">
                          <a:effectLst/>
                        </a:rPr>
                        <a:t>0.029</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a:effectLst/>
                        </a:rPr>
                        <a:t>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74159461"/>
                  </a:ext>
                </a:extLst>
              </a:tr>
              <a:tr h="233070">
                <a:tc>
                  <a:txBody>
                    <a:bodyPr/>
                    <a:lstStyle/>
                    <a:p>
                      <a:pPr marL="0" marR="0">
                        <a:lnSpc>
                          <a:spcPct val="115000"/>
                        </a:lnSpc>
                        <a:buNone/>
                      </a:pPr>
                      <a:r>
                        <a:rPr lang="en-US" sz="1400">
                          <a:effectLst/>
                        </a:rPr>
                        <a:t>Direct Marketing Awareness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dirty="0">
                          <a:effectLst/>
                        </a:rPr>
                        <a:t>0.000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buNone/>
                      </a:pPr>
                      <a:r>
                        <a:rPr lang="en-US" sz="1400" dirty="0">
                          <a:effectLst/>
                        </a:rPr>
                        <a:t>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48702556"/>
                  </a:ext>
                </a:extLst>
              </a:tr>
            </a:tbl>
          </a:graphicData>
        </a:graphic>
      </p:graphicFrame>
    </p:spTree>
    <p:extLst>
      <p:ext uri="{BB962C8B-B14F-4D97-AF65-F5344CB8AC3E}">
        <p14:creationId xmlns:p14="http://schemas.microsoft.com/office/powerpoint/2010/main" val="1590562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541F-CA06-16A4-B3F3-24A597B87F10}"/>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7B127B88-B329-1E64-3DC1-8E81AC8DB79A}"/>
              </a:ext>
            </a:extLst>
          </p:cNvPr>
          <p:cNvSpPr/>
          <p:nvPr/>
        </p:nvSpPr>
        <p:spPr>
          <a:xfrm>
            <a:off x="986860" y="1"/>
            <a:ext cx="8058912" cy="888238"/>
          </a:xfrm>
          <a:prstGeom prst="rect">
            <a:avLst/>
          </a:prstGeom>
          <a:noFill/>
          <a:ln>
            <a:noFill/>
          </a:ln>
        </p:spPr>
        <p:txBody>
          <a:bodyPr wrap="square" lIns="0" tIns="45720" rIns="91440" bIns="18288" anchor="b">
            <a:normAutofit fontScale="92500"/>
          </a:bodyPr>
          <a:lstStyle/>
          <a:p>
            <a:r>
              <a:rPr lang="en-US" sz="4000" b="1" dirty="0">
                <a:solidFill>
                  <a:srgbClr val="1E5B3F"/>
                </a:solidFill>
                <a:latin typeface="Cambria"/>
                <a:cs typeface="Cambria"/>
              </a:rPr>
              <a:t>Decision Tree &amp; Feature Importance</a:t>
            </a:r>
          </a:p>
        </p:txBody>
      </p:sp>
      <p:sp>
        <p:nvSpPr>
          <p:cNvPr id="12" name="titleRule">
            <a:extLst>
              <a:ext uri="{FF2B5EF4-FFF2-40B4-BE49-F238E27FC236}">
                <a16:creationId xmlns:a16="http://schemas.microsoft.com/office/drawing/2014/main" id="{B9FCA431-8500-9579-EA74-001443E585C4}"/>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7" name="cardbody">
            <a:extLst>
              <a:ext uri="{FF2B5EF4-FFF2-40B4-BE49-F238E27FC236}">
                <a16:creationId xmlns:a16="http://schemas.microsoft.com/office/drawing/2014/main" id="{D2AF8866-0466-0D6F-BEFE-65FD48C98837}"/>
              </a:ext>
            </a:extLst>
          </p:cNvPr>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BCD63665-D69A-E685-9A37-955CB9405444}"/>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E1B141A1-CE17-66EF-827D-2B38AE71582C}"/>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F6F195F7-B23B-8A3B-FCDB-8F16CF683ED8}"/>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2" name="Picture 1">
            <a:extLst>
              <a:ext uri="{FF2B5EF4-FFF2-40B4-BE49-F238E27FC236}">
                <a16:creationId xmlns:a16="http://schemas.microsoft.com/office/drawing/2014/main" id="{867A482E-A174-CCFB-8EF1-F13D1BDEA4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34167"/>
            <a:ext cx="5942330" cy="5301489"/>
          </a:xfrm>
          <a:prstGeom prst="rect">
            <a:avLst/>
          </a:prstGeom>
          <a:noFill/>
          <a:ln>
            <a:noFill/>
          </a:ln>
        </p:spPr>
      </p:pic>
      <p:pic>
        <p:nvPicPr>
          <p:cNvPr id="3" name="Picture 2">
            <a:extLst>
              <a:ext uri="{FF2B5EF4-FFF2-40B4-BE49-F238E27FC236}">
                <a16:creationId xmlns:a16="http://schemas.microsoft.com/office/drawing/2014/main" id="{FF945E32-5B53-D752-C013-5AAE7308CC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96063" y="1676400"/>
            <a:ext cx="4449709" cy="3915348"/>
          </a:xfrm>
          <a:prstGeom prst="rect">
            <a:avLst/>
          </a:prstGeom>
          <a:noFill/>
          <a:ln>
            <a:noFill/>
          </a:ln>
        </p:spPr>
      </p:pic>
    </p:spTree>
    <p:extLst>
      <p:ext uri="{BB962C8B-B14F-4D97-AF65-F5344CB8AC3E}">
        <p14:creationId xmlns:p14="http://schemas.microsoft.com/office/powerpoint/2010/main" val="2865583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563D2-811F-1184-62D7-9252EA220165}"/>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663DA6C4-80C8-D181-184E-716D1442D26D}"/>
              </a:ext>
            </a:extLst>
          </p:cNvPr>
          <p:cNvSpPr/>
          <p:nvPr/>
        </p:nvSpPr>
        <p:spPr>
          <a:xfrm>
            <a:off x="986860" y="263980"/>
            <a:ext cx="8058912" cy="557374"/>
          </a:xfrm>
          <a:prstGeom prst="rect">
            <a:avLst/>
          </a:prstGeom>
          <a:noFill/>
          <a:ln>
            <a:noFill/>
          </a:ln>
        </p:spPr>
        <p:txBody>
          <a:bodyPr wrap="square" lIns="0" tIns="45720" rIns="91440" bIns="18288" anchor="b">
            <a:normAutofit fontScale="92500" lnSpcReduction="10000"/>
          </a:bodyPr>
          <a:lstStyle/>
          <a:p>
            <a:r>
              <a:rPr lang="en-US" sz="3600" b="1" dirty="0">
                <a:solidFill>
                  <a:srgbClr val="1E5B3F"/>
                </a:solidFill>
                <a:latin typeface="Cambria"/>
                <a:cs typeface="Cambria"/>
              </a:rPr>
              <a:t>Major Statistical Findings</a:t>
            </a:r>
          </a:p>
        </p:txBody>
      </p:sp>
      <p:sp>
        <p:nvSpPr>
          <p:cNvPr id="12" name="titleRule">
            <a:extLst>
              <a:ext uri="{FF2B5EF4-FFF2-40B4-BE49-F238E27FC236}">
                <a16:creationId xmlns:a16="http://schemas.microsoft.com/office/drawing/2014/main" id="{3168FFB3-7CA8-64BE-F263-DFF5CC115ACF}"/>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7" name="cardbody">
            <a:extLst>
              <a:ext uri="{FF2B5EF4-FFF2-40B4-BE49-F238E27FC236}">
                <a16:creationId xmlns:a16="http://schemas.microsoft.com/office/drawing/2014/main" id="{5B2ABDD8-61DA-55A6-4020-EB8676F10373}"/>
              </a:ext>
            </a:extLst>
          </p:cNvPr>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70D58E9A-6D28-4F3F-4377-E52D55081F07}"/>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826C55A0-CDC0-63FB-75B5-6599667C7B65}"/>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2F1FC776-B4FA-993B-F9C2-A946EF8A1EA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200" name="ObjHdr1"/>
          <p:cNvSpPr/>
          <p:nvPr/>
        </p:nvSpPr>
        <p:spPr>
          <a:xfrm>
            <a:off x="228600" y="1100000"/>
            <a:ext cx="4243400" cy="52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Objective 1 – Existing Marketing Methods</a:t>
            </a:r>
          </a:p>
        </p:txBody>
      </p:sp>
      <p:sp>
        <p:nvSpPr>
          <p:cNvPr id="210" name="ObjBody1"/>
          <p:cNvSpPr txBox="1"/>
          <p:nvPr/>
        </p:nvSpPr>
        <p:spPr>
          <a:xfrm>
            <a:off x="228600" y="1620000"/>
            <a:ext cx="4243400" cy="1925000"/>
          </a:xfrm>
          <a:prstGeom prst="rect">
            <a:avLst/>
          </a:prstGeom>
          <a:solidFill>
            <a:srgbClr val="F2F7F2"/>
          </a:solidFill>
          <a:ln>
            <a:noFill/>
          </a:ln>
        </p:spPr>
        <p:txBody>
          <a:bodyPr wrap="square" lIns="137160" tIns="91440" rIns="137160" bIns="45720" anchor="t">
            <a:normAutofit fontScale="92500"/>
          </a:bodyPr>
          <a:lstStyle/>
          <a:p>
            <a:pPr indent="0" algn="just">
              <a:buFont typeface="Arial" panose="020B0604020202020204" pitchFamily="34" charset="0"/>
              <a:buChar char="•"/>
            </a:pPr>
            <a:r>
              <a:rPr lang="en-US" sz="1700" b="0" i="0" dirty="0">
                <a:solidFill>
                  <a:srgbClr val="000000"/>
                </a:solidFill>
                <a:effectLst/>
              </a:rPr>
              <a:t>Farmers continue to use a combination of </a:t>
            </a:r>
            <a:r>
              <a:rPr lang="en-US" sz="1700" b="1" i="0" dirty="0">
                <a:solidFill>
                  <a:srgbClr val="000000"/>
                </a:solidFill>
                <a:effectLst/>
              </a:rPr>
              <a:t>traditional and direct marketing channels</a:t>
            </a:r>
            <a:r>
              <a:rPr lang="en-US" sz="1700" b="0" i="0" dirty="0">
                <a:solidFill>
                  <a:srgbClr val="000000"/>
                </a:solidFill>
                <a:effectLst/>
              </a:rPr>
              <a:t>, with growing interest in direct selling.</a:t>
            </a:r>
          </a:p>
          <a:p>
            <a:pPr indent="0" algn="just">
              <a:buFont typeface="Arial" panose="020B0604020202020204" pitchFamily="34" charset="0"/>
              <a:buChar char="•"/>
            </a:pPr>
            <a:r>
              <a:rPr lang="en-US" sz="1700" b="0" i="0" dirty="0">
                <a:solidFill>
                  <a:srgbClr val="000000"/>
                </a:solidFill>
                <a:effectLst/>
              </a:rPr>
              <a:t>Diversified agricultural production and marketing practices provide multiple income opportunities while reducing production risk. </a:t>
            </a:r>
          </a:p>
        </p:txBody>
      </p:sp>
      <p:sp>
        <p:nvSpPr>
          <p:cNvPr id="201" name="ObjHdr2"/>
          <p:cNvSpPr/>
          <p:nvPr/>
        </p:nvSpPr>
        <p:spPr>
          <a:xfrm>
            <a:off x="4672000" y="1100000"/>
            <a:ext cx="4243400" cy="52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Objective 2 – Marketing Opportunities</a:t>
            </a:r>
          </a:p>
        </p:txBody>
      </p:sp>
      <p:sp>
        <p:nvSpPr>
          <p:cNvPr id="211" name="ObjBody2"/>
          <p:cNvSpPr txBox="1"/>
          <p:nvPr/>
        </p:nvSpPr>
        <p:spPr>
          <a:xfrm>
            <a:off x="4672000" y="1620000"/>
            <a:ext cx="4243400" cy="1925000"/>
          </a:xfrm>
          <a:prstGeom prst="rect">
            <a:avLst/>
          </a:prstGeom>
          <a:solidFill>
            <a:srgbClr val="F2F7F2"/>
          </a:solidFill>
          <a:ln>
            <a:noFill/>
          </a:ln>
        </p:spPr>
        <p:txBody>
          <a:bodyPr wrap="square" lIns="137160" tIns="91440" rIns="137160" bIns="45720" anchor="t">
            <a:normAutofit lnSpcReduction="10000"/>
          </a:bodyPr>
          <a:lstStyle/>
          <a:p>
            <a:pPr indent="0" algn="just">
              <a:buFont typeface="Arial" panose="020B0604020202020204" pitchFamily="34" charset="0"/>
              <a:buChar char="•"/>
            </a:pPr>
            <a:r>
              <a:rPr lang="en-US" sz="1700" b="0" i="0">
                <a:solidFill>
                  <a:srgbClr val="000000"/>
                </a:solidFill>
                <a:effectLst/>
              </a:rPr>
              <a:t>Farmers identified opportunities through </a:t>
            </a:r>
            <a:r>
              <a:rPr lang="en-US" sz="1700" b="1" i="0">
                <a:solidFill>
                  <a:srgbClr val="000000"/>
                </a:solidFill>
                <a:effectLst/>
              </a:rPr>
              <a:t>direct marketing, better market connectivity, technological adoption, and institutional support</a:t>
            </a:r>
            <a:r>
              <a:rPr lang="en-US" sz="1700" b="0" i="0">
                <a:solidFill>
                  <a:srgbClr val="000000"/>
                </a:solidFill>
                <a:effectLst/>
              </a:rPr>
              <a:t>.</a:t>
            </a:r>
          </a:p>
          <a:p>
            <a:pPr indent="0" algn="just">
              <a:buFont typeface="Arial" panose="020B0604020202020204" pitchFamily="34" charset="0"/>
              <a:buChar char="•"/>
            </a:pPr>
            <a:r>
              <a:rPr lang="en-US" sz="1700" b="0" i="0">
                <a:solidFill>
                  <a:srgbClr val="000000"/>
                </a:solidFill>
                <a:effectLst/>
              </a:rPr>
              <a:t>Most respondents believe direct marketing improves market access and contributes to better income generation.</a:t>
            </a:r>
          </a:p>
        </p:txBody>
      </p:sp>
      <p:sp>
        <p:nvSpPr>
          <p:cNvPr id="202" name="ObjHdr3"/>
          <p:cNvSpPr/>
          <p:nvPr/>
        </p:nvSpPr>
        <p:spPr>
          <a:xfrm>
            <a:off x="228600" y="3705000"/>
            <a:ext cx="4243400" cy="52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Objective 3 – Role of Digital Marketing</a:t>
            </a:r>
          </a:p>
        </p:txBody>
      </p:sp>
      <p:sp>
        <p:nvSpPr>
          <p:cNvPr id="212" name="ObjBody3"/>
          <p:cNvSpPr txBox="1"/>
          <p:nvPr/>
        </p:nvSpPr>
        <p:spPr>
          <a:xfrm>
            <a:off x="228600" y="4225000"/>
            <a:ext cx="4243400" cy="1925000"/>
          </a:xfrm>
          <a:prstGeom prst="rect">
            <a:avLst/>
          </a:prstGeom>
          <a:solidFill>
            <a:srgbClr val="F2F7F2"/>
          </a:solidFill>
          <a:ln>
            <a:noFill/>
          </a:ln>
        </p:spPr>
        <p:txBody>
          <a:bodyPr wrap="square" lIns="137160" tIns="91440" rIns="137160" bIns="45720" anchor="t">
            <a:normAutofit lnSpcReduction="10000"/>
          </a:bodyPr>
          <a:lstStyle/>
          <a:p>
            <a:pPr indent="0" algn="just">
              <a:buFont typeface="Arial" panose="020B0604020202020204" pitchFamily="34" charset="0"/>
              <a:buChar char="•"/>
            </a:pPr>
            <a:r>
              <a:rPr lang="en-US" sz="1700" b="0" i="0" dirty="0">
                <a:solidFill>
                  <a:srgbClr val="000000"/>
                </a:solidFill>
                <a:effectLst/>
              </a:rPr>
              <a:t>Rural farmers are increasingly adopting </a:t>
            </a:r>
            <a:r>
              <a:rPr lang="en-US" sz="1700" b="1" i="0" dirty="0">
                <a:solidFill>
                  <a:srgbClr val="000000"/>
                </a:solidFill>
                <a:effectLst/>
              </a:rPr>
              <a:t>digital platforms</a:t>
            </a:r>
            <a:r>
              <a:rPr lang="en-US" sz="1700" b="0" i="0" dirty="0">
                <a:solidFill>
                  <a:srgbClr val="000000"/>
                </a:solidFill>
                <a:effectLst/>
              </a:rPr>
              <a:t> for product promotion, communication, and digital payments.</a:t>
            </a:r>
          </a:p>
          <a:p>
            <a:pPr indent="0" algn="just">
              <a:buFont typeface="Arial" panose="020B0604020202020204" pitchFamily="34" charset="0"/>
              <a:buChar char="•"/>
            </a:pPr>
            <a:r>
              <a:rPr lang="en-US" sz="1700" b="0" i="0" dirty="0">
                <a:solidFill>
                  <a:srgbClr val="000000"/>
                </a:solidFill>
                <a:effectLst/>
              </a:rPr>
              <a:t>Digital marketing has improved market visibility, customer reach, and confidence in technology-based agricultural marketing. </a:t>
            </a:r>
          </a:p>
        </p:txBody>
      </p:sp>
      <p:sp>
        <p:nvSpPr>
          <p:cNvPr id="203" name="ObjHdr4"/>
          <p:cNvSpPr/>
          <p:nvPr/>
        </p:nvSpPr>
        <p:spPr>
          <a:xfrm>
            <a:off x="4672000" y="3705000"/>
            <a:ext cx="4243400" cy="52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Objective 4 – Marketing Challenges</a:t>
            </a:r>
          </a:p>
        </p:txBody>
      </p:sp>
      <p:sp>
        <p:nvSpPr>
          <p:cNvPr id="213" name="ObjBody4"/>
          <p:cNvSpPr txBox="1"/>
          <p:nvPr/>
        </p:nvSpPr>
        <p:spPr>
          <a:xfrm>
            <a:off x="4672000" y="4225000"/>
            <a:ext cx="4243400" cy="1925000"/>
          </a:xfrm>
          <a:prstGeom prst="rect">
            <a:avLst/>
          </a:prstGeom>
          <a:solidFill>
            <a:srgbClr val="F2F7F2"/>
          </a:solidFill>
          <a:ln>
            <a:noFill/>
          </a:ln>
        </p:spPr>
        <p:txBody>
          <a:bodyPr wrap="square" lIns="137160" tIns="91440" rIns="137160" bIns="45720" anchor="t">
            <a:normAutofit lnSpcReduction="10000"/>
          </a:bodyPr>
          <a:lstStyle/>
          <a:p>
            <a:pPr indent="0" algn="just">
              <a:buFont typeface="Arial" panose="020B0604020202020204" pitchFamily="34" charset="0"/>
              <a:buChar char="•"/>
            </a:pPr>
            <a:r>
              <a:rPr lang="en-US" sz="1700" b="0" i="0">
                <a:solidFill>
                  <a:srgbClr val="000000"/>
                </a:solidFill>
                <a:effectLst/>
              </a:rPr>
              <a:t>Farmers continue to face</a:t>
            </a:r>
            <a:r>
              <a:rPr lang="en-US" sz="1700" b="1" i="0">
                <a:solidFill>
                  <a:srgbClr val="000000"/>
                </a:solidFill>
                <a:effectLst/>
              </a:rPr>
              <a:t> transportation issues, storage limitations, market information gaps, delayed payments, and middlemen influence.</a:t>
            </a:r>
          </a:p>
          <a:p>
            <a:pPr indent="0" algn="just">
              <a:buFont typeface="Arial" panose="020B0604020202020204" pitchFamily="34" charset="0"/>
              <a:buChar char="•"/>
            </a:pPr>
            <a:r>
              <a:rPr lang="en-US" sz="1700" b="0" i="0">
                <a:solidFill>
                  <a:srgbClr val="000000"/>
                </a:solidFill>
                <a:effectLst/>
              </a:rPr>
              <a:t>These interconnected challenges reduce marketing efficiency and affect fair price realization.</a:t>
            </a:r>
          </a:p>
        </p:txBody>
      </p:sp>
    </p:spTree>
    <p:extLst>
      <p:ext uri="{BB962C8B-B14F-4D97-AF65-F5344CB8AC3E}">
        <p14:creationId xmlns:p14="http://schemas.microsoft.com/office/powerpoint/2010/main" val="265169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FCD5-4A6A-7F73-4E71-26BB49B2E43F}"/>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B79CDB44-7BFF-F2EB-6B91-4BADCAD4DE4D}"/>
              </a:ext>
            </a:extLst>
          </p:cNvPr>
          <p:cNvSpPr/>
          <p:nvPr/>
        </p:nvSpPr>
        <p:spPr>
          <a:xfrm>
            <a:off x="986860" y="263980"/>
            <a:ext cx="8058912" cy="557374"/>
          </a:xfrm>
          <a:prstGeom prst="rect">
            <a:avLst/>
          </a:prstGeom>
          <a:noFill/>
          <a:ln>
            <a:noFill/>
          </a:ln>
        </p:spPr>
        <p:txBody>
          <a:bodyPr wrap="square" lIns="0" tIns="45720" rIns="91440" bIns="18288" anchor="b">
            <a:normAutofit fontScale="92500" lnSpcReduction="10000"/>
          </a:bodyPr>
          <a:lstStyle/>
          <a:p>
            <a:r>
              <a:rPr lang="en-US" sz="3600" b="1" dirty="0">
                <a:solidFill>
                  <a:srgbClr val="1E5B3F"/>
                </a:solidFill>
                <a:latin typeface="Cambria"/>
                <a:cs typeface="Cambria"/>
              </a:rPr>
              <a:t>Major Statistical &amp; Predictive Findings</a:t>
            </a:r>
          </a:p>
        </p:txBody>
      </p:sp>
      <p:sp>
        <p:nvSpPr>
          <p:cNvPr id="12" name="titleRule">
            <a:extLst>
              <a:ext uri="{FF2B5EF4-FFF2-40B4-BE49-F238E27FC236}">
                <a16:creationId xmlns:a16="http://schemas.microsoft.com/office/drawing/2014/main" id="{FA5B4059-45CB-8081-EDCC-375E3558965D}"/>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7" name="cardbody">
            <a:extLst>
              <a:ext uri="{FF2B5EF4-FFF2-40B4-BE49-F238E27FC236}">
                <a16:creationId xmlns:a16="http://schemas.microsoft.com/office/drawing/2014/main" id="{CFB38F8A-6864-1823-47CE-1E16B921FC13}"/>
              </a:ext>
            </a:extLst>
          </p:cNvPr>
          <p:cNvSpPr/>
          <p:nvPr/>
        </p:nvSpPr>
        <p:spPr>
          <a:xfrm>
            <a:off x="612648" y="2926080"/>
            <a:ext cx="3739896" cy="1517904"/>
          </a:xfrm>
          <a:prstGeom prst="rect">
            <a:avLst/>
          </a:prstGeom>
          <a:noFill/>
          <a:ln>
            <a:noFill/>
          </a:ln>
        </p:spPr>
        <p:txBody>
          <a:bodyPr wrap="square" lIns="109728" tIns="45720" rIns="73152" bIns="45720" anchor="t">
            <a:normAutofit/>
          </a:bodyPr>
          <a:lstStyle/>
          <a:p>
            <a:pPr marL="201168" indent="-201168" algn="l">
              <a:lnSpc>
                <a:spcPct val="104000"/>
              </a:lnSpc>
              <a:spcAft>
                <a:spcPts val="400"/>
              </a:spcAft>
              <a:buClr>
                <a:srgbClr val="C09A2C"/>
              </a:buClr>
              <a:buFont typeface="Arial"/>
              <a:buChar char="▪"/>
            </a:pPr>
            <a:endParaRPr lang="en-US" sz="1050" dirty="0">
              <a:solidFill>
                <a:srgbClr val="3E463F"/>
              </a:solidFill>
              <a:latin typeface="Calibri Light"/>
              <a:cs typeface="Calibri Light"/>
            </a:endParaRPr>
          </a:p>
        </p:txBody>
      </p:sp>
      <p:sp>
        <p:nvSpPr>
          <p:cNvPr id="60" name="Date Placeholder">
            <a:extLst>
              <a:ext uri="{FF2B5EF4-FFF2-40B4-BE49-F238E27FC236}">
                <a16:creationId xmlns:a16="http://schemas.microsoft.com/office/drawing/2014/main" id="{45976662-84F6-968D-F376-B98881668A6D}"/>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14601721-091E-1C32-8969-AD23DB8C22C5}"/>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47476F38-2C15-E1A8-5D49-FFA6B89B9EF0}"/>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300" name="SecHdr1"/>
          <p:cNvSpPr/>
          <p:nvPr/>
        </p:nvSpPr>
        <p:spPr>
          <a:xfrm>
            <a:off x="228600" y="1040000"/>
            <a:ext cx="4243400" cy="48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Chi-Square Analysis</a:t>
            </a:r>
          </a:p>
        </p:txBody>
      </p:sp>
      <p:sp>
        <p:nvSpPr>
          <p:cNvPr id="310" name="SecBody1"/>
          <p:cNvSpPr txBox="1"/>
          <p:nvPr/>
        </p:nvSpPr>
        <p:spPr>
          <a:xfrm>
            <a:off x="228600" y="1520000"/>
            <a:ext cx="4243400" cy="2100000"/>
          </a:xfrm>
          <a:prstGeom prst="rect">
            <a:avLst/>
          </a:prstGeom>
          <a:solidFill>
            <a:srgbClr val="F2F7F2"/>
          </a:solidFill>
          <a:ln>
            <a:noFill/>
          </a:ln>
        </p:spPr>
        <p:txBody>
          <a:bodyPr wrap="square" lIns="137160" tIns="91440" rIns="137160" bIns="45720" anchor="t">
            <a:normAutofit/>
          </a:bodyPr>
          <a:lstStyle/>
          <a:p>
            <a:pPr indent="0" algn="just">
              <a:buFont typeface="Arial" panose="020B0604020202020204" pitchFamily="34" charset="0"/>
              <a:buChar char="•"/>
            </a:pPr>
            <a:r>
              <a:rPr lang="en-US" sz="1700" b="0" i="0" dirty="0">
                <a:solidFill>
                  <a:srgbClr val="000000"/>
                </a:solidFill>
                <a:effectLst/>
              </a:rPr>
              <a:t>Significant associations were identified among key agricultural marketing variables, confirming relationships between </a:t>
            </a:r>
            <a:r>
              <a:rPr lang="en-US" sz="1700" b="1" i="0" dirty="0">
                <a:solidFill>
                  <a:srgbClr val="000000"/>
                </a:solidFill>
                <a:effectLst/>
              </a:rPr>
              <a:t>direct marketing awareness, digital platform adoption, market price information, middlemen influence, customer interest, and marketing preferences</a:t>
            </a:r>
            <a:r>
              <a:rPr lang="en-US" sz="1700" b="0" i="0" dirty="0">
                <a:solidFill>
                  <a:srgbClr val="000000"/>
                </a:solidFill>
                <a:effectLst/>
              </a:rPr>
              <a:t>.</a:t>
            </a:r>
          </a:p>
        </p:txBody>
      </p:sp>
      <p:sp>
        <p:nvSpPr>
          <p:cNvPr id="301" name="SecHdr2"/>
          <p:cNvSpPr/>
          <p:nvPr/>
        </p:nvSpPr>
        <p:spPr>
          <a:xfrm>
            <a:off x="4672000" y="1040000"/>
            <a:ext cx="4243400" cy="48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Pearson Correlation Analysis</a:t>
            </a:r>
          </a:p>
        </p:txBody>
      </p:sp>
      <p:sp>
        <p:nvSpPr>
          <p:cNvPr id="311" name="SecBody2"/>
          <p:cNvSpPr txBox="1"/>
          <p:nvPr/>
        </p:nvSpPr>
        <p:spPr>
          <a:xfrm>
            <a:off x="4672000" y="1520000"/>
            <a:ext cx="4243400" cy="2100000"/>
          </a:xfrm>
          <a:prstGeom prst="rect">
            <a:avLst/>
          </a:prstGeom>
          <a:solidFill>
            <a:srgbClr val="F2F7F2"/>
          </a:solidFill>
          <a:ln>
            <a:noFill/>
          </a:ln>
        </p:spPr>
        <p:txBody>
          <a:bodyPr wrap="square" lIns="137160" tIns="91440" rIns="137160" bIns="45720" anchor="t">
            <a:normAutofit/>
          </a:bodyPr>
          <a:lstStyle/>
          <a:p>
            <a:pPr indent="0" algn="just">
              <a:buFont typeface="Arial" panose="020B0604020202020204" pitchFamily="34" charset="0"/>
              <a:buChar char="•"/>
            </a:pPr>
            <a:r>
              <a:rPr lang="en-US" sz="1700" b="0" i="0">
                <a:solidFill>
                  <a:srgbClr val="000000"/>
                </a:solidFill>
                <a:effectLst/>
              </a:rPr>
              <a:t>Strong positive relationships were observed among </a:t>
            </a:r>
            <a:r>
              <a:rPr lang="en-US" sz="1700" b="1" i="0">
                <a:solidFill>
                  <a:srgbClr val="000000"/>
                </a:solidFill>
                <a:effectLst/>
              </a:rPr>
              <a:t>direct marketing awareness, digital platform usage, market price information, storage facilities, and fair price realization</a:t>
            </a:r>
            <a:r>
              <a:rPr lang="en-US" sz="1700" b="0" i="0">
                <a:solidFill>
                  <a:srgbClr val="000000"/>
                </a:solidFill>
                <a:effectLst/>
              </a:rPr>
              <a:t>, indicating that improvements in one factor support improvements in others. </a:t>
            </a:r>
          </a:p>
        </p:txBody>
      </p:sp>
      <p:sp>
        <p:nvSpPr>
          <p:cNvPr id="302" name="SecHdr3"/>
          <p:cNvSpPr/>
          <p:nvPr/>
        </p:nvSpPr>
        <p:spPr>
          <a:xfrm>
            <a:off x="228600" y="3760000"/>
            <a:ext cx="4243400" cy="48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Binary Logistic Regression</a:t>
            </a:r>
          </a:p>
        </p:txBody>
      </p:sp>
      <p:sp>
        <p:nvSpPr>
          <p:cNvPr id="312" name="SecBody3"/>
          <p:cNvSpPr txBox="1"/>
          <p:nvPr/>
        </p:nvSpPr>
        <p:spPr>
          <a:xfrm>
            <a:off x="228600" y="4240000"/>
            <a:ext cx="4243400" cy="2100000"/>
          </a:xfrm>
          <a:prstGeom prst="rect">
            <a:avLst/>
          </a:prstGeom>
          <a:solidFill>
            <a:srgbClr val="F2F7F2"/>
          </a:solidFill>
          <a:ln>
            <a:noFill/>
          </a:ln>
        </p:spPr>
        <p:txBody>
          <a:bodyPr wrap="square" lIns="137160" tIns="91440" rIns="137160" bIns="45720" anchor="t">
            <a:normAutofit lnSpcReduction="10000"/>
          </a:bodyPr>
          <a:lstStyle/>
          <a:p>
            <a:pPr indent="0" algn="just">
              <a:buNone/>
            </a:pPr>
            <a:r>
              <a:rPr lang="en-US" sz="1700" b="1" i="0">
                <a:solidFill>
                  <a:srgbClr val="000000"/>
                </a:solidFill>
                <a:effectLst/>
              </a:rPr>
              <a:t>Purpose:</a:t>
            </a:r>
            <a:r>
              <a:rPr lang="en-US" sz="1700" b="0" i="0">
                <a:solidFill>
                  <a:srgbClr val="000000"/>
                </a:solidFill>
                <a:effectLst/>
              </a:rPr>
              <a:t> To identify the statistically significant factors influencing fair price realization.</a:t>
            </a:r>
          </a:p>
          <a:p>
            <a:pPr indent="0" algn="just">
              <a:buFont typeface="Arial" panose="020B0604020202020204" pitchFamily="34" charset="0"/>
              <a:buChar char="•"/>
            </a:pPr>
            <a:r>
              <a:rPr lang="en-US" sz="1700" b="1" i="0">
                <a:solidFill>
                  <a:srgbClr val="000000"/>
                </a:solidFill>
                <a:effectLst/>
              </a:rPr>
              <a:t>Market Price Information</a:t>
            </a:r>
            <a:r>
              <a:rPr lang="en-US" sz="1700" b="0" i="0">
                <a:solidFill>
                  <a:srgbClr val="000000"/>
                </a:solidFill>
                <a:effectLst/>
              </a:rPr>
              <a:t> emerged as the significant predictor (</a:t>
            </a:r>
            <a:r>
              <a:rPr lang="en-US" sz="1700" b="1" i="0">
                <a:solidFill>
                  <a:srgbClr val="000000"/>
                </a:solidFill>
                <a:effectLst/>
              </a:rPr>
              <a:t>β = 3.563, p = 0.001</a:t>
            </a:r>
            <a:r>
              <a:rPr lang="en-US" sz="1700" b="0" i="0">
                <a:solidFill>
                  <a:srgbClr val="000000"/>
                </a:solidFill>
                <a:effectLst/>
              </a:rPr>
              <a:t>), showing that timely and reliable market information substantially increases the likelihood of farmers receiving a fair price. </a:t>
            </a:r>
          </a:p>
        </p:txBody>
      </p:sp>
      <p:sp>
        <p:nvSpPr>
          <p:cNvPr id="303" name="SecHdr4"/>
          <p:cNvSpPr/>
          <p:nvPr/>
        </p:nvSpPr>
        <p:spPr>
          <a:xfrm>
            <a:off x="4672000" y="3760000"/>
            <a:ext cx="4243400" cy="480000"/>
          </a:xfrm>
          <a:prstGeom prst="rect">
            <a:avLst/>
          </a:prstGeom>
          <a:solidFill>
            <a:srgbClr val="1E5B3F"/>
          </a:solidFill>
          <a:ln>
            <a:noFill/>
          </a:ln>
        </p:spPr>
        <p:txBody>
          <a:bodyPr wrap="square" lIns="91440" tIns="45720" rIns="45720" bIns="45720" anchor="ctr">
            <a:normAutofit/>
          </a:bodyPr>
          <a:lstStyle/>
          <a:p>
            <a:pPr algn="l">
              <a:buNone/>
            </a:pPr>
            <a:r>
              <a:rPr lang="en-US" sz="1700" b="1">
                <a:solidFill>
                  <a:srgbClr val="FFFFFF"/>
                </a:solidFill>
              </a:rPr>
              <a:t>Decision Tree Classification</a:t>
            </a:r>
          </a:p>
        </p:txBody>
      </p:sp>
      <p:sp>
        <p:nvSpPr>
          <p:cNvPr id="313" name="SecBody4"/>
          <p:cNvSpPr txBox="1"/>
          <p:nvPr/>
        </p:nvSpPr>
        <p:spPr>
          <a:xfrm>
            <a:off x="4672000" y="4240000"/>
            <a:ext cx="4243400" cy="2100000"/>
          </a:xfrm>
          <a:prstGeom prst="rect">
            <a:avLst/>
          </a:prstGeom>
          <a:solidFill>
            <a:srgbClr val="F2F7F2"/>
          </a:solidFill>
          <a:ln>
            <a:noFill/>
          </a:ln>
        </p:spPr>
        <p:txBody>
          <a:bodyPr wrap="square" lIns="137160" tIns="91440" rIns="137160" bIns="45720" anchor="t">
            <a:normAutofit fontScale="92500"/>
          </a:bodyPr>
          <a:lstStyle/>
          <a:p>
            <a:pPr indent="0" algn="just">
              <a:buNone/>
            </a:pPr>
            <a:r>
              <a:rPr lang="en-US" sz="1700" b="1" i="0">
                <a:solidFill>
                  <a:srgbClr val="000000"/>
                </a:solidFill>
                <a:effectLst/>
              </a:rPr>
              <a:t>Purpose:</a:t>
            </a:r>
            <a:r>
              <a:rPr lang="en-US" sz="1700" b="0" i="0">
                <a:solidFill>
                  <a:srgbClr val="000000"/>
                </a:solidFill>
                <a:effectLst/>
              </a:rPr>
              <a:t> To develop and evaluate a predictive model for fair price realization.</a:t>
            </a:r>
          </a:p>
          <a:p>
            <a:pPr indent="0" algn="just">
              <a:buFont typeface="Arial" panose="020B0604020202020204" pitchFamily="34" charset="0"/>
              <a:buChar char="•"/>
            </a:pPr>
            <a:r>
              <a:rPr lang="en-US" sz="1700" b="0" i="0">
                <a:solidFill>
                  <a:srgbClr val="000000"/>
                </a:solidFill>
                <a:effectLst/>
              </a:rPr>
              <a:t>The model achieved </a:t>
            </a:r>
            <a:r>
              <a:rPr lang="en-US" sz="1700" b="1" i="0">
                <a:solidFill>
                  <a:srgbClr val="000000"/>
                </a:solidFill>
                <a:effectLst/>
              </a:rPr>
              <a:t>91.3% testing accuracy</a:t>
            </a:r>
            <a:r>
              <a:rPr lang="en-US" sz="1700" b="0" i="0">
                <a:solidFill>
                  <a:srgbClr val="000000"/>
                </a:solidFill>
                <a:effectLst/>
              </a:rPr>
              <a:t> and identified </a:t>
            </a:r>
            <a:r>
              <a:rPr lang="en-US" sz="1700" b="1" i="0">
                <a:solidFill>
                  <a:srgbClr val="000000"/>
                </a:solidFill>
                <a:effectLst/>
              </a:rPr>
              <a:t>Storage Facilities</a:t>
            </a:r>
            <a:r>
              <a:rPr lang="en-US" sz="1700" b="0" i="0">
                <a:solidFill>
                  <a:srgbClr val="000000"/>
                </a:solidFill>
                <a:effectLst/>
              </a:rPr>
              <a:t> as the most influential predictor, followed by </a:t>
            </a:r>
            <a:r>
              <a:rPr lang="en-US" sz="1700" b="1" i="0">
                <a:solidFill>
                  <a:srgbClr val="000000"/>
                </a:solidFill>
                <a:effectLst/>
              </a:rPr>
              <a:t>Digital Platform Usage</a:t>
            </a:r>
            <a:r>
              <a:rPr lang="en-US" sz="1700" b="0" i="0">
                <a:solidFill>
                  <a:srgbClr val="000000"/>
                </a:solidFill>
                <a:effectLst/>
              </a:rPr>
              <a:t> and </a:t>
            </a:r>
            <a:r>
              <a:rPr lang="en-US" sz="1700" b="1" i="0">
                <a:solidFill>
                  <a:srgbClr val="000000"/>
                </a:solidFill>
                <a:effectLst/>
              </a:rPr>
              <a:t>Market Price Information</a:t>
            </a:r>
            <a:r>
              <a:rPr lang="en-US" sz="1700" b="0" i="0">
                <a:solidFill>
                  <a:srgbClr val="000000"/>
                </a:solidFill>
                <a:effectLst/>
              </a:rPr>
              <a:t>, demonstrating the usefulness of predictive analytics in agricultural marketing. </a:t>
            </a:r>
          </a:p>
        </p:txBody>
      </p:sp>
    </p:spTree>
    <p:extLst>
      <p:ext uri="{BB962C8B-B14F-4D97-AF65-F5344CB8AC3E}">
        <p14:creationId xmlns:p14="http://schemas.microsoft.com/office/powerpoint/2010/main" val="3518300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EABB4-3841-8BD9-135F-C40EE24F8613}"/>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863DB595-07A3-9D9C-E5CC-3EBA727A93EB}"/>
              </a:ext>
            </a:extLst>
          </p:cNvPr>
          <p:cNvSpPr/>
          <p:nvPr/>
        </p:nvSpPr>
        <p:spPr>
          <a:xfrm>
            <a:off x="986860" y="263980"/>
            <a:ext cx="8058912" cy="557374"/>
          </a:xfrm>
          <a:prstGeom prst="rect">
            <a:avLst/>
          </a:prstGeom>
          <a:noFill/>
          <a:ln>
            <a:noFill/>
          </a:ln>
        </p:spPr>
        <p:txBody>
          <a:bodyPr wrap="square" lIns="0" tIns="45720" rIns="91440" bIns="18288" anchor="b">
            <a:normAutofit fontScale="92500" lnSpcReduction="10000"/>
          </a:bodyPr>
          <a:lstStyle/>
          <a:p>
            <a:r>
              <a:rPr lang="en-US" sz="3600" b="1" dirty="0">
                <a:solidFill>
                  <a:srgbClr val="1E5B3F"/>
                </a:solidFill>
                <a:latin typeface="Cambria"/>
                <a:cs typeface="Cambria"/>
              </a:rPr>
              <a:t>Suggestions &amp; Recommendations</a:t>
            </a:r>
          </a:p>
        </p:txBody>
      </p:sp>
      <p:sp>
        <p:nvSpPr>
          <p:cNvPr id="12" name="titleRule">
            <a:extLst>
              <a:ext uri="{FF2B5EF4-FFF2-40B4-BE49-F238E27FC236}">
                <a16:creationId xmlns:a16="http://schemas.microsoft.com/office/drawing/2014/main" id="{E95E0437-ADB4-F3DE-42D6-8EA0943251DE}"/>
              </a:ext>
            </a:extLst>
          </p:cNvPr>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60" name="Date Placeholder">
            <a:extLst>
              <a:ext uri="{FF2B5EF4-FFF2-40B4-BE49-F238E27FC236}">
                <a16:creationId xmlns:a16="http://schemas.microsoft.com/office/drawing/2014/main" id="{19CC11C2-F509-F822-4B53-0C0E199E0DC9}"/>
              </a:ext>
            </a:extLst>
          </p:cNvPr>
          <p:cNvSpPr>
            <a:spLocks noGrp="1"/>
          </p:cNvSpPr>
          <p:nvPr>
            <p:ph type="dt" sz="half" idx="10"/>
          </p:nvPr>
        </p:nvSpPr>
        <p:spPr/>
        <p:txBody>
          <a:bodyPr/>
          <a:lstStyle/>
          <a:p>
            <a:r>
              <a:rPr lang="en-US" dirty="0"/>
              <a:t>8/7/26</a:t>
            </a:r>
          </a:p>
        </p:txBody>
      </p:sp>
      <p:sp>
        <p:nvSpPr>
          <p:cNvPr id="61" name="Footer Placeholder">
            <a:extLst>
              <a:ext uri="{FF2B5EF4-FFF2-40B4-BE49-F238E27FC236}">
                <a16:creationId xmlns:a16="http://schemas.microsoft.com/office/drawing/2014/main" id="{726BA0F0-9525-BDCA-9A4F-92959AE91D4F}"/>
              </a:ext>
            </a:extLst>
          </p:cNvPr>
          <p:cNvSpPr>
            <a:spLocks noGrp="1"/>
          </p:cNvSpPr>
          <p:nvPr>
            <p:ph type="ftr" sz="quarter" idx="11"/>
          </p:nvPr>
        </p:nvSpPr>
        <p:spPr/>
        <p:txBody>
          <a:bodyPr/>
          <a:lstStyle/>
          <a:p>
            <a:r>
              <a:rPr lang="en-US"/>
              <a:t>Raghavendra S  |  USN: 1SI25BA069</a:t>
            </a:r>
          </a:p>
        </p:txBody>
      </p:sp>
      <p:sp>
        <p:nvSpPr>
          <p:cNvPr id="62" name="Slide Number Placeholder">
            <a:extLst>
              <a:ext uri="{FF2B5EF4-FFF2-40B4-BE49-F238E27FC236}">
                <a16:creationId xmlns:a16="http://schemas.microsoft.com/office/drawing/2014/main" id="{F6E97C23-80B6-A679-6CC5-7A7160E07676}"/>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400" name="SugCard1"/>
          <p:cNvSpPr/>
          <p:nvPr/>
        </p:nvSpPr>
        <p:spPr>
          <a:xfrm>
            <a:off x="229000" y="1120000"/>
            <a:ext cx="2762000" cy="2550000"/>
          </a:xfrm>
          <a:prstGeom prst="roundRect">
            <a:avLst>
              <a:gd name="adj" fmla="val 3000"/>
            </a:avLst>
          </a:prstGeom>
          <a:solidFill>
            <a:srgbClr val="F2F7F2"/>
          </a:solidFill>
          <a:ln>
            <a:noFill/>
          </a:ln>
          <a:effectLst>
            <a:outerShdw blurRad="50800" dist="38100" dir="5400000" rotWithShape="0">
              <a:srgbClr val="000000">
                <a:alpha val="24000"/>
              </a:srgbClr>
            </a:outerShdw>
          </a:effectLst>
        </p:spPr>
        <p:txBody>
          <a:bodyPr/>
          <a:lstStyle/>
          <a:p>
            <a:endParaRPr lang="en-US"/>
          </a:p>
        </p:txBody>
      </p:sp>
      <p:sp>
        <p:nvSpPr>
          <p:cNvPr id="410" name="SugHdr1"/>
          <p:cNvSpPr/>
          <p:nvPr/>
        </p:nvSpPr>
        <p:spPr>
          <a:xfrm>
            <a:off x="229000" y="1120000"/>
            <a:ext cx="2762000" cy="640000"/>
          </a:xfrm>
          <a:prstGeom prst="round2SameRect">
            <a:avLst>
              <a:gd name="adj1" fmla="val 12000"/>
              <a:gd name="adj2" fmla="val 0"/>
            </a:avLst>
          </a:prstGeom>
          <a:solidFill>
            <a:srgbClr val="1E5B3F"/>
          </a:solidFill>
          <a:ln>
            <a:noFill/>
          </a:ln>
        </p:spPr>
        <p:txBody>
          <a:bodyPr wrap="square" lIns="137160" tIns="45720" rIns="91440" bIns="45720" anchor="ctr">
            <a:normAutofit lnSpcReduction="10000"/>
          </a:bodyPr>
          <a:lstStyle/>
          <a:p>
            <a:pPr indent="0" algn="l">
              <a:buNone/>
            </a:pPr>
            <a:r>
              <a:rPr lang="en-US" b="1" i="0">
                <a:solidFill>
                  <a:srgbClr val="FFFFFF"/>
                </a:solidFill>
                <a:effectLst/>
              </a:rPr>
              <a:t>Strengthen Market Information Systems</a:t>
            </a:r>
          </a:p>
        </p:txBody>
      </p:sp>
      <p:sp>
        <p:nvSpPr>
          <p:cNvPr id="420" name="SugBody1"/>
          <p:cNvSpPr txBox="1"/>
          <p:nvPr/>
        </p:nvSpPr>
        <p:spPr>
          <a:xfrm>
            <a:off x="229000" y="1760000"/>
            <a:ext cx="2762000" cy="1910000"/>
          </a:xfrm>
          <a:prstGeom prst="rect">
            <a:avLst/>
          </a:prstGeom>
          <a:noFill/>
          <a:ln>
            <a:noFill/>
          </a:ln>
        </p:spPr>
        <p:txBody>
          <a:bodyPr wrap="square" lIns="137160" tIns="72000" rIns="137160" bIns="45720" anchor="t">
            <a:normAutofit/>
          </a:bodyPr>
          <a:lstStyle/>
          <a:p>
            <a:pPr indent="0" algn="l">
              <a:buFont typeface="Arial" panose="020B0604020202020204" pitchFamily="34" charset="0"/>
              <a:buChar char="•"/>
            </a:pPr>
            <a:r>
              <a:rPr lang="en-US" b="0" i="0">
                <a:solidFill>
                  <a:srgbClr val="000000"/>
                </a:solidFill>
                <a:effectLst/>
              </a:rPr>
              <a:t>Improve access to real-time market prices through digital platforms and extension services.</a:t>
            </a:r>
          </a:p>
        </p:txBody>
      </p:sp>
      <p:sp>
        <p:nvSpPr>
          <p:cNvPr id="401" name="SugCard2"/>
          <p:cNvSpPr/>
          <p:nvPr/>
        </p:nvSpPr>
        <p:spPr>
          <a:xfrm>
            <a:off x="3191000" y="1120000"/>
            <a:ext cx="2762000" cy="2550000"/>
          </a:xfrm>
          <a:prstGeom prst="roundRect">
            <a:avLst>
              <a:gd name="adj" fmla="val 3000"/>
            </a:avLst>
          </a:prstGeom>
          <a:solidFill>
            <a:srgbClr val="F2F7F2"/>
          </a:solidFill>
          <a:ln>
            <a:noFill/>
          </a:ln>
          <a:effectLst>
            <a:outerShdw blurRad="50800" dist="38100" dir="5400000" rotWithShape="0">
              <a:srgbClr val="000000">
                <a:alpha val="24000"/>
              </a:srgbClr>
            </a:outerShdw>
          </a:effectLst>
        </p:spPr>
        <p:txBody>
          <a:bodyPr/>
          <a:lstStyle/>
          <a:p>
            <a:endParaRPr lang="en-US"/>
          </a:p>
        </p:txBody>
      </p:sp>
      <p:sp>
        <p:nvSpPr>
          <p:cNvPr id="411" name="SugHdr2"/>
          <p:cNvSpPr/>
          <p:nvPr/>
        </p:nvSpPr>
        <p:spPr>
          <a:xfrm>
            <a:off x="3191000" y="1120000"/>
            <a:ext cx="2762000" cy="640000"/>
          </a:xfrm>
          <a:prstGeom prst="round2SameRect">
            <a:avLst>
              <a:gd name="adj1" fmla="val 12000"/>
              <a:gd name="adj2" fmla="val 0"/>
            </a:avLst>
          </a:prstGeom>
          <a:solidFill>
            <a:srgbClr val="1E5B3F"/>
          </a:solidFill>
          <a:ln>
            <a:noFill/>
          </a:ln>
        </p:spPr>
        <p:txBody>
          <a:bodyPr wrap="square" lIns="137160" tIns="45720" rIns="91440" bIns="45720" anchor="ctr">
            <a:normAutofit lnSpcReduction="10000"/>
          </a:bodyPr>
          <a:lstStyle/>
          <a:p>
            <a:pPr indent="0" algn="l">
              <a:buNone/>
            </a:pPr>
            <a:r>
              <a:rPr lang="en-US" b="1" i="0">
                <a:solidFill>
                  <a:srgbClr val="FFFFFF"/>
                </a:solidFill>
                <a:effectLst/>
              </a:rPr>
              <a:t>Improve Storage &amp; Post-Harvest Infrastructure</a:t>
            </a:r>
          </a:p>
        </p:txBody>
      </p:sp>
      <p:sp>
        <p:nvSpPr>
          <p:cNvPr id="421" name="SugBody2"/>
          <p:cNvSpPr txBox="1"/>
          <p:nvPr/>
        </p:nvSpPr>
        <p:spPr>
          <a:xfrm>
            <a:off x="3191000" y="1760000"/>
            <a:ext cx="2762000" cy="1910000"/>
          </a:xfrm>
          <a:prstGeom prst="rect">
            <a:avLst/>
          </a:prstGeom>
          <a:noFill/>
          <a:ln>
            <a:noFill/>
          </a:ln>
        </p:spPr>
        <p:txBody>
          <a:bodyPr wrap="square" lIns="137160" tIns="72000" rIns="137160" bIns="45720" anchor="t">
            <a:normAutofit/>
          </a:bodyPr>
          <a:lstStyle/>
          <a:p>
            <a:pPr indent="0" algn="l">
              <a:buFont typeface="Arial" panose="020B0604020202020204" pitchFamily="34" charset="0"/>
              <a:buChar char="•"/>
            </a:pPr>
            <a:r>
              <a:rPr lang="en-US" b="0" i="0" dirty="0">
                <a:solidFill>
                  <a:srgbClr val="000000"/>
                </a:solidFill>
                <a:effectLst/>
              </a:rPr>
              <a:t>Develop warehouses, cold storage, and village-level storage facilities to reduce losses and improve price realization. </a:t>
            </a:r>
          </a:p>
        </p:txBody>
      </p:sp>
      <p:sp>
        <p:nvSpPr>
          <p:cNvPr id="402" name="SugCard3"/>
          <p:cNvSpPr/>
          <p:nvPr/>
        </p:nvSpPr>
        <p:spPr>
          <a:xfrm>
            <a:off x="6153000" y="1120000"/>
            <a:ext cx="2762000" cy="2550000"/>
          </a:xfrm>
          <a:prstGeom prst="roundRect">
            <a:avLst>
              <a:gd name="adj" fmla="val 3000"/>
            </a:avLst>
          </a:prstGeom>
          <a:solidFill>
            <a:srgbClr val="F2F7F2"/>
          </a:solidFill>
          <a:ln>
            <a:noFill/>
          </a:ln>
          <a:effectLst>
            <a:outerShdw blurRad="50800" dist="38100" dir="5400000" rotWithShape="0">
              <a:srgbClr val="000000">
                <a:alpha val="24000"/>
              </a:srgbClr>
            </a:outerShdw>
          </a:effectLst>
        </p:spPr>
        <p:txBody>
          <a:bodyPr/>
          <a:lstStyle/>
          <a:p>
            <a:endParaRPr lang="en-US"/>
          </a:p>
        </p:txBody>
      </p:sp>
      <p:sp>
        <p:nvSpPr>
          <p:cNvPr id="412" name="SugHdr3"/>
          <p:cNvSpPr/>
          <p:nvPr/>
        </p:nvSpPr>
        <p:spPr>
          <a:xfrm>
            <a:off x="6153000" y="1120000"/>
            <a:ext cx="2762000" cy="640000"/>
          </a:xfrm>
          <a:prstGeom prst="round2SameRect">
            <a:avLst>
              <a:gd name="adj1" fmla="val 12000"/>
              <a:gd name="adj2" fmla="val 0"/>
            </a:avLst>
          </a:prstGeom>
          <a:solidFill>
            <a:srgbClr val="1E5B3F"/>
          </a:solidFill>
          <a:ln>
            <a:noFill/>
          </a:ln>
        </p:spPr>
        <p:txBody>
          <a:bodyPr wrap="square" lIns="137160" tIns="45720" rIns="91440" bIns="45720" anchor="ctr">
            <a:normAutofit lnSpcReduction="10000"/>
          </a:bodyPr>
          <a:lstStyle/>
          <a:p>
            <a:pPr indent="0" algn="l">
              <a:buNone/>
            </a:pPr>
            <a:r>
              <a:rPr lang="en-US" b="1" i="0">
                <a:solidFill>
                  <a:srgbClr val="FFFFFF"/>
                </a:solidFill>
                <a:effectLst/>
              </a:rPr>
              <a:t>Promote Digital Agricultural Marketing</a:t>
            </a:r>
          </a:p>
        </p:txBody>
      </p:sp>
      <p:sp>
        <p:nvSpPr>
          <p:cNvPr id="422" name="SugBody3"/>
          <p:cNvSpPr txBox="1"/>
          <p:nvPr/>
        </p:nvSpPr>
        <p:spPr>
          <a:xfrm>
            <a:off x="6153000" y="1760000"/>
            <a:ext cx="2762000" cy="1910000"/>
          </a:xfrm>
          <a:prstGeom prst="rect">
            <a:avLst/>
          </a:prstGeom>
          <a:noFill/>
          <a:ln>
            <a:noFill/>
          </a:ln>
        </p:spPr>
        <p:txBody>
          <a:bodyPr wrap="square" lIns="137160" tIns="72000" rIns="137160" bIns="45720" anchor="t">
            <a:normAutofit/>
          </a:bodyPr>
          <a:lstStyle/>
          <a:p>
            <a:pPr indent="0" algn="l">
              <a:buFont typeface="Arial" panose="020B0604020202020204" pitchFamily="34" charset="0"/>
              <a:buChar char="•"/>
            </a:pPr>
            <a:r>
              <a:rPr lang="en-US" b="0" i="0" dirty="0">
                <a:solidFill>
                  <a:srgbClr val="000000"/>
                </a:solidFill>
                <a:effectLst/>
              </a:rPr>
              <a:t>Encourage the use of digital platforms, online marketplaces, and social media for agricultural marketing. </a:t>
            </a:r>
          </a:p>
        </p:txBody>
      </p:sp>
      <p:sp>
        <p:nvSpPr>
          <p:cNvPr id="403" name="SugCard4"/>
          <p:cNvSpPr/>
          <p:nvPr/>
        </p:nvSpPr>
        <p:spPr>
          <a:xfrm>
            <a:off x="1710000" y="3870000"/>
            <a:ext cx="2762000" cy="2550000"/>
          </a:xfrm>
          <a:prstGeom prst="roundRect">
            <a:avLst>
              <a:gd name="adj" fmla="val 3000"/>
            </a:avLst>
          </a:prstGeom>
          <a:solidFill>
            <a:srgbClr val="F2F7F2"/>
          </a:solidFill>
          <a:ln>
            <a:noFill/>
          </a:ln>
          <a:effectLst>
            <a:outerShdw blurRad="50800" dist="38100" dir="5400000" rotWithShape="0">
              <a:srgbClr val="000000">
                <a:alpha val="24000"/>
              </a:srgbClr>
            </a:outerShdw>
          </a:effectLst>
        </p:spPr>
        <p:txBody>
          <a:bodyPr/>
          <a:lstStyle/>
          <a:p>
            <a:endParaRPr lang="en-US"/>
          </a:p>
        </p:txBody>
      </p:sp>
      <p:sp>
        <p:nvSpPr>
          <p:cNvPr id="413" name="SugHdr4"/>
          <p:cNvSpPr/>
          <p:nvPr/>
        </p:nvSpPr>
        <p:spPr>
          <a:xfrm>
            <a:off x="1710000" y="3870000"/>
            <a:ext cx="2762000" cy="640000"/>
          </a:xfrm>
          <a:prstGeom prst="round2SameRect">
            <a:avLst>
              <a:gd name="adj1" fmla="val 12000"/>
              <a:gd name="adj2" fmla="val 0"/>
            </a:avLst>
          </a:prstGeom>
          <a:solidFill>
            <a:srgbClr val="1E5B3F"/>
          </a:solidFill>
          <a:ln>
            <a:noFill/>
          </a:ln>
        </p:spPr>
        <p:txBody>
          <a:bodyPr wrap="square" lIns="137160" tIns="45720" rIns="91440" bIns="45720" anchor="ctr">
            <a:normAutofit lnSpcReduction="10000"/>
          </a:bodyPr>
          <a:lstStyle/>
          <a:p>
            <a:pPr indent="0" algn="l">
              <a:buNone/>
            </a:pPr>
            <a:r>
              <a:rPr lang="en-US" b="1" i="0">
                <a:solidFill>
                  <a:srgbClr val="FFFFFF"/>
                </a:solidFill>
                <a:effectLst/>
              </a:rPr>
              <a:t>Encourage Direct Farmer-to-Consumer Marketing</a:t>
            </a:r>
          </a:p>
        </p:txBody>
      </p:sp>
      <p:sp>
        <p:nvSpPr>
          <p:cNvPr id="423" name="SugBody4"/>
          <p:cNvSpPr txBox="1"/>
          <p:nvPr/>
        </p:nvSpPr>
        <p:spPr>
          <a:xfrm>
            <a:off x="1710000" y="4510000"/>
            <a:ext cx="2762000" cy="1910000"/>
          </a:xfrm>
          <a:prstGeom prst="rect">
            <a:avLst/>
          </a:prstGeom>
          <a:noFill/>
          <a:ln>
            <a:noFill/>
          </a:ln>
        </p:spPr>
        <p:txBody>
          <a:bodyPr wrap="square" lIns="137160" tIns="72000" rIns="137160" bIns="45720" anchor="t">
            <a:normAutofit lnSpcReduction="10000"/>
          </a:bodyPr>
          <a:lstStyle/>
          <a:p>
            <a:pPr indent="0" algn="l">
              <a:buFont typeface="Arial" panose="020B0604020202020204" pitchFamily="34" charset="0"/>
              <a:buChar char="•"/>
            </a:pPr>
            <a:r>
              <a:rPr lang="en-US" b="0" i="0" dirty="0">
                <a:solidFill>
                  <a:srgbClr val="000000"/>
                </a:solidFill>
                <a:effectLst/>
              </a:rPr>
              <a:t>Strengthen direct marketing channels and Farmer Producer Organizations (FPOs) to improve market access and reduce dependence on intermediaries.</a:t>
            </a:r>
          </a:p>
        </p:txBody>
      </p:sp>
      <p:sp>
        <p:nvSpPr>
          <p:cNvPr id="404" name="SugCard5"/>
          <p:cNvSpPr/>
          <p:nvPr/>
        </p:nvSpPr>
        <p:spPr>
          <a:xfrm>
            <a:off x="4672000" y="3870000"/>
            <a:ext cx="2762000" cy="2550000"/>
          </a:xfrm>
          <a:prstGeom prst="roundRect">
            <a:avLst>
              <a:gd name="adj" fmla="val 3000"/>
            </a:avLst>
          </a:prstGeom>
          <a:solidFill>
            <a:srgbClr val="F2F7F2"/>
          </a:solidFill>
          <a:ln>
            <a:noFill/>
          </a:ln>
          <a:effectLst>
            <a:outerShdw blurRad="50800" dist="38100" dir="5400000" rotWithShape="0">
              <a:srgbClr val="000000">
                <a:alpha val="24000"/>
              </a:srgbClr>
            </a:outerShdw>
          </a:effectLst>
        </p:spPr>
        <p:txBody>
          <a:bodyPr/>
          <a:lstStyle/>
          <a:p>
            <a:endParaRPr lang="en-US"/>
          </a:p>
        </p:txBody>
      </p:sp>
      <p:sp>
        <p:nvSpPr>
          <p:cNvPr id="414" name="SugHdr5"/>
          <p:cNvSpPr/>
          <p:nvPr/>
        </p:nvSpPr>
        <p:spPr>
          <a:xfrm>
            <a:off x="4672000" y="3870000"/>
            <a:ext cx="2762000" cy="640000"/>
          </a:xfrm>
          <a:prstGeom prst="round2SameRect">
            <a:avLst>
              <a:gd name="adj1" fmla="val 12000"/>
              <a:gd name="adj2" fmla="val 0"/>
            </a:avLst>
          </a:prstGeom>
          <a:solidFill>
            <a:srgbClr val="1E5B3F"/>
          </a:solidFill>
          <a:ln>
            <a:noFill/>
          </a:ln>
        </p:spPr>
        <p:txBody>
          <a:bodyPr wrap="square" lIns="137160" tIns="45720" rIns="91440" bIns="45720" anchor="ctr">
            <a:normAutofit fontScale="95000"/>
          </a:bodyPr>
          <a:lstStyle/>
          <a:p>
            <a:pPr indent="0" algn="l">
              <a:buNone/>
            </a:pPr>
            <a:r>
              <a:rPr lang="en-US" b="1" i="0">
                <a:solidFill>
                  <a:srgbClr val="FFFFFF"/>
                </a:solidFill>
                <a:effectLst/>
              </a:rPr>
              <a:t>Expand Farmer Awareness &amp; Capacity Building</a:t>
            </a:r>
          </a:p>
        </p:txBody>
      </p:sp>
      <p:sp>
        <p:nvSpPr>
          <p:cNvPr id="424" name="SugBody5"/>
          <p:cNvSpPr txBox="1"/>
          <p:nvPr/>
        </p:nvSpPr>
        <p:spPr>
          <a:xfrm>
            <a:off x="4672000" y="4510000"/>
            <a:ext cx="2762000" cy="1910000"/>
          </a:xfrm>
          <a:prstGeom prst="rect">
            <a:avLst/>
          </a:prstGeom>
          <a:noFill/>
          <a:ln>
            <a:noFill/>
          </a:ln>
        </p:spPr>
        <p:txBody>
          <a:bodyPr wrap="square" lIns="137160" tIns="72000" rIns="137160" bIns="45720" anchor="t">
            <a:normAutofit/>
          </a:bodyPr>
          <a:lstStyle/>
          <a:p>
            <a:pPr indent="0" algn="l">
              <a:buFont typeface="Arial" panose="020B0604020202020204" pitchFamily="34" charset="0"/>
              <a:buChar char="•"/>
            </a:pPr>
            <a:r>
              <a:rPr lang="en-US" b="0" i="0" dirty="0">
                <a:solidFill>
                  <a:srgbClr val="000000"/>
                </a:solidFill>
                <a:effectLst/>
              </a:rPr>
              <a:t>Organize training on direct marketing, digital technologies, pricing strategies, and financial literacy.</a:t>
            </a:r>
          </a:p>
        </p:txBody>
      </p:sp>
    </p:spTree>
    <p:extLst>
      <p:ext uri="{BB962C8B-B14F-4D97-AF65-F5344CB8AC3E}">
        <p14:creationId xmlns:p14="http://schemas.microsoft.com/office/powerpoint/2010/main" val="1423518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p:nvPr/>
        </p:nvSpPr>
        <p:spPr>
          <a:xfrm>
            <a:off x="932688" y="136525"/>
            <a:ext cx="7680960" cy="741299"/>
          </a:xfrm>
          <a:prstGeom prst="rect">
            <a:avLst/>
          </a:prstGeom>
          <a:noFill/>
          <a:ln>
            <a:noFill/>
          </a:ln>
        </p:spPr>
        <p:txBody>
          <a:bodyPr wrap="square" lIns="0" tIns="45720" rIns="91440" bIns="18288" anchor="b">
            <a:normAutofit fontScale="92500" lnSpcReduction="20000"/>
          </a:bodyPr>
          <a:lstStyle/>
          <a:p>
            <a:pPr marL="0" indent="0" algn="l">
              <a:lnSpc>
                <a:spcPct val="100000"/>
              </a:lnSpc>
              <a:buNone/>
            </a:pPr>
            <a:r>
              <a:rPr lang="en-US" sz="5400" b="1" dirty="0">
                <a:solidFill>
                  <a:srgbClr val="1E5B3F"/>
                </a:solidFill>
                <a:latin typeface="Cambria"/>
                <a:cs typeface="Cambria"/>
              </a:rPr>
              <a:t>Conclusion</a:t>
            </a:r>
          </a:p>
        </p:txBody>
      </p:sp>
      <p:sp>
        <p:nvSpPr>
          <p:cNvPr id="12" name="titleRule"/>
          <p:cNvSpPr/>
          <p:nvPr/>
        </p:nvSpPr>
        <p:spPr>
          <a:xfrm>
            <a:off x="950976" y="950976"/>
            <a:ext cx="1051560" cy="41148"/>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bullets"/>
          <p:cNvSpPr/>
          <p:nvPr/>
        </p:nvSpPr>
        <p:spPr>
          <a:xfrm>
            <a:off x="152400" y="1287018"/>
            <a:ext cx="5334000" cy="4283964"/>
          </a:xfrm>
          <a:prstGeom prst="rect">
            <a:avLst/>
          </a:prstGeom>
          <a:noFill/>
          <a:ln>
            <a:noFill/>
          </a:ln>
        </p:spPr>
        <p:txBody>
          <a:bodyPr wrap="square" lIns="36576" tIns="45720" rIns="91440" bIns="45720" anchor="t">
            <a:noAutofit/>
          </a:bodyPr>
          <a:lstStyle/>
          <a:p>
            <a:pPr marL="285750" indent="-285750" algn="just">
              <a:lnSpc>
                <a:spcPct val="110000"/>
              </a:lnSpc>
              <a:spcAft>
                <a:spcPts val="1100"/>
              </a:spcAft>
              <a:buClr>
                <a:srgbClr val="C09A2C"/>
              </a:buClr>
              <a:buFont typeface="Wingdings" pitchFamily="2" charset="2"/>
              <a:buChar char="q"/>
            </a:pPr>
            <a:r>
              <a:rPr lang="en-US" dirty="0"/>
              <a:t>The study identified both opportunities and challenges in agricultural marketing, highlighting the importance of direct marketing, digital adoption, and market access in improving farmers' marketing practices.</a:t>
            </a:r>
          </a:p>
          <a:p>
            <a:pPr marL="285750" indent="-285750" algn="just">
              <a:lnSpc>
                <a:spcPct val="110000"/>
              </a:lnSpc>
              <a:spcAft>
                <a:spcPts val="1100"/>
              </a:spcAft>
              <a:buClr>
                <a:srgbClr val="C09A2C"/>
              </a:buClr>
              <a:buFont typeface="Wingdings" pitchFamily="2" charset="2"/>
              <a:buChar char="q"/>
            </a:pPr>
            <a:r>
              <a:rPr lang="en-US" dirty="0"/>
              <a:t>Statistical and predictive analyses confirmed that market price information, storage facilities, and digital platform usage play a significant role in achieving fair price realization for rural farmers.</a:t>
            </a:r>
          </a:p>
          <a:p>
            <a:pPr marL="285750" indent="-285750" algn="just">
              <a:lnSpc>
                <a:spcPct val="110000"/>
              </a:lnSpc>
              <a:spcAft>
                <a:spcPts val="1100"/>
              </a:spcAft>
              <a:buClr>
                <a:srgbClr val="C09A2C"/>
              </a:buClr>
              <a:buFont typeface="Wingdings" pitchFamily="2" charset="2"/>
              <a:buChar char="q"/>
            </a:pPr>
            <a:r>
              <a:rPr lang="en-US" dirty="0"/>
              <a:t>The findings provide practical insights for farmers, policymakers, and agricultural institutions to strengthen marketing systems, improve income opportunities, and promote sustainable agricultural development.</a:t>
            </a:r>
            <a:endParaRPr lang="en-US" dirty="0">
              <a:solidFill>
                <a:srgbClr val="3E463F"/>
              </a:solidFill>
              <a:latin typeface="Calibri Light"/>
              <a:cs typeface="Calibri Light"/>
            </a:endParaRPr>
          </a:p>
        </p:txBody>
      </p:sp>
      <p:sp>
        <p:nvSpPr>
          <p:cNvPr id="15" name="impact"/>
          <p:cNvSpPr/>
          <p:nvPr/>
        </p:nvSpPr>
        <p:spPr>
          <a:xfrm>
            <a:off x="5586984" y="877824"/>
            <a:ext cx="3404616" cy="5288280"/>
          </a:xfrm>
          <a:prstGeom prst="roundRect">
            <a:avLst>
              <a:gd name="adj" fmla="val 5000"/>
            </a:avLst>
          </a:prstGeom>
          <a:solidFill>
            <a:srgbClr val="1E5B3F"/>
          </a:solidFill>
          <a:ln>
            <a:no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6" name="ih"/>
          <p:cNvSpPr/>
          <p:nvPr/>
        </p:nvSpPr>
        <p:spPr>
          <a:xfrm>
            <a:off x="6192012" y="958342"/>
            <a:ext cx="2194560" cy="457200"/>
          </a:xfrm>
          <a:prstGeom prst="rect">
            <a:avLst/>
          </a:prstGeom>
          <a:noFill/>
          <a:ln>
            <a:noFill/>
          </a:ln>
        </p:spPr>
        <p:txBody>
          <a:bodyPr wrap="square" lIns="91440" tIns="45720" rIns="91440" bIns="45720" anchor="ctr">
            <a:normAutofit fontScale="85000" lnSpcReduction="10000"/>
          </a:bodyPr>
          <a:lstStyle/>
          <a:p>
            <a:pPr marL="0" indent="0" algn="ctr">
              <a:lnSpc>
                <a:spcPct val="100000"/>
              </a:lnSpc>
              <a:buNone/>
            </a:pPr>
            <a:r>
              <a:rPr lang="en-US" sz="2000" b="1" spc="120" dirty="0">
                <a:solidFill>
                  <a:srgbClr val="C09A2C"/>
                </a:solidFill>
                <a:latin typeface="Calibri"/>
                <a:cs typeface="Calibri"/>
              </a:rPr>
              <a:t>RESEARCH IMPACT</a:t>
            </a:r>
          </a:p>
        </p:txBody>
      </p:sp>
      <p:sp>
        <p:nvSpPr>
          <p:cNvPr id="17" name="ic"/>
          <p:cNvSpPr/>
          <p:nvPr/>
        </p:nvSpPr>
        <p:spPr>
          <a:xfrm>
            <a:off x="5715000" y="1481328"/>
            <a:ext cx="3124200" cy="1384808"/>
          </a:xfrm>
          <a:prstGeom prst="roundRect">
            <a:avLst>
              <a:gd name="adj" fmla="val 8000"/>
            </a:avLst>
          </a:prstGeom>
          <a:solidFill>
            <a:srgbClr val="1A5138"/>
          </a:solidFill>
          <a:ln w="12700">
            <a:solidFill>
              <a:srgbClr val="5A9C79"/>
            </a:solidFill>
          </a:ln>
        </p:spPr>
        <p:txBody>
          <a:bodyPr wrap="square" lIns="109728" tIns="45720" rIns="109728" bIns="45720" anchor="ctr">
            <a:normAutofit/>
          </a:bodyPr>
          <a:lstStyle/>
          <a:p>
            <a:pPr marL="0" indent="0" algn="ctr">
              <a:lnSpc>
                <a:spcPct val="100000"/>
              </a:lnSpc>
              <a:spcAft>
                <a:spcPts val="200"/>
              </a:spcAft>
              <a:buNone/>
            </a:pPr>
            <a:r>
              <a:rPr lang="en-US" sz="2800" b="1" dirty="0">
                <a:solidFill>
                  <a:srgbClr val="FFFFFF"/>
                </a:solidFill>
                <a:latin typeface="Calibri"/>
                <a:cs typeface="Calibri"/>
              </a:rPr>
              <a:t>Fair Prices</a:t>
            </a:r>
          </a:p>
          <a:p>
            <a:pPr marL="0" indent="0" algn="ctr">
              <a:lnSpc>
                <a:spcPct val="100000"/>
              </a:lnSpc>
              <a:buNone/>
            </a:pPr>
            <a:r>
              <a:rPr lang="en-US" dirty="0">
                <a:solidFill>
                  <a:srgbClr val="CFE0D6"/>
                </a:solidFill>
                <a:latin typeface="Calibri Light"/>
                <a:cs typeface="Calibri Light"/>
              </a:rPr>
              <a:t>Improved price realization for farmers</a:t>
            </a:r>
          </a:p>
        </p:txBody>
      </p:sp>
      <p:sp>
        <p:nvSpPr>
          <p:cNvPr id="18" name="ic"/>
          <p:cNvSpPr/>
          <p:nvPr/>
        </p:nvSpPr>
        <p:spPr>
          <a:xfrm>
            <a:off x="5715000" y="3056382"/>
            <a:ext cx="3124200" cy="1330198"/>
          </a:xfrm>
          <a:prstGeom prst="roundRect">
            <a:avLst>
              <a:gd name="adj" fmla="val 8000"/>
            </a:avLst>
          </a:prstGeom>
          <a:solidFill>
            <a:srgbClr val="1A5138"/>
          </a:solidFill>
          <a:ln w="12700">
            <a:solidFill>
              <a:srgbClr val="5A9C79"/>
            </a:solidFill>
          </a:ln>
        </p:spPr>
        <p:txBody>
          <a:bodyPr wrap="square" lIns="109728" tIns="45720" rIns="109728" bIns="45720" anchor="ctr">
            <a:normAutofit/>
          </a:bodyPr>
          <a:lstStyle/>
          <a:p>
            <a:pPr marL="0" indent="0" algn="ctr">
              <a:lnSpc>
                <a:spcPct val="100000"/>
              </a:lnSpc>
              <a:spcAft>
                <a:spcPts val="200"/>
              </a:spcAft>
              <a:buNone/>
            </a:pPr>
            <a:r>
              <a:rPr lang="en-US" sz="2800" b="1" dirty="0">
                <a:solidFill>
                  <a:srgbClr val="FFFFFF"/>
                </a:solidFill>
                <a:latin typeface="Calibri"/>
                <a:cs typeface="Calibri"/>
              </a:rPr>
              <a:t>Digital Shift</a:t>
            </a:r>
          </a:p>
          <a:p>
            <a:pPr marL="0" indent="0" algn="ctr">
              <a:lnSpc>
                <a:spcPct val="100000"/>
              </a:lnSpc>
              <a:buNone/>
            </a:pPr>
            <a:r>
              <a:rPr lang="en-US" dirty="0">
                <a:solidFill>
                  <a:srgbClr val="CFE0D6"/>
                </a:solidFill>
                <a:latin typeface="Calibri Light"/>
                <a:cs typeface="Calibri Light"/>
              </a:rPr>
              <a:t>Greater adoption of digital marketing</a:t>
            </a:r>
          </a:p>
        </p:txBody>
      </p:sp>
      <p:sp>
        <p:nvSpPr>
          <p:cNvPr id="19" name="ic"/>
          <p:cNvSpPr/>
          <p:nvPr/>
        </p:nvSpPr>
        <p:spPr>
          <a:xfrm>
            <a:off x="5715000" y="4576826"/>
            <a:ext cx="3124200" cy="1330198"/>
          </a:xfrm>
          <a:prstGeom prst="roundRect">
            <a:avLst>
              <a:gd name="adj" fmla="val 8000"/>
            </a:avLst>
          </a:prstGeom>
          <a:solidFill>
            <a:srgbClr val="1A5138"/>
          </a:solidFill>
          <a:ln w="12700">
            <a:solidFill>
              <a:srgbClr val="5A9C79"/>
            </a:solidFill>
          </a:ln>
        </p:spPr>
        <p:txBody>
          <a:bodyPr wrap="square" lIns="109728" tIns="45720" rIns="109728" bIns="45720" anchor="ctr">
            <a:normAutofit/>
          </a:bodyPr>
          <a:lstStyle/>
          <a:p>
            <a:pPr marL="0" indent="0" algn="ctr">
              <a:lnSpc>
                <a:spcPct val="100000"/>
              </a:lnSpc>
              <a:spcAft>
                <a:spcPts val="200"/>
              </a:spcAft>
              <a:buNone/>
            </a:pPr>
            <a:r>
              <a:rPr lang="en-US" sz="2800" b="1">
                <a:solidFill>
                  <a:srgbClr val="FFFFFF"/>
                </a:solidFill>
                <a:latin typeface="Calibri"/>
                <a:cs typeface="Calibri"/>
              </a:rPr>
              <a:t>Evidence Base</a:t>
            </a:r>
          </a:p>
          <a:p>
            <a:pPr marL="0" indent="0" algn="ctr">
              <a:lnSpc>
                <a:spcPct val="100000"/>
              </a:lnSpc>
              <a:buNone/>
            </a:pPr>
            <a:r>
              <a:rPr lang="en-US">
                <a:solidFill>
                  <a:srgbClr val="CFE0D6"/>
                </a:solidFill>
                <a:latin typeface="Calibri Light"/>
                <a:cs typeface="Calibri Light"/>
              </a:rPr>
              <a:t>Data-driven policy and decisions</a:t>
            </a: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b"/>
          <p:cNvSpPr/>
          <p:nvPr/>
        </p:nvSpPr>
        <p:spPr>
          <a:xfrm>
            <a:off x="914400" y="276733"/>
            <a:ext cx="7315200" cy="713867"/>
          </a:xfrm>
          <a:prstGeom prst="rect">
            <a:avLst/>
          </a:prstGeom>
          <a:noFill/>
          <a:ln>
            <a:noFill/>
          </a:ln>
        </p:spPr>
        <p:txBody>
          <a:bodyPr wrap="square" lIns="91440" tIns="45720" rIns="91440" bIns="45720" anchor="ctr">
            <a:normAutofit/>
          </a:bodyPr>
          <a:lstStyle/>
          <a:p>
            <a:pPr marL="0" indent="0" algn="ctr">
              <a:lnSpc>
                <a:spcPct val="100000"/>
              </a:lnSpc>
              <a:buNone/>
            </a:pPr>
            <a:r>
              <a:rPr lang="en-US" sz="2800" b="1" spc="220" dirty="0">
                <a:solidFill>
                  <a:srgbClr val="9C7C1B"/>
                </a:solidFill>
                <a:latin typeface="Calibri"/>
                <a:cs typeface="Calibri"/>
              </a:rPr>
              <a:t>PROJECT ON SOCIAL AND RURAL ISSUES</a:t>
            </a:r>
          </a:p>
        </p:txBody>
      </p:sp>
      <p:sp>
        <p:nvSpPr>
          <p:cNvPr id="12" name="ty"/>
          <p:cNvSpPr/>
          <p:nvPr/>
        </p:nvSpPr>
        <p:spPr>
          <a:xfrm>
            <a:off x="1219200" y="1134992"/>
            <a:ext cx="6949440" cy="2133600"/>
          </a:xfrm>
          <a:prstGeom prst="rect">
            <a:avLst/>
          </a:prstGeom>
          <a:noFill/>
          <a:ln>
            <a:noFill/>
          </a:ln>
        </p:spPr>
        <p:txBody>
          <a:bodyPr wrap="square" lIns="91440" tIns="45720" rIns="91440" bIns="45720" anchor="ctr">
            <a:normAutofit/>
          </a:bodyPr>
          <a:lstStyle/>
          <a:p>
            <a:pPr marL="0" indent="0" algn="ctr">
              <a:lnSpc>
                <a:spcPct val="100000"/>
              </a:lnSpc>
              <a:buNone/>
            </a:pPr>
            <a:r>
              <a:rPr lang="en-US" sz="9600" b="1" dirty="0">
                <a:solidFill>
                  <a:srgbClr val="1E5B3F"/>
                </a:solidFill>
                <a:latin typeface="Cambria"/>
                <a:cs typeface="Cambria"/>
              </a:rPr>
              <a:t>Thank You</a:t>
            </a:r>
          </a:p>
        </p:txBody>
      </p:sp>
      <p:sp>
        <p:nvSpPr>
          <p:cNvPr id="13" name="rule"/>
          <p:cNvSpPr/>
          <p:nvPr/>
        </p:nvSpPr>
        <p:spPr>
          <a:xfrm>
            <a:off x="3200400" y="3127248"/>
            <a:ext cx="2743200" cy="45720"/>
          </a:xfrm>
          <a:prstGeom prst="rect">
            <a:avLst/>
          </a:prstGeom>
          <a:solidFill>
            <a:srgbClr val="C09A2C"/>
          </a:solidFill>
          <a:ln>
            <a:noFill/>
          </a:ln>
        </p:spPr>
        <p:txBody>
          <a:bodyPr wrap="square" lIns="91440" tIns="45720" rIns="91440" bIns="45720" anchor="t">
            <a:normAutofit fontScale="25000" lnSpcReduction="20000"/>
          </a:bodyPr>
          <a:lstStyle/>
          <a:p>
            <a:endParaRPr lang="en-US"/>
          </a:p>
        </p:txBody>
      </p:sp>
      <p:sp>
        <p:nvSpPr>
          <p:cNvPr id="14" name="qd"/>
          <p:cNvSpPr/>
          <p:nvPr/>
        </p:nvSpPr>
        <p:spPr>
          <a:xfrm>
            <a:off x="1371600" y="3291840"/>
            <a:ext cx="6400800" cy="365760"/>
          </a:xfrm>
          <a:prstGeom prst="rect">
            <a:avLst/>
          </a:prstGeom>
          <a:noFill/>
          <a:ln>
            <a:noFill/>
          </a:ln>
        </p:spPr>
        <p:txBody>
          <a:bodyPr wrap="square" lIns="91440" tIns="45720" rIns="91440" bIns="45720" anchor="ctr">
            <a:normAutofit/>
          </a:bodyPr>
          <a:lstStyle/>
          <a:p>
            <a:pPr marL="0" indent="0" algn="ctr">
              <a:lnSpc>
                <a:spcPct val="100000"/>
              </a:lnSpc>
              <a:buNone/>
            </a:pPr>
            <a:r>
              <a:rPr lang="en-US" sz="1700" b="1">
                <a:solidFill>
                  <a:srgbClr val="22302A"/>
                </a:solidFill>
                <a:latin typeface="Calibri"/>
                <a:cs typeface="Calibri"/>
              </a:rPr>
              <a:t>Questions &amp; Discussion</a:t>
            </a:r>
          </a:p>
        </p:txBody>
      </p:sp>
      <p:sp>
        <p:nvSpPr>
          <p:cNvPr id="15" name="rt"/>
          <p:cNvSpPr/>
          <p:nvPr/>
        </p:nvSpPr>
        <p:spPr>
          <a:xfrm>
            <a:off x="1219200" y="3589409"/>
            <a:ext cx="6949440" cy="1028311"/>
          </a:xfrm>
          <a:prstGeom prst="rect">
            <a:avLst/>
          </a:prstGeom>
          <a:noFill/>
          <a:ln>
            <a:noFill/>
          </a:ln>
        </p:spPr>
        <p:txBody>
          <a:bodyPr wrap="square" lIns="91440" tIns="45720" rIns="91440" bIns="45720" anchor="ctr">
            <a:normAutofit/>
          </a:bodyPr>
          <a:lstStyle/>
          <a:p>
            <a:pPr marL="0" indent="0" algn="ctr">
              <a:lnSpc>
                <a:spcPct val="110000"/>
              </a:lnSpc>
              <a:buNone/>
            </a:pPr>
            <a:r>
              <a:rPr lang="en-US" sz="2000" i="1" dirty="0">
                <a:solidFill>
                  <a:srgbClr val="6B736A"/>
                </a:solidFill>
                <a:latin typeface="Calibri Light"/>
                <a:cs typeface="Calibri Light"/>
              </a:rPr>
              <a:t>Opportunities and Challenges Faced by Rural Farmers in Marketing Agricultural Products</a:t>
            </a:r>
          </a:p>
        </p:txBody>
      </p:sp>
      <p:sp>
        <p:nvSpPr>
          <p:cNvPr id="16" name="pc"/>
          <p:cNvSpPr/>
          <p:nvPr/>
        </p:nvSpPr>
        <p:spPr>
          <a:xfrm>
            <a:off x="2606040" y="4754880"/>
            <a:ext cx="3947160" cy="1188720"/>
          </a:xfrm>
          <a:prstGeom prst="roundRect">
            <a:avLst>
              <a:gd name="adj" fmla="val 6000"/>
            </a:avLst>
          </a:prstGeom>
          <a:solidFill>
            <a:srgbClr val="F5F4EC"/>
          </a:solidFill>
          <a:ln w="12700">
            <a:solidFill>
              <a:srgbClr val="D9DCD1"/>
            </a:solidFill>
          </a:ln>
          <a:effectLst>
            <a:outerShdw blurRad="55000" dist="28000" dir="5400000" rotWithShape="0">
              <a:srgbClr val="223026">
                <a:alpha val="20000"/>
              </a:srgbClr>
            </a:outerShdw>
          </a:effectLst>
        </p:spPr>
        <p:txBody>
          <a:bodyPr wrap="square" lIns="91440" tIns="45720" rIns="91440" bIns="45720" anchor="t">
            <a:normAutofit/>
          </a:bodyPr>
          <a:lstStyle/>
          <a:p>
            <a:endParaRPr lang="en-US"/>
          </a:p>
        </p:txBody>
      </p:sp>
      <p:sp>
        <p:nvSpPr>
          <p:cNvPr id="17" name="pd"/>
          <p:cNvSpPr/>
          <p:nvPr/>
        </p:nvSpPr>
        <p:spPr>
          <a:xfrm>
            <a:off x="2743200" y="4846320"/>
            <a:ext cx="3657600" cy="1021080"/>
          </a:xfrm>
          <a:prstGeom prst="rect">
            <a:avLst/>
          </a:prstGeom>
          <a:noFill/>
          <a:ln>
            <a:noFill/>
          </a:ln>
        </p:spPr>
        <p:txBody>
          <a:bodyPr wrap="square" lIns="91440" tIns="45720" rIns="91440" bIns="45720" anchor="ctr">
            <a:normAutofit lnSpcReduction="10000"/>
          </a:bodyPr>
          <a:lstStyle/>
          <a:p>
            <a:pPr marL="0" indent="0" algn="ctr">
              <a:lnSpc>
                <a:spcPct val="100000"/>
              </a:lnSpc>
              <a:spcAft>
                <a:spcPts val="200"/>
              </a:spcAft>
              <a:buNone/>
            </a:pPr>
            <a:r>
              <a:rPr lang="en-US" sz="2800" b="1" dirty="0">
                <a:solidFill>
                  <a:srgbClr val="1E5B3F"/>
                </a:solidFill>
                <a:latin typeface="Calibri"/>
                <a:cs typeface="Calibri"/>
              </a:rPr>
              <a:t>Raghavendra S.</a:t>
            </a:r>
            <a:endParaRPr lang="en-US" sz="2400" dirty="0">
              <a:solidFill>
                <a:srgbClr val="6B736A"/>
              </a:solidFill>
              <a:latin typeface="Calibri Light"/>
              <a:cs typeface="Calibri Light"/>
            </a:endParaRPr>
          </a:p>
          <a:p>
            <a:pPr marL="0" indent="0" algn="ctr">
              <a:lnSpc>
                <a:spcPct val="100000"/>
              </a:lnSpc>
              <a:buNone/>
            </a:pPr>
            <a:r>
              <a:rPr lang="en-US" sz="1600" dirty="0">
                <a:solidFill>
                  <a:srgbClr val="6B736A"/>
                </a:solidFill>
                <a:latin typeface="Calibri Light"/>
                <a:cs typeface="Calibri Light"/>
              </a:rPr>
              <a:t>Department of MBA, </a:t>
            </a:r>
            <a:r>
              <a:rPr lang="en-US" sz="1600" dirty="0" err="1">
                <a:solidFill>
                  <a:srgbClr val="6B736A"/>
                </a:solidFill>
                <a:latin typeface="Calibri Light"/>
                <a:cs typeface="Calibri Light"/>
              </a:rPr>
              <a:t>Siddaganga</a:t>
            </a:r>
            <a:r>
              <a:rPr lang="en-US" sz="1600" dirty="0">
                <a:solidFill>
                  <a:srgbClr val="6B736A"/>
                </a:solidFill>
                <a:latin typeface="Calibri Light"/>
                <a:cs typeface="Calibri Light"/>
              </a:rPr>
              <a:t> Institute of Technology, </a:t>
            </a:r>
            <a:r>
              <a:rPr lang="en-US" sz="1600" dirty="0" err="1">
                <a:solidFill>
                  <a:srgbClr val="6B736A"/>
                </a:solidFill>
                <a:latin typeface="Calibri Light"/>
                <a:cs typeface="Calibri Light"/>
              </a:rPr>
              <a:t>Tumakuru</a:t>
            </a:r>
            <a:endParaRPr lang="en-US" sz="1600" dirty="0">
              <a:solidFill>
                <a:srgbClr val="6B736A"/>
              </a:solidFill>
              <a:latin typeface="Calibri Light"/>
              <a:cs typeface="Calibri Light"/>
            </a:endParaRPr>
          </a:p>
        </p:txBody>
      </p:sp>
      <p:sp>
        <p:nvSpPr>
          <p:cNvPr id="60" name="Date Placeholder"/>
          <p:cNvSpPr>
            <a:spLocks noGrp="1"/>
          </p:cNvSpPr>
          <p:nvPr>
            <p:ph type="dt" sz="half" idx="10"/>
          </p:nvPr>
        </p:nvSpPr>
        <p:spPr/>
        <p:txBody>
          <a:bodyPr/>
          <a:lstStyle/>
          <a:p>
            <a:r>
              <a:rPr lang="en-US" dirty="0"/>
              <a:t>8/7/26</a:t>
            </a:r>
          </a:p>
        </p:txBody>
      </p:sp>
      <p:sp>
        <p:nvSpPr>
          <p:cNvPr id="61" name="Footer Placeholder"/>
          <p:cNvSpPr>
            <a:spLocks noGrp="1"/>
          </p:cNvSpPr>
          <p:nvPr>
            <p:ph type="ftr" sz="quarter" idx="11"/>
          </p:nvPr>
        </p:nvSpPr>
        <p:spPr/>
        <p:txBody>
          <a:bodyPr/>
          <a:lstStyle/>
          <a:p>
            <a:r>
              <a:rPr lang="en-US"/>
              <a:t>Raghavendra S  |  USN: 1SI25BA069</a:t>
            </a:r>
          </a:p>
        </p:txBody>
      </p:sp>
      <p:sp>
        <p:nvSpPr>
          <p:cNvPr id="62" name="Slide Number Placeholde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1237</TotalTime>
  <Words>2647</Words>
  <Application>Microsoft Macintosh PowerPoint</Application>
  <PresentationFormat>On-screen Show (4:3)</PresentationFormat>
  <Paragraphs>760</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-webkit-standard</vt:lpstr>
      <vt:lpstr>Arial</vt:lpstr>
      <vt:lpstr>Calibri</vt:lpstr>
      <vt:lpstr>Calibri Light</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RAGHAVENDRA S</cp:lastModifiedBy>
  <cp:revision>18</cp:revision>
  <dcterms:created xsi:type="dcterms:W3CDTF">2006-08-16T00:00:00Z</dcterms:created>
  <dcterms:modified xsi:type="dcterms:W3CDTF">2026-07-08T09:11:42Z</dcterms:modified>
</cp:coreProperties>
</file>